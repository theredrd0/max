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db95f2b57349ca" /><Relationship Type="http://schemas.openxmlformats.org/officeDocument/2006/relationships/extended-properties" Target="/docProps/app.xml" Id="R5e41776e9a1243da" /><Relationship Type="http://schemas.openxmlformats.org/officeDocument/2006/relationships/officeDocument" Target="/ppt/presentation.xml" Id="R88e9c865b8d945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2e41c66d68473d"/>
  </p:sldMasterIdLst>
  <p:notesMasterIdLst>
    <p:notesMasterId xmlns:r="http://schemas.openxmlformats.org/officeDocument/2006/relationships" r:id="R1e4ea38961114732"/>
  </p:notesMasterIdLst>
  <p:sldIdLst>
    <p:sldId xmlns:r="http://schemas.openxmlformats.org/officeDocument/2006/relationships" id="256" r:id="R619ff410248c48de"/>
    <p:sldId xmlns:r="http://schemas.openxmlformats.org/officeDocument/2006/relationships" id="257" r:id="Rc6a59b7a3d164c1d"/>
    <p:sldId xmlns:r="http://schemas.openxmlformats.org/officeDocument/2006/relationships" id="258" r:id="Rd190a7df1a8243e5"/>
    <p:sldId xmlns:r="http://schemas.openxmlformats.org/officeDocument/2006/relationships" id="259" r:id="R5b1f984bdf4142dc"/>
    <p:sldId xmlns:r="http://schemas.openxmlformats.org/officeDocument/2006/relationships" id="260" r:id="R73dc61ae757447ba"/>
    <p:sldId xmlns:r="http://schemas.openxmlformats.org/officeDocument/2006/relationships" id="261" r:id="R24e14ebf860f4f85"/>
    <p:sldId xmlns:r="http://schemas.openxmlformats.org/officeDocument/2006/relationships" id="262" r:id="R73126f76056448cb"/>
    <p:sldId xmlns:r="http://schemas.openxmlformats.org/officeDocument/2006/relationships" id="263" r:id="Ref286fb2c1954f29"/>
    <p:sldId xmlns:r="http://schemas.openxmlformats.org/officeDocument/2006/relationships" id="264" r:id="R8fd7a0b46f9e4b19"/>
    <p:sldId xmlns:r="http://schemas.openxmlformats.org/officeDocument/2006/relationships" id="265" r:id="Rc2914dae63c043db"/>
    <p:sldId xmlns:r="http://schemas.openxmlformats.org/officeDocument/2006/relationships" id="266" r:id="Rb23c0795fd7f404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e41c66d68473d" /><Relationship Type="http://schemas.openxmlformats.org/officeDocument/2006/relationships/theme" Target="/ppt/theme/theme1.xml" Id="R389bdc6321104d78" /><Relationship Type="http://schemas.openxmlformats.org/officeDocument/2006/relationships/notesMaster" Target="/ppt/notesMasters/notesMaster1.xml" Id="R1e4ea38961114732" /><Relationship Type="http://schemas.openxmlformats.org/officeDocument/2006/relationships/presProps" Target="/ppt/presProps.xml" Id="R8f769eec3e2c4031" /><Relationship Type="http://schemas.openxmlformats.org/officeDocument/2006/relationships/viewProps" Target="/ppt/viewProps.xml" Id="R143bcaedeca846a1" /><Relationship Type="http://schemas.openxmlformats.org/officeDocument/2006/relationships/tableStyles" Target="/ppt/tableStyles.xml" Id="Rbf23412ac00c4e92" /><Relationship Type="http://schemas.openxmlformats.org/officeDocument/2006/relationships/slide" Target="/ppt/slides/slide1.xml" Id="R619ff410248c48de" /><Relationship Type="http://schemas.openxmlformats.org/officeDocument/2006/relationships/slide" Target="/ppt/slides/slide2.xml" Id="Rc6a59b7a3d164c1d" /><Relationship Type="http://schemas.openxmlformats.org/officeDocument/2006/relationships/slide" Target="/ppt/slides/slide3.xml" Id="Rd190a7df1a8243e5" /><Relationship Type="http://schemas.openxmlformats.org/officeDocument/2006/relationships/slide" Target="/ppt/slides/slide4.xml" Id="R5b1f984bdf4142dc" /><Relationship Type="http://schemas.openxmlformats.org/officeDocument/2006/relationships/slide" Target="/ppt/slides/slide5.xml" Id="R73dc61ae757447ba" /><Relationship Type="http://schemas.openxmlformats.org/officeDocument/2006/relationships/slide" Target="/ppt/slides/slide6.xml" Id="R24e14ebf860f4f85" /><Relationship Type="http://schemas.openxmlformats.org/officeDocument/2006/relationships/slide" Target="/ppt/slides/slide7.xml" Id="R73126f76056448cb" /><Relationship Type="http://schemas.openxmlformats.org/officeDocument/2006/relationships/slide" Target="/ppt/slides/slide8.xml" Id="Ref286fb2c1954f29" /><Relationship Type="http://schemas.openxmlformats.org/officeDocument/2006/relationships/slide" Target="/ppt/slides/slide9.xml" Id="R8fd7a0b46f9e4b19" /><Relationship Type="http://schemas.openxmlformats.org/officeDocument/2006/relationships/slide" Target="/ppt/slides/slide10.xml" Id="Rc2914dae63c043db" /><Relationship Type="http://schemas.openxmlformats.org/officeDocument/2006/relationships/slide" Target="/ppt/slides/slide11.xml" Id="Rb23c0795fd7f40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df79d2e5af84c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26c14551684ed6" /><Relationship Type="http://schemas.openxmlformats.org/officeDocument/2006/relationships/notesMaster" Target="/ppt/notesMasters/notesMaster1.xml" Id="R07fc082a29f340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3603cc122249a0" /><Relationship Type="http://schemas.openxmlformats.org/officeDocument/2006/relationships/notesMaster" Target="/ppt/notesMasters/notesMaster1.xml" Id="R5ebaef455b4d49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850c0fdbd04212" /><Relationship Type="http://schemas.openxmlformats.org/officeDocument/2006/relationships/notesMaster" Target="/ppt/notesMasters/notesMaster1.xml" Id="Rb3228e8996324b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405518cd104d82" /><Relationship Type="http://schemas.openxmlformats.org/officeDocument/2006/relationships/notesMaster" Target="/ppt/notesMasters/notesMaster1.xml" Id="Rb40d2a8a4e8049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6f11744f7a40b7" /><Relationship Type="http://schemas.openxmlformats.org/officeDocument/2006/relationships/notesMaster" Target="/ppt/notesMasters/notesMaster1.xml" Id="R6069dd2701d343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8e647003fb4359" /><Relationship Type="http://schemas.openxmlformats.org/officeDocument/2006/relationships/notesMaster" Target="/ppt/notesMasters/notesMaster1.xml" Id="R72e6a6af3d6849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62d9e35b7142ee" /><Relationship Type="http://schemas.openxmlformats.org/officeDocument/2006/relationships/notesMaster" Target="/ppt/notesMasters/notesMaster1.xml" Id="R28e6bf6855ed4d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5d3583d09049cc" /><Relationship Type="http://schemas.openxmlformats.org/officeDocument/2006/relationships/notesMaster" Target="/ppt/notesMasters/notesMaster1.xml" Id="R87846bc8a0e64e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22b9b9874548a6" /><Relationship Type="http://schemas.openxmlformats.org/officeDocument/2006/relationships/notesMaster" Target="/ppt/notesMasters/notesMaster1.xml" Id="R1d9603ac7eee44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ab6bac24e6445d" /><Relationship Type="http://schemas.openxmlformats.org/officeDocument/2006/relationships/notesMaster" Target="/ppt/notesMasters/notesMaster1.xml" Id="R49621cfb233743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6090b0bbda4fff" /><Relationship Type="http://schemas.openxmlformats.org/officeDocument/2006/relationships/notesMaster" Target="/ppt/notesMasters/notesMaster1.xml" Id="Rad490ef309c946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Начать с главного тезиса: продукт экономит время участника и Организатора.</a:t>
            </a:r>
          </a:p>
          <a:p xmlns:a="http://schemas.openxmlformats.org/drawingml/2006/main">
            <a:r>
              <a:t>- Подчеркнуть, что это не общая идея, а уже собранный путь: ссылка, запись, код, напоминание.</a:t>
            </a:r>
          </a:p>
          <a:p xmlns:a="http://schemas.openxmlformats.org/drawingml/2006/main">
            <a:r>
              <a:t>- Сразу назвать основу: MAX, Yandex Cloud, YDB и проверенная тестами реализация.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 три главных пользовательских экрана: меню, карточку мероприятия, мои записи.</a:t>
            </a:r>
          </a:p>
          <a:p xmlns:a="http://schemas.openxmlformats.org/drawingml/2006/main">
            <a:r>
              <a:t>- Сказать, что пользователь не изучает интерфейс: он нажимает понятные кнопки в привычном чате.</a:t>
            </a:r>
          </a:p>
          <a:p xmlns:a="http://schemas.openxmlformats.org/drawingml/2006/main">
            <a:r>
              <a:t>- Объяснить тезис про миниапп: когда цель одна и короткая, чат быстрее и надежнее.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Сделать акцент на фиче ссылок: Организатор может быстро раскидать мероприятие по чатам.</a:t>
            </a:r>
          </a:p>
          <a:p xmlns:a="http://schemas.openxmlformats.org/drawingml/2006/main">
            <a:r>
              <a:t>- Пояснить, что ссылка ведет не в общий бот, а сразу в нужную карточку.</a:t>
            </a:r>
          </a:p>
          <a:p xmlns:a="http://schemas.openxmlformats.org/drawingml/2006/main">
            <a:r>
              <a:t>- Связать это с популярностью: чем меньше действий, тем выше конверсия в запись.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Объяснить, что продукт закрывает не только запись, но и доведение участника до посещения.</a:t>
            </a:r>
          </a:p>
          <a:p xmlns:a="http://schemas.openxmlformats.org/drawingml/2006/main">
            <a:r>
              <a:t>- Показать цепочку напоминаний и кнопку возврата в карточку.</a:t>
            </a:r>
          </a:p>
          <a:p xmlns:a="http://schemas.openxmlformats.org/drawingml/2006/main">
            <a:r>
              <a:t>- Подчеркнуть, что ручные уведомления Организатора используют тот же механизм.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Перейти от участника к Организатору: это второй пользовательский контур.</a:t>
            </a:r>
          </a:p>
          <a:p xmlns:a="http://schemas.openxmlformats.org/drawingml/2006/main">
            <a:r>
              <a:t>- Показать билдер мероприятий и структурные поля: время, дата, требования, место, слоты.</a:t>
            </a:r>
          </a:p>
          <a:p xmlns:a="http://schemas.openxmlformats.org/drawingml/2006/main">
            <a:r>
              <a:t>- Сказать, что структурирование повышает качество UX и упрощает будущую бизнес-логику.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Показать, как Организатор работает на входе: код, профиль, статус.</a:t>
            </a:r>
          </a:p>
          <a:p xmlns:a="http://schemas.openxmlformats.org/drawingml/2006/main">
            <a:r>
              <a:t>- Подчеркнуть, что это продолжение той же чатовой логики, без выгрузок в таблицы.</a:t>
            </a:r>
          </a:p>
          <a:p xmlns:a="http://schemas.openxmlformats.org/drawingml/2006/main">
            <a:r>
              <a:t>- Связать журнал действий с будущей аналитикой и отчетностью.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Коротко показать, что презентация построена под финальные критерии оценки.</a:t>
            </a:r>
          </a:p>
          <a:p xmlns:a="http://schemas.openxmlformats.org/drawingml/2006/main">
            <a:r>
              <a:t>- Не перечислять баллы, а связать критерии с продуктом: UX, практическая ценность, техника, рынок.</a:t>
            </a:r>
          </a:p>
          <a:p xmlns:a="http://schemas.openxmlformats.org/drawingml/2006/main">
            <a:r>
              <a:t>- Сказать, что дальше переходим к технической реализации уже после понимания пользы.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Начать техчасть именно со стека, потому что зритель уже видел пользовательскую пользу.</a:t>
            </a:r>
          </a:p>
          <a:p xmlns:a="http://schemas.openxmlformats.org/drawingml/2006/main">
            <a:r>
              <a:t>- Сделать акцент на импортозамещении: MAX, Yandex Cloud Functions, YDB Serverless.</a:t>
            </a:r>
          </a:p>
          <a:p xmlns:a="http://schemas.openxmlformats.org/drawingml/2006/main">
            <a:r>
              <a:t>- Пояснить выбор: простой деплой, дешевое обслуживание, локальная разработка через Docker.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Объяснить архитектуру слева направо: MAX, функция, обработчик, сервисы, YDB.</a:t>
            </a:r>
          </a:p>
          <a:p xmlns:a="http://schemas.openxmlformats.org/drawingml/2006/main">
            <a:r>
              <a:t>- Подчеркнуть, что стрелки показывают реальное направление запроса, а не декоративный поток.</a:t>
            </a:r>
          </a:p>
          <a:p xmlns:a="http://schemas.openxmlformats.org/drawingml/2006/main">
            <a:r>
              <a:t>- Сказать про поддержку: локальный Docker, деплой-скрипты, health, очередь уведомлений и аудит.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Назвать фактический объем тестов: 158, включая проверки качества UI.</a:t>
            </a:r>
          </a:p>
          <a:p xmlns:a="http://schemas.openxmlformats.org/drawingml/2006/main">
            <a:r>
              <a:t>- Коротко пройтись по зонам покрытия: ссылки, webhook, timer, YDB, Организатор.</a:t>
            </a:r>
          </a:p>
          <a:p xmlns:a="http://schemas.openxmlformats.org/drawingml/2006/main">
            <a:r>
              <a:t>- Пояснить безопасность: минимизация данных, секреты в окружении, журнал действий.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рассказа:</a:t>
            </a:r>
          </a:p>
          <a:p xmlns:a="http://schemas.openxmlformats.org/drawingml/2006/main">
            <a:r>
              <a:t>- Завершить не общими словами, а понятной моделью развития и денег.</a:t>
            </a:r>
          </a:p>
          <a:p xmlns:a="http://schemas.openxmlformats.org/drawingml/2006/main">
            <a:r>
              <a:t>- Назвать приоритетные места, статистику, панели наблюдаемости и аналитические отчеты.</a:t>
            </a:r>
          </a:p>
          <a:p xmlns:a="http://schemas.openxmlformats.org/drawingml/2006/main">
            <a:r>
              <a:t>- Финальная мысль: продукт популярен не потому что он бот, а потому что быстро доводит человека до цели.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4bf5a33ed04ec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4a8cd4eed424592" /><Relationship Type="http://schemas.openxmlformats.org/officeDocument/2006/relationships/slideLayout" Target="/ppt/slideLayouts/slideLayout2.xml" Id="R79a90d1456ef49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a90d1456ef49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e51cc713f4cb6" /><Relationship Type="http://schemas.openxmlformats.org/officeDocument/2006/relationships/image" Target="/ppt/media/image.png" Id="R873b714367ce4b2c" /><Relationship Type="http://schemas.openxmlformats.org/officeDocument/2006/relationships/notesSlide" Target="/ppt/notesSlides/notesSlide1.xml" Id="R514f63ad376a49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b631204f664834" /><Relationship Type="http://schemas.openxmlformats.org/officeDocument/2006/relationships/notesSlide" Target="/ppt/notesSlides/notesSlide2.xml" Id="R0b7acc508e014f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2437f2ec55498a" /><Relationship Type="http://schemas.openxmlformats.org/officeDocument/2006/relationships/notesSlide" Target="/ppt/notesSlides/notesSlide3.xml" Id="R5365522fe5e44b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9e558129db40bb" /><Relationship Type="http://schemas.openxmlformats.org/officeDocument/2006/relationships/image" Target="/ppt/media/image2.png" Id="Re2b951c9b16540e4" /><Relationship Type="http://schemas.openxmlformats.org/officeDocument/2006/relationships/notesSlide" Target="/ppt/notesSlides/notesSlide4.xml" Id="R20f3bd5567cf4b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3256ff7f694d8b" /><Relationship Type="http://schemas.openxmlformats.org/officeDocument/2006/relationships/image" Target="/ppt/media/image3.png" Id="R0ff4267cb6514c70" /><Relationship Type="http://schemas.openxmlformats.org/officeDocument/2006/relationships/notesSlide" Target="/ppt/notesSlides/notesSlide5.xml" Id="R0e0007ac28c14d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d39222f5704f61" /><Relationship Type="http://schemas.openxmlformats.org/officeDocument/2006/relationships/image" Target="/ppt/media/image4.png" Id="R67de0c4540094dce" /><Relationship Type="http://schemas.openxmlformats.org/officeDocument/2006/relationships/notesSlide" Target="/ppt/notesSlides/notesSlide6.xml" Id="R046227be8bdb4d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f0ad54c46c417d" /><Relationship Type="http://schemas.openxmlformats.org/officeDocument/2006/relationships/notesSlide" Target="/ppt/notesSlides/notesSlide7.xml" Id="Ra4de8a69d35740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2a68ff30a04826" /><Relationship Type="http://schemas.openxmlformats.org/officeDocument/2006/relationships/notesSlide" Target="/ppt/notesSlides/notesSlide8.xml" Id="Rba2547db779244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8a3cb6b03042e7" /><Relationship Type="http://schemas.openxmlformats.org/officeDocument/2006/relationships/notesSlide" Target="/ppt/notesSlides/notesSlide9.xml" Id="R5c7ebcd985f844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16a201438472a" /><Relationship Type="http://schemas.openxmlformats.org/officeDocument/2006/relationships/notesSlide" Target="/ppt/notesSlides/notesSlide10.xml" Id="R57bbf512334140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f3bcf54c1943e2" /><Relationship Type="http://schemas.openxmlformats.org/officeDocument/2006/relationships/notesSlide" Target="/ppt/notesSlides/notesSlide11.xml" Id="R40207cb31e834ab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D23E67-C9E7-43B3-98AA-58DD7EB1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EF7D6-5187-470B-808B-4DA362D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BFCE5-5B62-4912-9E27-4323DDB1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C"/>
          </a:solidFill>
          <a:ln xmlns:a="http://schemas.openxmlformats.org/drawingml/2006/main" w="0">
            <a:solidFill>
              <a:srgbClr val="F2F6F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DF6EA-FE06-43CB-87DA-B93FAB9A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876300"/>
            <a:ext cx="37719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b714367ce4b2c"/>
          <a:stretch xmlns:a="http://schemas.openxmlformats.org/drawingml/2006/main"/>
        </p:blipFill>
        <p:spPr>
          <a:xfrm xmlns:a="http://schemas.openxmlformats.org/drawingml/2006/main">
            <a:off x="7677150" y="2324100"/>
            <a:ext cx="3657600" cy="1828800"/>
          </a:xfrm>
          <a:prstGeom xmlns:a="http://schemas.openxmlformats.org/drawingml/2006/main" prst="rect">
            <a:avLst/>
          </a:prstGeom>
        </p:spPr>
      </p:pic>
      <p:sp>
        <p:nvSpPr>
          <p:cNvPr id="6" name="kicker-cover-marker">
            <a:extLst xmlns:a="http://schemas.openxmlformats.org/drawingml/2006/main">
              <a:ext uri="{FF2B5EF4-FFF2-40B4-BE49-F238E27FC236}">
                <a16:creationId xmlns:a16="http://schemas.microsoft.com/office/drawing/2014/main" id="{6E4A6F67-AA85-43BD-9072-848E868C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7" name="kicker-cover-label">
            <a:extLst xmlns:a="http://schemas.openxmlformats.org/drawingml/2006/main">
              <a:ext uri="{FF2B5EF4-FFF2-40B4-BE49-F238E27FC236}">
                <a16:creationId xmlns:a16="http://schemas.microsoft.com/office/drawing/2014/main" id="{A8DD63A4-22AA-4D09-87EA-AB62CFA5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DE7F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DDE7F6"/>
                </a:solidFill>
                <a:latin typeface="Segoe UI Semibold"/>
                <a:ea typeface="Segoe UI Semibold"/>
                <a:cs typeface="Segoe UI Semibold"/>
              </a:rPr>
              <a:t>ПРОДУКТОВАЯ ДЕМОНСТРАЦИЯ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75868-0E50-45A8-9A3F-0E3F0C44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Запись на мероприятие в MAX за 10 секунд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EAD9C3-1FED-4014-BEE6-5D14E726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Чат-бот закрывает путь от ссылки в рассылке до кода записи без отдельного миниаппа и лишних экранов.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77267-2803-4784-B9A5-33B649E6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29364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2B654-035F-459B-A64B-2D874F73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5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10 сек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C507C-9313-4006-A43C-99D7BFEA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8147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цель для записи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AABFF5-A779-4071-817A-50DBFAB5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147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2936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8941-A08E-4424-8BEE-4F2A7B1A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3C5F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550" b="1">
                <a:solidFill>
                  <a:srgbClr val="93C5FD"/>
                </a:solidFill>
                <a:latin typeface="Segoe UI Semibold"/>
                <a:ea typeface="Segoe UI Semibold"/>
                <a:cs typeface="Segoe UI Semibold"/>
              </a:rPr>
              <a:t>1 ссылка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3F981-3EA4-4A2D-8833-E98BB5FF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8147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из чата в карточку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406DEF-0929-47F3-BE64-DE62056D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7147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2936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E09088-50AC-4205-86D9-602D5850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1000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5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158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E7D46F-848B-477B-9AB6-BAF0164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8147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автотестов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58828-076D-4E4B-A409-D8D8D722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 + Yandex Cloud + YDB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64CA72-A4EF-4776-8A03-F56CD4C5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42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Пользователь видит привычный чат, Организатор получает учет, напоминания и контроль посещения.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AC927B-C9D3-480B-9FE3-A5170A88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4B3619-5B20-48DB-A5A6-4535D1BF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08853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40D70F-B503-427D-AF5B-70347EEB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ux-marker">
            <a:extLst xmlns:a="http://schemas.openxmlformats.org/drawingml/2006/main">
              <a:ext uri="{FF2B5EF4-FFF2-40B4-BE49-F238E27FC236}">
                <a16:creationId xmlns:a16="http://schemas.microsoft.com/office/drawing/2014/main" id="{558FE370-F62D-4E27-8DB8-A103C4E5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ux-label">
            <a:extLst xmlns:a="http://schemas.openxmlformats.org/drawingml/2006/main">
              <a:ext uri="{FF2B5EF4-FFF2-40B4-BE49-F238E27FC236}">
                <a16:creationId xmlns:a16="http://schemas.microsoft.com/office/drawing/2014/main" id="{1240B7F2-2D8F-4192-B1B2-9F092E66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ОПЫТ УЧАСТНИКА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6DCB1-16FD-422F-8ED0-ADE4E4E7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Первый экран объясняет все без инструкции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E3FCA-D586-4D6C-9A87-E844D35D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8286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Вся логика живет в сообщениях и кнопках: найти мероприятие, записаться, получить код, открыть свою запись.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91D4B-52BC-4088-B251-D1FFABE9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2857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C2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FA568-9480-4127-B922-5A6C5E0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2590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CDFB6-8C7D-4036-A211-2ACFE597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527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Главное меню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4E73E-694D-490B-93F3-4548892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25146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F48AE-F6EE-478A-8C35-4C426502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671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470C4-4A01-45F0-86AD-BF77D994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228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поиск мероприятий и свои записи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CA73A-0F29-4160-8A72-12AB2CB5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2857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C2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B6DB57-BA2C-4C9E-99E1-1E0CF2FD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14600"/>
            <a:ext cx="2590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327E8-E454-4B9C-88B5-CB1B5B5C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527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Карточка мероприятия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71D52-630E-43F3-A3FD-4DEBFC44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14650"/>
            <a:ext cx="25146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CF279-2362-4434-895D-644704DA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671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DF80C-ACBD-4221-B73F-C05CCCEB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228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дата, время, требования, слот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4864C-2F0A-49AC-B1DD-7B8C9A4B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81250"/>
            <a:ext cx="28575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C2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AEE919-1BCF-46C8-A149-A5680CFB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14600"/>
            <a:ext cx="2590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BD1DD5-8B41-442C-89F7-10953E85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5270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Мои записи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1A25B-0BB4-42B5-AE57-BDF309AA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14650"/>
            <a:ext cx="25146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AAB7CA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0E2D7F-D600-4D88-9988-191ECD8F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671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место под скриншот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FABC0-0FBF-43FD-84CA-ABC64275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52875"/>
            <a:ext cx="228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код, статус, отмена и напоминания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09725-91C4-4D08-BE87-791D0756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0591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9FC5E3-7324-4D66-A2B6-DA42D6DC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483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Почему чат лучше миниаппа для этой цели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BD3A8A-5CAA-4B75-A654-85177551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483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меньше входной барьер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534FA3-7B31-485D-BE86-080B48C1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открывает сразу нужное место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C69330-2749-4141-91D5-9D941B6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8483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 остается в истории диалога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F6BCE-8E9C-4094-942D-4BFD04FC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5D4E1E-1D47-4C8C-8858-1552AA08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989999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32FD34-0156-47E0-BC51-DC23D133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link-marker">
            <a:extLst xmlns:a="http://schemas.openxmlformats.org/drawingml/2006/main">
              <a:ext uri="{FF2B5EF4-FFF2-40B4-BE49-F238E27FC236}">
                <a16:creationId xmlns:a16="http://schemas.microsoft.com/office/drawing/2014/main" id="{A97BF81A-9076-4386-8C2A-5F0908A7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link-label">
            <a:extLst xmlns:a="http://schemas.openxmlformats.org/drawingml/2006/main">
              <a:ext uri="{FF2B5EF4-FFF2-40B4-BE49-F238E27FC236}">
                <a16:creationId xmlns:a16="http://schemas.microsoft.com/office/drawing/2014/main" id="{9D110366-1BAE-499B-826E-3BFE9C3E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БЫСТРЫЙ ВХОД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757AC-5603-4CBA-B3D9-433073CC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Ссылка из чата сразу открывает запись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FD061-BCC6-4CD6-85F3-8D4208CD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 отправляет ссылку на мероприятие в чат. Участник открывает сразу нужную карточку и завершает запись.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D87B5-CF81-4087-AF67-C06F3CD7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2209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44128-1124-42EC-9B71-C9698D74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95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0403D-38DF-4893-A496-DE687DD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432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AA47C-30D0-4B13-B2E7-3C55C4A5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95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Чат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85A32-387B-48D5-9FD6-781DCF47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90900"/>
            <a:ext cx="1828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в массовой рассылке или группе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F61D6-73DE-4EDA-8697-C8A2E2D8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861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DF377-2767-4E50-A432-4605B969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337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F6961-8AD5-49A5-86E1-AE2E4258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24150"/>
            <a:ext cx="2209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F9340-27C7-4032-958D-690B2F91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DCCC5-C54D-407A-BDBB-D41D599F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432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E1B8EA-C4EC-4D73-8D47-0D52E04E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95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Карточка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448E1F-C388-4E9E-B372-96527020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90900"/>
            <a:ext cx="1828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дата, место, требования и доступные слоты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C07CD3-E149-4092-BDDD-B5F546D1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861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12F1FC-63BA-4E9A-828F-9FFE528B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8A5FD6-3151-418B-BAD6-4185256E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24150"/>
            <a:ext cx="2209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F22EC-B51E-4697-9B90-ECC06D64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95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25973D-90E3-4BE2-BE8A-6CA309D8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432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2B71FA-A132-4FDA-A0C5-B1431EB2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95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Выбор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31F2B0-8FFD-448F-AE07-95C5579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1828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подтверждает слот одной кнопкой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BE3EF2-C194-4BF5-8F95-81F955C8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861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3F3628-14C2-4010-A498-DDB75066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3375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763605-A32F-45FD-BE21-E5F5DA3C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24150"/>
            <a:ext cx="1828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E47745-F749-4161-AD27-6B2197EE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95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EEC637-081D-4E13-8E37-A6D3A3C2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7AAF19-17BB-4AE1-8DD8-03B34FA4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95600"/>
            <a:ext cx="1028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3DDAE2-917C-455B-B496-FB00F2E2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390900"/>
            <a:ext cx="1447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 выдает код записи для входа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55320B-78DD-49D6-874E-4A150785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30861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B7EED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260CD5-7338-469C-8E01-42AD940C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до 10 секунд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CA18DD-378D-4F66-9E39-D40D0949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530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на путь от ссылки до кода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A5F16-DA64-4325-A592-B3DBDABF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7205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16B5B0-2FD5-42A3-9596-33242664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2920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кнопка Поделиться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B8ECE0-850D-485F-8D27-1B4F9822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72050"/>
            <a:ext cx="2362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2D0B4E-64EA-493C-978A-9C2DCEFE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292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5B0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9A5B00"/>
                </a:solidFill>
                <a:latin typeface="Segoe UI Semibold"/>
                <a:ea typeface="Segoe UI Semibold"/>
                <a:cs typeface="Segoe UI Semibold"/>
              </a:rPr>
              <a:t>ссылка копируется в буфер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BA5C0F-5F20-4950-B699-FA03DFEB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9720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43CB73-D3D4-4F05-963C-EE81C597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0292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без поиска вручную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AFAFB8-52C9-4F5D-9EB6-17E2315E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CAB0BF-CF42-4BB0-BF02-3EFF36AA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2767755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29FC2C-018C-4634-91A3-6071FB3C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notify-marker">
            <a:extLst xmlns:a="http://schemas.openxmlformats.org/drawingml/2006/main">
              <a:ext uri="{FF2B5EF4-FFF2-40B4-BE49-F238E27FC236}">
                <a16:creationId xmlns:a16="http://schemas.microsoft.com/office/drawing/2014/main" id="{F39CF9E2-E0BA-4F79-91C6-54FE4D0B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" name="kicker-notify-label">
            <a:extLst xmlns:a="http://schemas.openxmlformats.org/drawingml/2006/main">
              <a:ext uri="{FF2B5EF4-FFF2-40B4-BE49-F238E27FC236}">
                <a16:creationId xmlns:a16="http://schemas.microsoft.com/office/drawing/2014/main" id="{163E4FBD-0DA2-4AC7-9EA1-5242CAF3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НАПОМИНАНИЯ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98EA3-9DDD-42E0-8201-5EC317C1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Уведомления доводят человека до входа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67415-2C57-48B4-80E9-98326D6B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После записи бот не исчезает: он возвращает участника к мероприятию и помогает не забыть время, место и код.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A87F2-C573-49BF-BC0D-BCA3F942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1962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951c9b16540e4"/>
          <a:stretch xmlns:a="http://schemas.openxmlformats.org/drawingml/2006/main"/>
        </p:blipFill>
        <p:spPr>
          <a:xfrm xmlns:a="http://schemas.openxmlformats.org/drawingml/2006/main">
            <a:off x="9239250" y="2333625"/>
            <a:ext cx="1771650" cy="5905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93D62-71C9-4609-99DA-F90E4157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0"/>
            <a:ext cx="1657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6F0230-4FAC-47EF-834D-E4CE9848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9E0B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59E0B"/>
                </a:solidFill>
                <a:latin typeface="Segoe UI"/>
                <a:ea typeface="Segoe UI"/>
                <a:cs typeface="Segoe UI"/>
              </a:rPr>
              <a:t>за 3 дня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46144-B430-4FB3-BF11-D4041E06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ранний возврат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696A4C-280F-4E20-899C-D66D49E3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957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0EAACA-C1D8-4BFA-B941-1B641424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433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7D829-B7B0-4DB7-B47D-7D78AF7C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1657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66D71-D64D-4AAB-ABDE-C29DCC3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337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9E0B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59E0B"/>
                </a:solidFill>
                <a:latin typeface="Segoe UI"/>
                <a:ea typeface="Segoe UI"/>
                <a:cs typeface="Segoe UI"/>
              </a:rPr>
              <a:t>за 24 часа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5D23C-5CF7-41AE-90B1-D417617D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7338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проверка планов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2F257-8459-4418-A24B-D39472EE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957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A6B03B-AD7F-4886-97A7-4B4B41FF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433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6B7EF-CAF3-447F-9D5E-316C6F87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43250"/>
            <a:ext cx="1657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1021EF-CA1D-4F0C-A7F6-02C0B99F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337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9E0B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59E0B"/>
                </a:solidFill>
                <a:latin typeface="Segoe UI"/>
                <a:ea typeface="Segoe UI"/>
                <a:cs typeface="Segoe UI"/>
              </a:rPr>
              <a:t>за 3 часа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EEAE51-5EBB-4E15-88E4-D2FF54FA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338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финальное напоминание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DD3CD-5251-4D36-A70F-E4A10CDF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957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A52C2-3FA6-4D06-985D-D578FF48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433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AE441-EC8B-44AB-AEBB-2C8477F6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43250"/>
            <a:ext cx="1657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F20D3F-A8FE-4894-9F55-B6D589B0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337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11D48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E11D48"/>
                </a:solidFill>
                <a:latin typeface="Segoe UI"/>
                <a:ea typeface="Segoe UI"/>
                <a:cs typeface="Segoe UI"/>
              </a:rPr>
              <a:t>старт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B4C7B-DD8D-4A00-9AA9-A81D8173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338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 под рукой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E6223C-BCDD-43EC-9B77-2F97C6A4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7029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47CF97-DB36-46A0-93CA-7D9A7811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95850"/>
            <a:ext cx="504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Подробнее возвращает в карточку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847A96-6242-4D22-8680-FCDFF1D0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0065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не ищет старое сообщение: бот сам ведет к нужному действию.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37D5B9-DDB2-4968-AF94-B036245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005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Очередь уведомлений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A3CDB3-C8C5-4AE3-9C87-5779EA6B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6863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notification_outbox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84D35D-D540-476B-99F5-EA712630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10150"/>
            <a:ext cx="2266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плановые и ручные сообщения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BC69F9-F3C1-40E0-9F14-CC4A6731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94D151-533B-4030-8DB7-8E7A2192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2731117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17BDC5-28FB-408C-A885-E697B33E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org-marker">
            <a:extLst xmlns:a="http://schemas.openxmlformats.org/drawingml/2006/main">
              <a:ext uri="{FF2B5EF4-FFF2-40B4-BE49-F238E27FC236}">
                <a16:creationId xmlns:a16="http://schemas.microsoft.com/office/drawing/2014/main" id="{842ED4E9-F027-49E2-95BF-C68BA7BB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" name="kicker-org-label">
            <a:extLst xmlns:a="http://schemas.openxmlformats.org/drawingml/2006/main">
              <a:ext uri="{FF2B5EF4-FFF2-40B4-BE49-F238E27FC236}">
                <a16:creationId xmlns:a16="http://schemas.microsoft.com/office/drawing/2014/main" id="{1CDCA4DD-1D42-4BE1-BE2A-F1094066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КОНТУР ОРГАНИЗАТОРА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82DE8-D536-4CB2-BA39-1A2B4442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7429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Организатор собирает мероприятие из структурированных блоков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E78E3-67D9-4944-84D7-2B9B78E6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Информация не превращается в длинный текст: дата, время, требования, место и слоты живут отдельно.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E7AA8-F17A-42D7-A598-38F6E663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028700"/>
            <a:ext cx="27241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4267cb6514c70"/>
          <a:stretch xmlns:a="http://schemas.openxmlformats.org/drawingml/2006/main"/>
        </p:blipFill>
        <p:spPr>
          <a:xfrm xmlns:a="http://schemas.openxmlformats.org/drawingml/2006/main">
            <a:off x="8648700" y="1747838"/>
            <a:ext cx="2571750" cy="1285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13651-30E9-4739-A23D-704A5954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FC5D3-879D-4848-A86A-0349685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Название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EC6E69-B4E4-4ECA-BFA3-29F76A5B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003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2AA34-1130-4EF7-8330-40853216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575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Дата и время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598844-18AD-40C2-B450-4733FB01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0035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ED74B-5C2B-4AA8-AFAF-7ADD0FF9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5750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5B0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9A5B00"/>
                </a:solidFill>
                <a:latin typeface="Segoe UI Semibold"/>
                <a:ea typeface="Segoe UI Semibold"/>
                <a:cs typeface="Segoe UI Semibold"/>
              </a:rPr>
              <a:t>Место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E2B110-C9C4-4B9E-B5F1-4BF3DF0F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785EA-5444-46FD-B7A3-C63334FC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Требования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71EA78-59D6-4505-927C-76C615F6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052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9B8F9-0D7F-4BAC-8594-EFBF6E09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623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Слоты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CA0D83-3E45-4278-8916-4EC79DAF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052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C8D2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45DE8E-5991-4E0B-B31B-E9A8087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5623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rPr>
              <a:t>Обложка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A1AB85-0E8C-42BE-A050-03527105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95600"/>
            <a:ext cx="135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2DDCD2-06EA-4224-807A-246A92E5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48000"/>
            <a:ext cx="1009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Билдер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442E12-5057-43D6-ACC7-7CB6ADE2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52800"/>
            <a:ext cx="100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98341C-3846-4E34-84E6-A4E10830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A354DC-2D25-4F2C-ABF8-D1FBA120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242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A6383-3787-4A73-8279-D167C85D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4819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9D7CCA-2BE6-4A1A-A8D0-3B674F29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149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Пользователю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9A78E6-1CDF-4113-9AFE-71BF0512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19700"/>
            <a:ext cx="409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 карточке быстро читаются время, требования и действие. Ничего не надо выискивать в тексте.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59C7E-D3A6-442C-9C4B-A49FB113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276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D9D0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53C37-F099-400A-8464-1293FD0E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C3AE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Управление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3263AE-01C8-41E0-A2ED-EC0E44D1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197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закрыть регистрацию, отправить напоминание, поделиться ссылкой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F3C0D4-8B75-47A8-994C-68CFDE87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0C3A33-CBFD-4319-B130-85E82FB0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51515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3A860C-75C1-42F2-A9C6-16DF8C90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attendance-marker">
            <a:extLst xmlns:a="http://schemas.openxmlformats.org/drawingml/2006/main">
              <a:ext uri="{FF2B5EF4-FFF2-40B4-BE49-F238E27FC236}">
                <a16:creationId xmlns:a16="http://schemas.microsoft.com/office/drawing/2014/main" id="{90A935C9-179F-4949-998A-7195A8D5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3" name="kicker-attendance-label">
            <a:extLst xmlns:a="http://schemas.openxmlformats.org/drawingml/2006/main">
              <a:ext uri="{FF2B5EF4-FFF2-40B4-BE49-F238E27FC236}">
                <a16:creationId xmlns:a16="http://schemas.microsoft.com/office/drawing/2014/main" id="{281BFDE0-124C-42E3-9952-1C5C2D6E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ПОСЕЩЕНИЕ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B8CF7-692E-474E-9528-041D30A6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7429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На входе не нужен отдельный список: отметка идет из чата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E9AC9-A0FD-48A3-9DF9-04F7950A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 ищет запись по коду или профилю, меняет статус и сразу отправляет участнику подтверждение.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F6A98-F8C8-427F-A524-5A4FDADA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123950"/>
            <a:ext cx="2343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e0c4540094dce"/>
          <a:stretch xmlns:a="http://schemas.openxmlformats.org/drawingml/2006/main"/>
        </p:blipFill>
        <p:spPr>
          <a:xfrm xmlns:a="http://schemas.openxmlformats.org/drawingml/2006/main">
            <a:off x="8763000" y="2014538"/>
            <a:ext cx="2152650" cy="10763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4879F-D171-4E43-866B-914D3E38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20383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58E334-D036-41BC-8F8B-6E62DEB4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52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F3797-892D-4724-B1EE-10DB5C68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037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824A1-5D84-4D2D-A91C-B7B3C283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6B437-8618-41E7-8E19-9F54CA64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1657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показывает 123-456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810CD-979A-4BE6-B2FC-6FA8657F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671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A685D-4E7B-41B0-A17F-FDD6BD33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147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2F1B0-7479-41D4-A23D-3F897BAF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20383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64636-216C-4E32-9B09-7E508248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52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9883A9-5DFF-47A8-A471-67019F16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0037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68913D-558E-4734-BB20-4E91AC8B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Поиск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0FFF6-D2AB-4BD6-B6B3-60F39744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48050"/>
            <a:ext cx="1657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можно отправить код или профиль MAX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E0CAB8-F587-41FD-90B0-B850D417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671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47247F-BE6F-4E10-BBE7-2CA84F4A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147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5489EA-6CBE-4EC8-9E45-5648A196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81300"/>
            <a:ext cx="20383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319EDF-E1EA-4D59-B510-DC88D6F5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17684-DB0E-4760-9964-24E5743F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00375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B5F234-1CB5-4EA4-B64E-199EA674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Статус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85AD69-49A0-4957-8072-23B95B99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48050"/>
            <a:ext cx="1657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 помечается как посещенная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BABFFF-8CB6-4497-96B6-FFC59567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3105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F9A651-F0A0-48F8-BE19-46471FA5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91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Контроль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91016-EB98-46F7-B31B-DEE648BF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241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участники, коды, статусы, закрытие регистрации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5431DF-C852-4832-81ED-6C87C91B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38700"/>
            <a:ext cx="3105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B7EED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2DF542-2E7A-479B-92CE-636016CF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991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Обратная связь участнику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4024B0-DB24-4910-A474-B3067468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295900"/>
            <a:ext cx="241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бот сообщает, что Организатор отметил посещение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86BD91-7B7F-4B51-883B-8491CF02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838700"/>
            <a:ext cx="3048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1003A0-05D5-4660-8377-0E935160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911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Журнал действий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84462A-BF02-4280-9B2D-EA26E657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9590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основа для аудита и будущей аналитики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EC2D5C-ECFE-4C56-BF26-65FEFC65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A6EDB4-8355-48FE-993D-D2D7F76C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201632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D7B4B-FB31-4B7F-B2FA-F2A1039B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criteria-marker">
            <a:extLst xmlns:a="http://schemas.openxmlformats.org/drawingml/2006/main">
              <a:ext uri="{FF2B5EF4-FFF2-40B4-BE49-F238E27FC236}">
                <a16:creationId xmlns:a16="http://schemas.microsoft.com/office/drawing/2014/main" id="{9D088561-0583-4AEB-AFED-7A66FFFC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criteria-label">
            <a:extLst xmlns:a="http://schemas.openxmlformats.org/drawingml/2006/main">
              <a:ext uri="{FF2B5EF4-FFF2-40B4-BE49-F238E27FC236}">
                <a16:creationId xmlns:a16="http://schemas.microsoft.com/office/drawing/2014/main" id="{4EFE38C9-D16D-428A-87E4-EE757E8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КРИТЕРИИ ОЦЕНКИ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4DAF4-AD17-49F7-87AB-33286F96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Сила идеи в сокращении пути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C8032-3744-4408-B43F-098AE32A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Финальные критерии закрываются не лозунгами, а конкретными частями продукта.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900ED-476F-43CB-A447-3C8ACF01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D4CE8-A6D4-45E2-99AF-C9D7D35E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FC82B-C140-4648-BCB7-67D29F39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956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Инновационность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1CB81-38E5-421E-933F-E84C12D7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ссылка из рассылки сразу ведет к записи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C3D66-28AB-427A-A576-C16EEA3F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7C7C3-AA08-4E8A-94F0-F6DC5DB1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C97E3-1972-4F68-9F3B-F5063F41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956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Практическая ценность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B15D3-922E-4A5F-9839-BD5A3170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меньше ручной координации и потерянных участников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99A22-720F-4CC5-9C85-52CC6D92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2415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1171F-FC01-40A0-B2A2-2235F8E4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241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67273-29A6-4DE0-8850-94E70FAB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9560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C3AE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Дизайн и UX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0F224-26FE-4E3B-8BB9-AC8158A2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понятные кнопки, короткий путь, данные структурированы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3A2666-7974-4051-AB19-6F0021FF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E276F-556A-4865-B3D8-96D91FAF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C3523-04E5-434E-A69B-4D26634F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9E0B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F59E0B"/>
                </a:solidFill>
                <a:latin typeface="Segoe UI"/>
                <a:ea typeface="Segoe UI"/>
                <a:cs typeface="Segoe UI"/>
              </a:rPr>
              <a:t>Техническая реализация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30463-BEBC-4AB1-AA64-FA2E8AB7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2915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серверлесс, YDB, тесты, очередь уведомлений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31522-7AD2-4C9D-A924-BF001A03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C5B202-3AC1-4175-9161-D0E9E9ED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1F221C-E137-44C3-9BE9-55FB200E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862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11D48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E11D48"/>
                </a:solidFill>
                <a:latin typeface="Segoe UI"/>
                <a:ea typeface="Segoe UI"/>
                <a:cs typeface="Segoe UI"/>
              </a:rPr>
              <a:t>Коммерциализация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763F8E-9B17-4986-B2B2-F6DEA226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приоритетные места, статистика, аналитические отчеты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BE39F9-53A3-467B-87E9-D15FADA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3048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C9079F-7255-4309-B09A-81AA224F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1F293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95E469-57C4-47F8-A0DB-44BD0689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862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Командная подача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F1F591-9AD5-415E-925E-CE79E016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629150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история идет от пользователя к технике и рынку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4A32B3-89BA-4E89-BCFF-B9B38C9E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53100"/>
            <a:ext cx="1013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F059C7-81B2-4584-887F-210A71F1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971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Логика рассказа: участник -&gt; Организатор -&gt; стек -&gt; архитектура -&gt; надежность -&gt; коммерциализация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B49811-CA70-4743-800D-A39B122D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AC9F71-1CD8-4593-8DF2-3B5C1AB4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1063995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1863A0-AA71-4C4B-A783-6ED14E20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stack-marker">
            <a:extLst xmlns:a="http://schemas.openxmlformats.org/drawingml/2006/main">
              <a:ext uri="{FF2B5EF4-FFF2-40B4-BE49-F238E27FC236}">
                <a16:creationId xmlns:a16="http://schemas.microsoft.com/office/drawing/2014/main" id="{D7271558-67AD-4825-8F6E-9C565CE9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stack-label">
            <a:extLst xmlns:a="http://schemas.openxmlformats.org/drawingml/2006/main">
              <a:ext uri="{FF2B5EF4-FFF2-40B4-BE49-F238E27FC236}">
                <a16:creationId xmlns:a16="http://schemas.microsoft.com/office/drawing/2014/main" id="{77B61AA7-956E-454F-8304-7E1D60E1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ТЕХНОЛОГИЧЕСКИЙ СТЕК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6C624-60EB-4B0D-9A90-311D8BA7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Стек опирается на российский контур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E5C2C-F195-429A-B541-363DDE51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MAX, Yandex Cloud и YDB помогают быстро запускаться и поддерживать продукт без тяжелой инфраструктуры.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D57CC-DC0E-4770-A8DA-AC9DF095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D6D92-F163-4193-94C9-287A96F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0F177-AD69-4010-9B6D-4C9D899C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622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0077C-7869-45A1-988C-87383C3E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765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платформа диалога и кнопок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0871F-2FE8-49B6-AF55-35E96494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7AA4E-B101-4C10-BDD1-8D4F4363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C5E63-C577-4F69-89CF-5C03D654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622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Yandex Cloud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6E961-62AB-4296-82FF-C16682BE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765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Cloud Functions для вебхука и таймера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5F668-8D10-4333-938E-6943CE82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EE06D-5256-4165-AE36-8A715238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A464B5-62D7-453D-811E-6A1356D6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622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YDB Serverless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2C3668-185F-4719-8B20-43FB0820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765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хранилище мероприятий, записей и очереди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DA5B3-15B8-45E4-A906-18C25193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1962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332A7-FA68-4761-A04E-809D8106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DC2D8-03EE-424D-A81B-2796537F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622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Python 3.12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246A9B-E177-4AC8-B0B5-24D9AC4B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076575"/>
            <a:ext cx="1543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сервисная логика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F8FD34-D4A3-4944-B851-AB33E84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D395DB-9C30-4AD4-9E5F-A5D40DAA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8B48CF-F4B9-4575-833B-AF252D7E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529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FastAPI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D9C9BA-51F1-4E0D-8E08-9747CE82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6722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HTTP-обработчик и health-проверка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EB329C-F7D8-4857-BE54-21B469B9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00050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0B4903-E29E-4625-9487-46DBECAC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00050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A8583-AFC3-4994-B372-266E481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529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maxapi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23A740-7D86-4050-891C-33855293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46722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клиент MAX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C5F976-6128-4E53-AF75-93BCE603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00500"/>
            <a:ext cx="24193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563184-0F50-474D-987C-E5852AAA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0050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1F293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DD272-4CFD-44A1-B200-9E15F7FC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529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Docker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EC8143-C3CE-42F3-936B-DA249C6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6722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локальный стенд с YDB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A9AEEA-62B0-4001-9EF6-E7646232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00500"/>
            <a:ext cx="1962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F2F549-2DA9-409C-B6ED-D87D516B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0050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703D23-CF07-4393-88B7-2B22326F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5290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pytest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C45AA1-5F9C-4FCD-BD73-179FB1DE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467225"/>
            <a:ext cx="1543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158 автотестов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F9C1B7-96AD-49AF-BF1E-72114DC1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0FB6E-7192-4837-89C4-20A02ED7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34025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Главная ставка: не строить сложную инфраструктуру там, где серверлесс и YDB уже закрывают масштабирование.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9B3987-ADFD-46B3-8C1A-28BD9440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9AA088-F27A-41DF-BED2-B1C2EC33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98797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A366DE-C5FE-4958-9250-A254C1AD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2" name="kicker-arch-marker">
            <a:extLst xmlns:a="http://schemas.openxmlformats.org/drawingml/2006/main">
              <a:ext uri="{FF2B5EF4-FFF2-40B4-BE49-F238E27FC236}">
                <a16:creationId xmlns:a16="http://schemas.microsoft.com/office/drawing/2014/main" id="{E52CE0F8-3216-4807-A46F-A2A46086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kicker-arch-label">
            <a:extLst xmlns:a="http://schemas.openxmlformats.org/drawingml/2006/main">
              <a:ext uri="{FF2B5EF4-FFF2-40B4-BE49-F238E27FC236}">
                <a16:creationId xmlns:a16="http://schemas.microsoft.com/office/drawing/2014/main" id="{D83007FE-4E59-4F09-8761-ECA6D524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DE7F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DDE7F6"/>
                </a:solidFill>
                <a:latin typeface="Segoe UI Semibold"/>
                <a:ea typeface="Segoe UI Semibold"/>
                <a:cs typeface="Segoe UI Semibold"/>
              </a:rPr>
              <a:t>АРХИТЕКТУРА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D4B27-547C-4C1D-88A3-87766A88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Схема проста: MAX присылает запрос, состояние лежит в YDB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2C28B-49D4-4966-B1BD-D38FE1FE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781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Минимум движущихся частей помогает быстрее поддерживать продукт и проще объяснять его экспертам.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E9A38-52FB-41FF-A878-97E8BF7B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CB1E0-DCD8-4B9B-B4E2-480867A3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A5DFF-7740-4262-90E0-69319FFF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DA85D-3FE7-48ED-8962-B7B2C5C9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сообщения, кнопки, стартовая ссылка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4EC82-5E64-4B86-8D6D-8DD2BB8D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09975"/>
            <a:ext cx="76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69A0D-873A-4A00-B649-BAB6FC82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575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B824F-68E5-4971-AAA7-A95EE80A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527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11175-89FB-4A70-99DA-B211010B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527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BBB72E-93DC-47B9-AE6E-C3FB6A35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623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Функция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5238FC-1B59-4D07-9ADB-9764ADB6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2425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Cloud Functions: вебхук и таймер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127AE5-E1C6-4CC4-AD1F-937913BF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609975"/>
            <a:ext cx="76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20CD51-F62D-4539-AD0A-C6BFCFC1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575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0C1271-253B-4AA2-A418-7CF2F1F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527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081A3-291C-4002-A983-99CCC653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527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FDC185-D82E-466E-AADF-76591E5C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623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Обработчик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17991-7E60-495C-A733-4C6FDDAC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2425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FastAPI: проверка, маршрутизация, роли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739F9D-665E-4FAE-B9C9-17340B06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9975"/>
            <a:ext cx="76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BD5783-9BF9-46A0-9556-BDE2DD48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575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AB14AA-B4D2-489E-A6A0-A51BCFA7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527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5A6977-2385-4C58-915F-AAC24E36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527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36EF8A-729F-4B3B-845B-47EEBE57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623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Сервисы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508869-B794-4919-BB85-C76A0056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2425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слоты, напоминания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C1988-E5E3-4A20-9D11-F73E721F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09975"/>
            <a:ext cx="76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989FBE-3FE2-47B3-983C-9ACE3742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57575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3A618D-BE60-426D-BDC9-E32ABE67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52750"/>
            <a:ext cx="1752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E01EAC-9832-4619-9B85-428B7838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52750"/>
            <a:ext cx="1752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solidFill>
              <a:srgbClr val="E11D4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55BF02-9EC8-40CC-9543-2B46DDC1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623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YDB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D81015-4091-44C4-8ABD-24B02DEF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52425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7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таблицы, очередь, аудит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4ABB48-5BC1-45A1-AF21-3827F85E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5D6659-ABF3-48E7-BD8F-96A2A1DD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720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Развертывание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9E18B7-F682-47FB-B077-12294FD4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578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скрипт собирает пакет Cloud Functions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E4E849-143F-406C-9EDB-8DCAC892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196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91FBB1-F00D-4AD6-92DD-E8F3BD9C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720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Локальная разработка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110085-E32B-43E0-8A48-5C9C0C0B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2578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Docker Compose поднимает YDB и бота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AF6972-BA23-44FB-9C01-D9D7878D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8196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9525">
            <a:solidFill>
              <a:srgbClr val="31415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925F0F-663C-4DE3-BA19-0EAACDC4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720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Поддержка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9F3747-3DF3-4EAD-9F2C-1AD30486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578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health-проверка и журнал действий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0560AE-A2CC-4F47-8E3B-97BEBD92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5B8166-0A97-49CD-9D5E-FC4AF718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4111765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58659D-6A90-45F3-9DA7-9AE418C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quality-marker">
            <a:extLst xmlns:a="http://schemas.openxmlformats.org/drawingml/2006/main">
              <a:ext uri="{FF2B5EF4-FFF2-40B4-BE49-F238E27FC236}">
                <a16:creationId xmlns:a16="http://schemas.microsoft.com/office/drawing/2014/main" id="{781313A7-4D0B-49C6-96B5-48335F39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" name="kicker-quality-label">
            <a:extLst xmlns:a="http://schemas.openxmlformats.org/drawingml/2006/main">
              <a:ext uri="{FF2B5EF4-FFF2-40B4-BE49-F238E27FC236}">
                <a16:creationId xmlns:a16="http://schemas.microsoft.com/office/drawing/2014/main" id="{A65C3225-CC22-445E-836F-9FFC126C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НАДЕЖНОСТЬ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9BC3A-F0DC-4B1B-8444-4002227F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858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Тесты защищают сценарии от регрессий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11CD6-E653-47A1-8653-09539F99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Проверяются пользовательские потоки, технические обработчики, качество текстов интерфейса и работа очереди уведомлений.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7ABAD3-F204-40BC-BB59-A93381C9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F6FDB-9CC1-49CA-A4E1-B7DD6A2A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158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9E167-07C9-49A8-994F-CEE45A91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527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тестов собирается pytest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5005F6-2D2F-47D9-B557-A48B6D7F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8605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2E64E-FF76-41DA-BC54-C3C8CC3A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813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7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Тексты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1A1F7-E6C0-44C1-8F72-C18A53C8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527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качество кнопок и глоссария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3F77BE-95E4-406B-A19A-8AF92820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1AE26-F7AA-4FE8-9785-E9A6B1FB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YDB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132BF-666C-48B3-B20A-680B66A4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527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схема, транзакции, миграция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7C2F2-7B76-4131-BA2C-6B8BA538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8605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51FFD-7603-4091-98F6-E27F204E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EBEB90-139F-4FB8-8030-C04BA506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527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webhook, ссылки, timer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FA4B17-8744-41DE-8195-97D2F732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4267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DA246-2E54-4E2B-BB68-3172A90F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Безопасность данных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924B5D-BF37-4357-A99A-D48EF741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48200"/>
            <a:ext cx="3524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храним только нужное: MAX id, отображаемое имя, выбранное мероприятие, код и статус записи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0F8F7C-CE6F-47E8-AA54-7330D709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95750"/>
            <a:ext cx="4267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85873A-1156-432D-A8A7-2F4847B6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862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11827"/>
                </a:solidFill>
                <a:latin typeface="Segoe UI"/>
                <a:ea typeface="Segoe UI"/>
                <a:cs typeface="Segoe UI"/>
              </a:rPr>
              <a:t>Операционная устойчивость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9A3A8-4E16-4937-B2FD-CC615F6B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48200"/>
            <a:ext cx="3524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секреты в переменных окружения, очередь notification_outbox, audit_log для действий Организатора и пользователя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EF845F-5213-41BB-AF37-3D93EF5F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8991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C"/>
          </a:solidFill>
          <a:ln xmlns:a="http://schemas.openxmlformats.org/drawingml/2006/main" w="9525">
            <a:solidFill>
              <a:srgbClr val="B7EED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AF2F5-06AA-4AE0-AB3E-82BF9C8B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72150"/>
            <a:ext cx="857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050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Проверка текстов интерфейса снижает риск хаоса в кнопках и нарушений глоссария: остается термин мероприятие.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A7C5B1-69E8-4BC7-9F05-4D6B8275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B7011C-ED60-40D7-84F4-FC062615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1610564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0203A9-EDEB-47F1-B994-B9AA674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F7F8FA"/>
            </a:solidFill>
            <a:prstDash val="solid"/>
          </a:ln>
        </p:spPr>
      </p:sp>
      <p:sp>
        <p:nvSpPr>
          <p:cNvPr id="2" name="kicker-future-marker">
            <a:extLst xmlns:a="http://schemas.openxmlformats.org/drawingml/2006/main">
              <a:ext uri="{FF2B5EF4-FFF2-40B4-BE49-F238E27FC236}">
                <a16:creationId xmlns:a16="http://schemas.microsoft.com/office/drawing/2014/main" id="{B60E148A-3701-44B5-A451-BADD378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3" name="kicker-future-label">
            <a:extLst xmlns:a="http://schemas.openxmlformats.org/drawingml/2006/main">
              <a:ext uri="{FF2B5EF4-FFF2-40B4-BE49-F238E27FC236}">
                <a16:creationId xmlns:a16="http://schemas.microsoft.com/office/drawing/2014/main" id="{E271C1EA-5171-4AD4-BB39-59E49C4C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РАЗВИТИЕ И РЫНОК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C91ED-CA27-480E-B3BD-07D7679A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57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Деньги в продукте: видимость и аналитика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567FB-6B2F-4CF3-B13C-7A6055D1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Популярность продукта обосновывается простотой: быстрое достижение цели, привычный чат и расширяемая бизнес-логика.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3B6F3-1085-4B6A-90A7-F0008BD8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20764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63171-2757-47DC-B2A4-9E567A1C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28093-D137-4323-B0A1-9692F716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04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Приоритетные места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A65EA-382B-4FD0-A6F3-881D97A3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платное продвижение мероприятий в верх каталога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C5BA9-AB01-411D-B436-38213344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89F1B-8941-4ECA-8094-F9B24423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671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717E35-BAAF-4018-948B-A0CC2195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52750"/>
            <a:ext cx="20764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F2BAD6-4DF0-4A18-BAAA-1FD7C168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527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ED98F-45DD-44C4-9C0B-3D8A9529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004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Статистика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4D55D-6324-4452-AB82-69654856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конверсия из просмотра в запись, посещаемость, отмены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FEC53-CDA8-4952-ABA2-F1E28B70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195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76"/>
          </a:solidFill>
          <a:ln xmlns:a="http://schemas.openxmlformats.org/drawingml/2006/main" w="0">
            <a:solidFill>
              <a:srgbClr val="00A67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5ADB0-AA72-4BC8-A96F-BB5674DC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671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DC956-4209-415D-8077-398853BA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52750"/>
            <a:ext cx="20764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E1E92-C1BA-4C93-A95D-6C2FCFAA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527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5BBD4-C40A-4838-87EB-367AF033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04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59E0B"/>
                </a:solidFill>
                <a:latin typeface="Segoe UI"/>
                <a:ea typeface="Segoe UI"/>
                <a:cs typeface="Segoe UI"/>
              </a:rPr>
              <a:t>Наблюдаемость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B2AAF1-CF83-4A05-B662-B12AB0AB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004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Prometheus, Grafana, Loki и панель всех действий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AA3376-5F68-451A-9363-2359C397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195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1664A-CEC4-44EA-B15B-F67B4B49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67100"/>
            <a:ext cx="19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869EBA-BEB1-4F00-9181-346CB8F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52750"/>
            <a:ext cx="20764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8B0E07-F62F-4F39-A9A9-B88C7967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527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1F1D7B-C966-4398-9A97-031D091C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0400"/>
            <a:ext cx="1676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C3AE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Аналитика для рынка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FBFE57-AEDB-404F-8EAF-0F8D96DC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00450"/>
            <a:ext cx="167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обезличенные срезы интересов групп пользователей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0CD9F1-70AE-460D-A452-20CD121E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9410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EE9E2C-A65E-4CE8-87C5-26A7E9D9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101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Итоговая формула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F4BD8A-7B9A-4622-8F74-DB50ED01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959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10 секунд до цели + чатовая привычка + расширяемость = легко внедрять и продавать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0AE2F6-DDC6-443B-A21F-9009D8FF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469382-1871-4312-96C8-7FD956DA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290105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2026-05-24T22:43:38.7090000Z</dcterms:created>
  <dcterms:modified xsi:type="dcterms:W3CDTF">2026-05-24T22:43:38.7090000Z</dcterms:modified>
</coreProperties>
</file>