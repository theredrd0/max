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667fc3b5c084ae6" /><Relationship Type="http://schemas.openxmlformats.org/officeDocument/2006/relationships/extended-properties" Target="/docProps/app.xml" Id="R3de2b25fe7e44a24" /><Relationship Type="http://schemas.openxmlformats.org/officeDocument/2006/relationships/officeDocument" Target="/ppt/presentation.xml" Id="R7eb7c0795d674db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d4bf87996b24406"/>
  </p:sldMasterIdLst>
  <p:notesMasterIdLst>
    <p:notesMasterId xmlns:r="http://schemas.openxmlformats.org/officeDocument/2006/relationships" r:id="Rbe718149cb364535"/>
  </p:notesMasterIdLst>
  <p:sldIdLst>
    <p:sldId xmlns:r="http://schemas.openxmlformats.org/officeDocument/2006/relationships" id="256" r:id="R0f627a0b7b93452a"/>
    <p:sldId xmlns:r="http://schemas.openxmlformats.org/officeDocument/2006/relationships" id="257" r:id="R56a5d50be61f441f"/>
    <p:sldId xmlns:r="http://schemas.openxmlformats.org/officeDocument/2006/relationships" id="258" r:id="Re621af94e6e44481"/>
    <p:sldId xmlns:r="http://schemas.openxmlformats.org/officeDocument/2006/relationships" id="259" r:id="Rb17a84c5b2a74eca"/>
    <p:sldId xmlns:r="http://schemas.openxmlformats.org/officeDocument/2006/relationships" id="260" r:id="R7dfb1dac219f4182"/>
    <p:sldId xmlns:r="http://schemas.openxmlformats.org/officeDocument/2006/relationships" id="261" r:id="Rfc07dbdfe6334c1b"/>
    <p:sldId xmlns:r="http://schemas.openxmlformats.org/officeDocument/2006/relationships" id="262" r:id="Rcb1cdfb4507b4a26"/>
    <p:sldId xmlns:r="http://schemas.openxmlformats.org/officeDocument/2006/relationships" id="263" r:id="R5530e2742b5a473e"/>
    <p:sldId xmlns:r="http://schemas.openxmlformats.org/officeDocument/2006/relationships" id="264" r:id="R4b360862760b4182"/>
    <p:sldId xmlns:r="http://schemas.openxmlformats.org/officeDocument/2006/relationships" id="265" r:id="R720f358177fc4c6d"/>
    <p:sldId xmlns:r="http://schemas.openxmlformats.org/officeDocument/2006/relationships" id="266" r:id="R22f890642e024025"/>
    <p:sldId xmlns:r="http://schemas.openxmlformats.org/officeDocument/2006/relationships" id="267" r:id="R9c61c40ecf084b69"/>
    <p:sldId xmlns:r="http://schemas.openxmlformats.org/officeDocument/2006/relationships" id="268" r:id="Rd4a9093e48df4d02"/>
    <p:sldId xmlns:r="http://schemas.openxmlformats.org/officeDocument/2006/relationships" id="269" r:id="Raf8ad04f493242d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4bf87996b24406" /><Relationship Type="http://schemas.openxmlformats.org/officeDocument/2006/relationships/theme" Target="/ppt/theme/theme1.xml" Id="R9ef75a1bac3a4746" /><Relationship Type="http://schemas.openxmlformats.org/officeDocument/2006/relationships/notesMaster" Target="/ppt/notesMasters/notesMaster1.xml" Id="Rbe718149cb364535" /><Relationship Type="http://schemas.openxmlformats.org/officeDocument/2006/relationships/presProps" Target="/ppt/presProps.xml" Id="R9c575e20491f409d" /><Relationship Type="http://schemas.openxmlformats.org/officeDocument/2006/relationships/viewProps" Target="/ppt/viewProps.xml" Id="R5132b43baed140fc" /><Relationship Type="http://schemas.openxmlformats.org/officeDocument/2006/relationships/tableStyles" Target="/ppt/tableStyles.xml" Id="R408558216d8f41f5" /><Relationship Type="http://schemas.openxmlformats.org/officeDocument/2006/relationships/slide" Target="/ppt/slides/slide1.xml" Id="R0f627a0b7b93452a" /><Relationship Type="http://schemas.openxmlformats.org/officeDocument/2006/relationships/slide" Target="/ppt/slides/slide2.xml" Id="R56a5d50be61f441f" /><Relationship Type="http://schemas.openxmlformats.org/officeDocument/2006/relationships/slide" Target="/ppt/slides/slide3.xml" Id="Re621af94e6e44481" /><Relationship Type="http://schemas.openxmlformats.org/officeDocument/2006/relationships/slide" Target="/ppt/slides/slide4.xml" Id="Rb17a84c5b2a74eca" /><Relationship Type="http://schemas.openxmlformats.org/officeDocument/2006/relationships/slide" Target="/ppt/slides/slide5.xml" Id="R7dfb1dac219f4182" /><Relationship Type="http://schemas.openxmlformats.org/officeDocument/2006/relationships/slide" Target="/ppt/slides/slide6.xml" Id="Rfc07dbdfe6334c1b" /><Relationship Type="http://schemas.openxmlformats.org/officeDocument/2006/relationships/slide" Target="/ppt/slides/slide7.xml" Id="Rcb1cdfb4507b4a26" /><Relationship Type="http://schemas.openxmlformats.org/officeDocument/2006/relationships/slide" Target="/ppt/slides/slide8.xml" Id="R5530e2742b5a473e" /><Relationship Type="http://schemas.openxmlformats.org/officeDocument/2006/relationships/slide" Target="/ppt/slides/slide9.xml" Id="R4b360862760b4182" /><Relationship Type="http://schemas.openxmlformats.org/officeDocument/2006/relationships/slide" Target="/ppt/slides/slide10.xml" Id="R720f358177fc4c6d" /><Relationship Type="http://schemas.openxmlformats.org/officeDocument/2006/relationships/slide" Target="/ppt/slides/slide11.xml" Id="R22f890642e024025" /><Relationship Type="http://schemas.openxmlformats.org/officeDocument/2006/relationships/slide" Target="/ppt/slides/slide12.xml" Id="R9c61c40ecf084b69" /><Relationship Type="http://schemas.openxmlformats.org/officeDocument/2006/relationships/slide" Target="/ppt/slides/slide13.xml" Id="Rd4a9093e48df4d02" /><Relationship Type="http://schemas.openxmlformats.org/officeDocument/2006/relationships/slide" Target="/ppt/slides/slide14.xml" Id="Raf8ad04f493242d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7d9be510876f4e7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8cf9969e3154d48" /><Relationship Type="http://schemas.openxmlformats.org/officeDocument/2006/relationships/notesMaster" Target="/ppt/notesMasters/notesMaster1.xml" Id="R48caf561451d45d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3f41465212f401d" /><Relationship Type="http://schemas.openxmlformats.org/officeDocument/2006/relationships/notesMaster" Target="/ppt/notesMasters/notesMaster1.xml" Id="Rfb0dd3e0299f49f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6df684620a44fa8" /><Relationship Type="http://schemas.openxmlformats.org/officeDocument/2006/relationships/notesMaster" Target="/ppt/notesMasters/notesMaster1.xml" Id="Radf1bc2b8c6543f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94e31d4a560453c" /><Relationship Type="http://schemas.openxmlformats.org/officeDocument/2006/relationships/notesMaster" Target="/ppt/notesMasters/notesMaster1.xml" Id="R27c02c09baa2412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a24b1ef50474acf" /><Relationship Type="http://schemas.openxmlformats.org/officeDocument/2006/relationships/notesMaster" Target="/ppt/notesMasters/notesMaster1.xml" Id="R2401aa487f3c407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25f1e81516f49de" /><Relationship Type="http://schemas.openxmlformats.org/officeDocument/2006/relationships/notesMaster" Target="/ppt/notesMasters/notesMaster1.xml" Id="Rea56b7e46c5d411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4d0d8c2b0494879" /><Relationship Type="http://schemas.openxmlformats.org/officeDocument/2006/relationships/notesMaster" Target="/ppt/notesMasters/notesMaster1.xml" Id="Rf49490c74b4043e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f38dc149af14cbb" /><Relationship Type="http://schemas.openxmlformats.org/officeDocument/2006/relationships/notesMaster" Target="/ppt/notesMasters/notesMaster1.xml" Id="Rfc922b064649447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fd7077e7b614928" /><Relationship Type="http://schemas.openxmlformats.org/officeDocument/2006/relationships/notesMaster" Target="/ppt/notesMasters/notesMaster1.xml" Id="Re85b87a52ec842e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9a16040a4f94bad" /><Relationship Type="http://schemas.openxmlformats.org/officeDocument/2006/relationships/notesMaster" Target="/ppt/notesMasters/notesMaster1.xml" Id="Radb95d135ddf442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f14380752104869" /><Relationship Type="http://schemas.openxmlformats.org/officeDocument/2006/relationships/notesMaster" Target="/ppt/notesMasters/notesMaster1.xml" Id="R39689d3dc53f4cd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454e55a46e04efb" /><Relationship Type="http://schemas.openxmlformats.org/officeDocument/2006/relationships/notesMaster" Target="/ppt/notesMasters/notesMaster1.xml" Id="R77b6e535ce27403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1720a26b35646ee" /><Relationship Type="http://schemas.openxmlformats.org/officeDocument/2006/relationships/notesMaster" Target="/ppt/notesMasters/notesMaster1.xml" Id="Rb8385e8e0e264ab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0e7cd8ead994235" /><Relationship Type="http://schemas.openxmlformats.org/officeDocument/2006/relationships/notesMaster" Target="/ppt/notesMasters/notesMaster1.xml" Id="Rb6c3dd9677ba407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План рассказа:</a:t>
            </a:r>
          </a:p>
          <a:p xmlns:a="http://schemas.openxmlformats.org/drawingml/2006/main">
            <a:r>
              <a:t>- Начать с тезиса: продукт ценен скоростью и простотой, а не самим фактом бота.</a:t>
            </a:r>
          </a:p>
          <a:p xmlns:a="http://schemas.openxmlformats.org/drawingml/2006/main">
            <a:r>
              <a:t>- Объяснить, что сначала покажем путь участника и Организатора, затем технику и рынок.</a:t>
            </a:r>
          </a:p>
          <a:p xmlns:a="http://schemas.openxmlformats.org/drawingml/2006/main">
            <a:r>
              <a:t>- Отдельно отметить: живые скриншоты не вставлены, для них оставлены крупные места.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План рассказа:</a:t>
            </a:r>
          </a:p>
          <a:p xmlns:a="http://schemas.openxmlformats.org/drawingml/2006/main">
            <a:r>
              <a:t>- Показать крупный скриншот главного меню.</a:t>
            </a:r>
          </a:p>
          <a:p xmlns:a="http://schemas.openxmlformats.org/drawingml/2006/main">
            <a:r>
              <a:t>- Сказать, что интерфейс не требует обучения: путь начинается с понятных кнопок.</a:t>
            </a:r>
          </a:p>
          <a:p xmlns:a="http://schemas.openxmlformats.org/drawingml/2006/main">
            <a:r>
              <a:t>- Подчеркнуть возможность найти мероприятия самостоятельно, а не только по ссылке.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План рассказа:</a:t>
            </a:r>
          </a:p>
          <a:p xmlns:a="http://schemas.openxmlformats.org/drawingml/2006/main">
            <a:r>
              <a:t>- Показать карточку мероприятия крупно, чтобы жюри видело структуру.</a:t>
            </a:r>
          </a:p>
          <a:p xmlns:a="http://schemas.openxmlformats.org/drawingml/2006/main">
            <a:r>
              <a:t>- Сделать акцент на отдельных полях: дата, время, требования, место, слоты.</a:t>
            </a:r>
          </a:p>
          <a:p xmlns:a="http://schemas.openxmlformats.org/drawingml/2006/main">
            <a:r>
              <a:t>- Подвести к следующему слайду: кнопка Поделиться превращает карточку в ссылку для рассылки.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План рассказа:</a:t>
            </a:r>
          </a:p>
          <a:p xmlns:a="http://schemas.openxmlformats.org/drawingml/2006/main">
            <a:r>
              <a:t>- Показать экран своих записей крупно.</a:t>
            </a:r>
          </a:p>
          <a:p xmlns:a="http://schemas.openxmlformats.org/drawingml/2006/main">
            <a:r>
              <a:t>- Пояснить, что пользователь не тратит время на поиск билета или письма.</a:t>
            </a:r>
          </a:p>
          <a:p xmlns:a="http://schemas.openxmlformats.org/drawingml/2006/main">
            <a:r>
              <a:t>- Сказать, что бот доводит путь до входа: код, статус и напоминания в одном месте.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План рассказа:</a:t>
            </a:r>
          </a:p>
          <a:p xmlns:a="http://schemas.openxmlformats.org/drawingml/2006/main">
            <a:r>
              <a:t>- Рассказать про отправку ссылки на мероприятие в массовые чаты.</a:t>
            </a:r>
          </a:p>
          <a:p xmlns:a="http://schemas.openxmlformats.org/drawingml/2006/main">
            <a:r>
              <a:t>- Подчеркнуть, что ссылка ведет сразу в карточку, а не в общее меню.</a:t>
            </a:r>
          </a:p>
          <a:p xmlns:a="http://schemas.openxmlformats.org/drawingml/2006/main">
            <a:r>
              <a:t>- Сформулировать выгоду: меньше шагов, выше шанс, что человек реально запишется.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План рассказа:</a:t>
            </a:r>
          </a:p>
          <a:p xmlns:a="http://schemas.openxmlformats.org/drawingml/2006/main">
            <a:r>
              <a:t>- Показать, что продукт закрывает не только запись, но и возврат участника к мероприятию.</a:t>
            </a:r>
          </a:p>
          <a:p xmlns:a="http://schemas.openxmlformats.org/drawingml/2006/main">
            <a:r>
              <a:t>- Объяснить цепочку автоматических напоминаний и ручные уведомления Организатора.</a:t>
            </a:r>
          </a:p>
          <a:p xmlns:a="http://schemas.openxmlformats.org/drawingml/2006/main">
            <a:r>
              <a:t>- Связать notification_outbox с надежной доставкой сообщений.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План рассказа:</a:t>
            </a:r>
          </a:p>
          <a:p xmlns:a="http://schemas.openxmlformats.org/drawingml/2006/main">
            <a:r>
              <a:t>- Перейти к контуру Организатора.</a:t>
            </a:r>
          </a:p>
          <a:p xmlns:a="http://schemas.openxmlformats.org/drawingml/2006/main">
            <a:r>
              <a:t>- Показать, что мероприятие собирается из понятных структурных блоков.</a:t>
            </a:r>
          </a:p>
          <a:p xmlns:a="http://schemas.openxmlformats.org/drawingml/2006/main">
            <a:r>
              <a:t>- Связать это с масштабируемостью: такие поля проще использовать для фильтров, аналитики и бизнес-правил.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План рассказа:</a:t>
            </a:r>
          </a:p>
          <a:p xmlns:a="http://schemas.openxmlformats.org/drawingml/2006/main">
            <a:r>
              <a:t>- Показать исправленный основной поток: код -&gt; подтверждение -&gt; статус.</a:t>
            </a:r>
          </a:p>
          <a:p xmlns:a="http://schemas.openxmlformats.org/drawingml/2006/main">
            <a:r>
              <a:t>- Отдельно сказать, что поиск по имени или профилю не часть стрелочной цепочки, а запасной путь.</a:t>
            </a:r>
          </a:p>
          <a:p xmlns:a="http://schemas.openxmlformats.org/drawingml/2006/main">
            <a:r>
              <a:t>- Подчеркнуть ценность на входе: меньше ручных списков и меньше ошибок.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План рассказа:</a:t>
            </a:r>
          </a:p>
          <a:p xmlns:a="http://schemas.openxmlformats.org/drawingml/2006/main">
            <a:r>
              <a:t>- Пояснить, что этот слайд связывает продукт с финальными критериями оценки.</a:t>
            </a:r>
          </a:p>
          <a:p xmlns:a="http://schemas.openxmlformats.org/drawingml/2006/main">
            <a:r>
              <a:t>- Командную работу не обсуждать: вместо нее показать надежность и тесты как часть продукта.</a:t>
            </a:r>
          </a:p>
          <a:p xmlns:a="http://schemas.openxmlformats.org/drawingml/2006/main">
            <a:r>
              <a:t>- Сделать мост к темной технической части: теперь понятно, зачем нужна архитектура и стек.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План рассказа:</a:t>
            </a:r>
          </a:p>
          <a:p xmlns:a="http://schemas.openxmlformats.org/drawingml/2006/main">
            <a:r>
              <a:t>- Объяснить визуальное разделение: с этого слайда начинается техническая часть.</a:t>
            </a:r>
          </a:p>
          <a:p xmlns:a="http://schemas.openxmlformats.org/drawingml/2006/main">
            <a:r>
              <a:t>- Расшифровать значки RU и OSS: российская технология или открытый исходный код.</a:t>
            </a:r>
          </a:p>
          <a:p xmlns:a="http://schemas.openxmlformats.org/drawingml/2006/main">
            <a:r>
              <a:t>- Подчеркнуть, что почти весь стек безопасен для импортозамещения: российский продакшен-контур плюс открытые инструменты разработки.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План рассказа:</a:t>
            </a:r>
          </a:p>
          <a:p xmlns:a="http://schemas.openxmlformats.org/drawingml/2006/main">
            <a:r>
              <a:t>- Пройти архитектуру слева направо: MAX, функция, обработчик, сервисы, YDB.</a:t>
            </a:r>
          </a:p>
          <a:p xmlns:a="http://schemas.openxmlformats.org/drawingml/2006/main">
            <a:r>
              <a:t>- Сказать, что простота здесь плюс: меньше инфраструктуры, проще поддерживать и деплоить.</a:t>
            </a:r>
          </a:p>
          <a:p xmlns:a="http://schemas.openxmlformats.org/drawingml/2006/main">
            <a:r>
              <a:t>- Упомянуть очередь уведомлений и журнал действий как точки надежности.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План рассказа:</a:t>
            </a:r>
          </a:p>
          <a:p xmlns:a="http://schemas.openxmlformats.org/drawingml/2006/main">
            <a:r>
              <a:t>- Сказать честно: тесты не проверяют MAX как внешнюю платформу целиком.</a:t>
            </a:r>
          </a:p>
          <a:p xmlns:a="http://schemas.openxmlformats.org/drawingml/2006/main">
            <a:r>
              <a:t>- Показать, что покрыто: сценарии записи, Организатор, YDB, очередь уведомлений, обработчики.</a:t>
            </a:r>
          </a:p>
          <a:p xmlns:a="http://schemas.openxmlformats.org/drawingml/2006/main">
            <a:r>
              <a:t>- Особенно выделить качество текстов интерфейса: это тестируется отдельно, поэтому кнопки и глоссарий не расползаются.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План рассказа:</a:t>
            </a:r>
          </a:p>
          <a:p xmlns:a="http://schemas.openxmlformats.org/drawingml/2006/main">
            <a:r>
              <a:t>- Пояснить, что это не последовательность стрелок, а независимые направления монетизации.</a:t>
            </a:r>
          </a:p>
          <a:p xmlns:a="http://schemas.openxmlformats.org/drawingml/2006/main">
            <a:r>
              <a:t>- Назвать платные места в каталоге, статистику, панели наблюдаемости и аналитические отчеты.</a:t>
            </a:r>
          </a:p>
          <a:p xmlns:a="http://schemas.openxmlformats.org/drawingml/2006/main">
            <a:r>
              <a:t>- Обосновать популярность: быстрый пользовательский путь плюс простое расширение бизнес-логики.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План рассказа:</a:t>
            </a:r>
          </a:p>
          <a:p xmlns:a="http://schemas.openxmlformats.org/drawingml/2006/main">
            <a:r>
              <a:t>- Закончить коротко: спасибо, готовы к вопросам.</a:t>
            </a:r>
          </a:p>
          <a:p xmlns:a="http://schemas.openxmlformats.org/drawingml/2006/main">
            <a:r>
              <a:t>- Если есть время, повторить три опоры: скорость для пользователя, контроль для Организатора, поддерживаемая техреализация.</a:t>
            </a:r>
          </a:p>
          <a:p xmlns:a="http://schemas.openxmlformats.org/drawingml/2006/main">
            <a:r>
              <a:t>- Перейти к демонстрации или вопросам эксперта.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a09f476e554d9f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41cf7ea6d3a442cc" /><Relationship Type="http://schemas.openxmlformats.org/officeDocument/2006/relationships/slideLayout" Target="/ppt/slideLayouts/slideLayout2.xml" Id="Rd8c607a940694f1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8c607a940694f1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b5dd2ed6abd435f" /><Relationship Type="http://schemas.openxmlformats.org/officeDocument/2006/relationships/image" Target="/ppt/media/image.png" Id="Rd4e103b94f644d6e" /><Relationship Type="http://schemas.openxmlformats.org/officeDocument/2006/relationships/notesSlide" Target="/ppt/notesSlides/notesSlide1.xml" Id="R8f756e883b53411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f70bcd63a71488a" /><Relationship Type="http://schemas.openxmlformats.org/officeDocument/2006/relationships/notesSlide" Target="/ppt/notesSlides/notesSlide2.xml" Id="Rde694cceee5d43e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9679e62bd384342" /><Relationship Type="http://schemas.openxmlformats.org/officeDocument/2006/relationships/notesSlide" Target="/ppt/notesSlides/notesSlide3.xml" Id="R8579c8fc5d12489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c4fafc5449c4d34" /><Relationship Type="http://schemas.openxmlformats.org/officeDocument/2006/relationships/notesSlide" Target="/ppt/notesSlides/notesSlide4.xml" Id="R09f121ce3848490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fd027937ec64d84" /><Relationship Type="http://schemas.openxmlformats.org/officeDocument/2006/relationships/notesSlide" Target="/ppt/notesSlides/notesSlide5.xml" Id="R66ea876c566b44d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1af1b9c7def47aa" /><Relationship Type="http://schemas.openxmlformats.org/officeDocument/2006/relationships/image" Target="/ppt/media/image2.png" Id="R7ea5d5b945884144" /><Relationship Type="http://schemas.openxmlformats.org/officeDocument/2006/relationships/notesSlide" Target="/ppt/notesSlides/notesSlide6.xml" Id="Rd556835b6aa6483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2b2875ea6314732" /><Relationship Type="http://schemas.openxmlformats.org/officeDocument/2006/relationships/image" Target="/ppt/media/image3.png" Id="Rfeaeded29eae4a67" /><Relationship Type="http://schemas.openxmlformats.org/officeDocument/2006/relationships/notesSlide" Target="/ppt/notesSlides/notesSlide7.xml" Id="R731ce74c63f44be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fc8a9cff4534d77" /><Relationship Type="http://schemas.openxmlformats.org/officeDocument/2006/relationships/image" Target="/ppt/media/image4.png" Id="Re5261776bf824715" /><Relationship Type="http://schemas.openxmlformats.org/officeDocument/2006/relationships/notesSlide" Target="/ppt/notesSlides/notesSlide8.xml" Id="R70dcba530fa440c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d46f483fbe94429" /><Relationship Type="http://schemas.openxmlformats.org/officeDocument/2006/relationships/notesSlide" Target="/ppt/notesSlides/notesSlide9.xml" Id="Refe7649235214aa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a06ad2f63ec402f" /><Relationship Type="http://schemas.openxmlformats.org/officeDocument/2006/relationships/notesSlide" Target="/ppt/notesSlides/notesSlide10.xml" Id="R622a9f6d123949a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769cff87d2e4fb1" /><Relationship Type="http://schemas.openxmlformats.org/officeDocument/2006/relationships/notesSlide" Target="/ppt/notesSlides/notesSlide11.xml" Id="Rc1d771bec5a743e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5f34e205f934235" /><Relationship Type="http://schemas.openxmlformats.org/officeDocument/2006/relationships/notesSlide" Target="/ppt/notesSlides/notesSlide12.xml" Id="R06a99b509081446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1ed7499c8d54e72" /><Relationship Type="http://schemas.openxmlformats.org/officeDocument/2006/relationships/notesSlide" Target="/ppt/notesSlides/notesSlide13.xml" Id="R09a17200a28243b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b97dd053d0c42d0" /><Relationship Type="http://schemas.openxmlformats.org/officeDocument/2006/relationships/notesSlide" Target="/ppt/notesSlides/notesSlide14.xml" Id="R574ef97b78cb41c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731C9AF-2713-4A62-B689-503B2463D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F7F8FA"/>
            </a:solidFill>
            <a:prstDash val="solid"/>
          </a:ln>
        </p:spPr>
      </p:sp>
      <p:sp>
        <p:nvSpPr>
          <p:cNvPr id="2" name="kicker-cover-marker">
            <a:extLst xmlns:a="http://schemas.openxmlformats.org/drawingml/2006/main">
              <a:ext uri="{FF2B5EF4-FFF2-40B4-BE49-F238E27FC236}">
                <a16:creationId xmlns:a16="http://schemas.microsoft.com/office/drawing/2014/main" id="{3C5BDCC9-5CAB-4B52-A419-D51E89784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76"/>
          </a:solidFill>
          <a:ln xmlns:a="http://schemas.openxmlformats.org/drawingml/2006/main" w="0">
            <a:solidFill>
              <a:srgbClr val="00A676"/>
            </a:solidFill>
            <a:prstDash val="solid"/>
          </a:ln>
        </p:spPr>
      </p:sp>
      <p:sp>
        <p:nvSpPr>
          <p:cNvPr id="3" name="kicker-cover-label">
            <a:extLst xmlns:a="http://schemas.openxmlformats.org/drawingml/2006/main">
              <a:ext uri="{FF2B5EF4-FFF2-40B4-BE49-F238E27FC236}">
                <a16:creationId xmlns:a16="http://schemas.microsoft.com/office/drawing/2014/main" id="{5E8A31C6-D660-41B6-94BC-B12A013C5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3815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rPr>
              <a:t>ПОЛЬЗОВАТЕЛЬСКИЙ ОПЫТ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8CE4E7-C156-4295-893D-312AC4566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61912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42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Запись на мероприятие в MAX за 10 секунд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B56149-10A4-4138-BA36-8C683B29B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05050"/>
            <a:ext cx="5905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Чат-бот ведет участника от ссылки в рассылке до кода записи без отдельного миниаппа и лишних экранов.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7693C9-1492-412D-94AB-552CB71B1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876300"/>
            <a:ext cx="37147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e103b94f644d6e"/>
          <a:stretch xmlns:a="http://schemas.openxmlformats.org/drawingml/2006/main"/>
        </p:blipFill>
        <p:spPr>
          <a:xfrm xmlns:a="http://schemas.openxmlformats.org/drawingml/2006/main">
            <a:off x="7505700" y="2176463"/>
            <a:ext cx="3562350" cy="17811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29EBDA-5C6C-46CE-91BF-796B45C4D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90950"/>
            <a:ext cx="16764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AF906C-FC77-4C9B-AF0D-3385AFBB8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90950"/>
            <a:ext cx="76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76"/>
          </a:solidFill>
          <a:ln xmlns:a="http://schemas.openxmlformats.org/drawingml/2006/main" w="0">
            <a:solidFill>
              <a:srgbClr val="00A67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35D642-A26B-4F47-B9D5-4D928B103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962400"/>
            <a:ext cx="1257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rPr>
              <a:t>10 сек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12AB7B-752D-42D6-B715-DBAE765E0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05300"/>
            <a:ext cx="1257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цель: ссылка -&gt; карточка -&gt; код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47E0F8-9122-40F8-AB01-A6AD8058E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790950"/>
            <a:ext cx="16764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658B55-12A6-42CE-8C7B-8F22A38A6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790950"/>
            <a:ext cx="76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182157-06ED-495E-B527-29432CEE1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962400"/>
            <a:ext cx="1257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rPr>
              <a:t>1 чат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277106-D546-42CF-89F7-D97D4BB1E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305300"/>
            <a:ext cx="1257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вся запись остается в истории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B3FD26-BADA-467E-83B9-58B155381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790950"/>
            <a:ext cx="16764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9190FF-327C-4A1A-B929-C85CB983B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790950"/>
            <a:ext cx="76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D712A3-7A09-4B9F-B09A-6349D9CD5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962400"/>
            <a:ext cx="1257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rPr>
              <a:t>158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7367C7-AB9D-4A36-A65E-DC5A8739D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305300"/>
            <a:ext cx="1257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автотестов в проекте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A140F2-6319-497D-BCAB-FC8CEAD93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76850"/>
            <a:ext cx="590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7"/>
                </a:solidFill>
                <a:latin typeface="Segoe UI"/>
                <a:ea typeface="Segoe UI"/>
                <a:cs typeface="Segoe UI"/>
              </a:defRPr>
            </a:pPr>
            <a:r>
              <a:rPr sz="1500" b="0">
                <a:solidFill>
                  <a:srgbClr val="1F2937"/>
                </a:solidFill>
                <a:latin typeface="Segoe UI"/>
                <a:ea typeface="Segoe UI"/>
                <a:cs typeface="Segoe UI"/>
              </a:rPr>
              <a:t>Дальше рассказ идет от пользовательского пути к технической реализации.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860A65-27E1-4903-999B-7F4E3308C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MAX-бот записи на мероприятия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6FD7DD-A84E-40E7-B040-9785A69B6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5054400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8649E91-5E0D-4971-BEAE-39C47165A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F7F8FA"/>
            </a:solidFill>
            <a:prstDash val="solid"/>
          </a:ln>
        </p:spPr>
      </p:sp>
      <p:sp>
        <p:nvSpPr>
          <p:cNvPr id="2" name="kicker-mainmenu-marker">
            <a:extLst xmlns:a="http://schemas.openxmlformats.org/drawingml/2006/main">
              <a:ext uri="{FF2B5EF4-FFF2-40B4-BE49-F238E27FC236}">
                <a16:creationId xmlns:a16="http://schemas.microsoft.com/office/drawing/2014/main" id="{FFA7541C-7683-4C80-8B77-6DED0382A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3" name="kicker-mainmenu-label">
            <a:extLst xmlns:a="http://schemas.openxmlformats.org/drawingml/2006/main">
              <a:ext uri="{FF2B5EF4-FFF2-40B4-BE49-F238E27FC236}">
                <a16:creationId xmlns:a16="http://schemas.microsoft.com/office/drawing/2014/main" id="{3D553405-EB04-4173-AB7C-96698D9B5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3815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rPr>
              <a:t>ПОЛЬЗОВАТЕЛЬСКИЙ ОПЫТ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FE0F5E-6F83-4FFB-BF8A-46841B67A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7429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33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Главное меню показывает маршрут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1B6BC5-57A1-436A-AD1D-F90927CC9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43050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Пользователь видит два естественных действия: найти мероприятие или открыть свои записи.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942A84-DED1-4F38-B451-AB42FE6E2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5334000" cy="3448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AEBB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E7107F-771F-4A06-9D6B-731AC374F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33650"/>
            <a:ext cx="4991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11182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6B2974-D549-4589-A240-8BB2A7E79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619375"/>
            <a:ext cx="4648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Главное меню участника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081422-04F1-4A93-86EE-5BFE3D304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05150"/>
            <a:ext cx="480060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A"/>
          </a:solidFill>
          <a:ln xmlns:a="http://schemas.openxmlformats.org/drawingml/2006/main" w="9525">
            <a:solidFill>
              <a:srgbClr val="AAB7CA"/>
            </a:solidFill>
            <a:prstDash val="dash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F9A298-4DF9-40F3-BE2C-0F7F2A737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76675"/>
            <a:ext cx="4419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175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rPr>
              <a:t>место под скриншот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51328D-B8F0-4273-9E7C-5C8F6294B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295775"/>
            <a:ext cx="3962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сюда вставить скриншот главного меню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C493BD-776C-42E0-9240-8553B7E47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57450"/>
            <a:ext cx="3714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E6552E-2159-4AD0-A626-CE18E0892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57450"/>
            <a:ext cx="76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A33FF7-C4C3-4070-AE2D-5CC88F0FE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628900"/>
            <a:ext cx="3295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rPr>
              <a:t>Меньше решений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54F24-47B0-4F5A-B204-68FA0957A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971800"/>
            <a:ext cx="32956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не нужно разбираться в навигации: бот сам предлагает следующие шаги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C7D193-9784-40D1-9F39-71FC0511D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52850"/>
            <a:ext cx="3714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CF9001-9EDB-4762-B26E-FF52183D8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52850"/>
            <a:ext cx="76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76"/>
          </a:solidFill>
          <a:ln xmlns:a="http://schemas.openxmlformats.org/drawingml/2006/main" w="0">
            <a:solidFill>
              <a:srgbClr val="00A67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B7C8E7-0BFE-4CF3-B934-921175387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924300"/>
            <a:ext cx="3295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rPr>
              <a:t>Самостоятельный поиск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FDA844-DA21-443D-9DB9-EF9924EA8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67200"/>
            <a:ext cx="32956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если ссылки нет, пользователь может найти мероприятия из каталога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3F4E19-8017-4B9D-A210-44AE3FF39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048250"/>
            <a:ext cx="37147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0E73B9-36E9-495C-9298-E7E342410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048250"/>
            <a:ext cx="762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B00959-1C52-4DF6-8454-B22EE6AF2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5219700"/>
            <a:ext cx="3295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rPr>
              <a:t>История диалога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52D4D5-B7FC-4930-BD84-F8DEC815C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5562600"/>
            <a:ext cx="32956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все действия остаются там, где человек уже общается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A4A0EC-E95E-421A-8810-27729959B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MAX-бот записи на мероприятия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906BAE-8126-4952-91E6-7FD3ADC78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1589454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6F8F6E5-DA43-4AF3-AD56-A645A0C0C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F7F8FA"/>
            </a:solidFill>
            <a:prstDash val="solid"/>
          </a:ln>
        </p:spPr>
      </p:sp>
      <p:sp>
        <p:nvSpPr>
          <p:cNvPr id="2" name="kicker-eventcard-marker">
            <a:extLst xmlns:a="http://schemas.openxmlformats.org/drawingml/2006/main">
              <a:ext uri="{FF2B5EF4-FFF2-40B4-BE49-F238E27FC236}">
                <a16:creationId xmlns:a16="http://schemas.microsoft.com/office/drawing/2014/main" id="{26640D41-77F2-4904-B8F8-9A8187FB7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76"/>
          </a:solidFill>
          <a:ln xmlns:a="http://schemas.openxmlformats.org/drawingml/2006/main" w="0">
            <a:solidFill>
              <a:srgbClr val="00A676"/>
            </a:solidFill>
            <a:prstDash val="solid"/>
          </a:ln>
        </p:spPr>
      </p:sp>
      <p:sp>
        <p:nvSpPr>
          <p:cNvPr id="3" name="kicker-eventcard-label">
            <a:extLst xmlns:a="http://schemas.openxmlformats.org/drawingml/2006/main">
              <a:ext uri="{FF2B5EF4-FFF2-40B4-BE49-F238E27FC236}">
                <a16:creationId xmlns:a16="http://schemas.microsoft.com/office/drawing/2014/main" id="{8D088BD5-912E-44C4-8066-1DFFE8647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3815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rPr>
              <a:t>ПОЛЬЗОВАТЕЛЬСКИЙ ОПЫТ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318429-71B3-4188-BD0B-3D0CE8CD5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8191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33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Карточка показывает структуру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7BAABD-4B01-4F46-A8EF-2B3C009BE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43050"/>
            <a:ext cx="8001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Дата, время, требования, место и слоты разделены. Пользователь быстро понимает, подходит ли ему мероприятие.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25DD90-F924-4165-8A5F-CCB9AA64D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00300"/>
            <a:ext cx="53340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AEBB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FC1E0A-D87F-4AB4-9497-B1224CD7B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4991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11182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CB4048-A353-4426-9666-E3A8C0C63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657475"/>
            <a:ext cx="4648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Карточка мероприятия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6EDC87-CB40-43A1-84CD-0D0C6908D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43250"/>
            <a:ext cx="48006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A"/>
          </a:solidFill>
          <a:ln xmlns:a="http://schemas.openxmlformats.org/drawingml/2006/main" w="9525">
            <a:solidFill>
              <a:srgbClr val="AAB7CA"/>
            </a:solidFill>
            <a:prstDash val="dash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BEAEAF-450A-4B20-AF99-6669189C4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05250"/>
            <a:ext cx="4419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175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rPr>
              <a:t>место под скриншот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96686D-342D-4A3A-8EBE-A34FF4878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324350"/>
            <a:ext cx="3962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сюда вставить скриншот карточки с кнопками записи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BEFF11-E414-49AD-877D-C2CC32D5E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00300"/>
            <a:ext cx="37147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17810F-4EAE-4D80-AABB-933A8E79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00300"/>
            <a:ext cx="762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76"/>
          </a:solidFill>
          <a:ln xmlns:a="http://schemas.openxmlformats.org/drawingml/2006/main" w="0">
            <a:solidFill>
              <a:srgbClr val="00A67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796935-EA68-446A-94A3-99CC420C5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571750"/>
            <a:ext cx="3295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rPr>
              <a:t>Структура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5EB63F-75F4-42DD-ADA2-2FF02B4A1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914650"/>
            <a:ext cx="3295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время, дата, требования и место читаются отдельно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F9F013-2954-4EDC-BA32-C662BF368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48050"/>
            <a:ext cx="37147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72E46B-517C-45CE-BD13-74C45AEB4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48050"/>
            <a:ext cx="762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1FE0AA-93D7-45EC-8853-C1A694311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619500"/>
            <a:ext cx="3295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rPr>
              <a:t>Слоты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A301B2-FDC8-446D-A32D-CCBFEFD13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962400"/>
            <a:ext cx="3295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если есть выбор времени, он не спрятан в описании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931064-70C4-4CDB-85ED-A7C6F5C5A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495800"/>
            <a:ext cx="37147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9A9A88-571F-4FC5-BB95-72A3423E9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495800"/>
            <a:ext cx="762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821F4A-CDB2-41E7-8A84-9994C4D71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667250"/>
            <a:ext cx="3295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rPr>
              <a:t>Поделиться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CA82E1-420D-4C51-B316-8058CCFB9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5010150"/>
            <a:ext cx="3295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Организатор копирует ссылку и отправляет ее в чат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FEAA4DD-F1EE-48C7-B088-B6F3BBBB9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MAX-бот записи на мероприятия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C72539A-AA57-49FF-B921-178BB4489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72475941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1D395D9-DFCC-46F6-828D-DFA2BE640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F7F8FA"/>
            </a:solidFill>
            <a:prstDash val="solid"/>
          </a:ln>
        </p:spPr>
      </p:sp>
      <p:sp>
        <p:nvSpPr>
          <p:cNvPr id="2" name="kicker-records-marker">
            <a:extLst xmlns:a="http://schemas.openxmlformats.org/drawingml/2006/main">
              <a:ext uri="{FF2B5EF4-FFF2-40B4-BE49-F238E27FC236}">
                <a16:creationId xmlns:a16="http://schemas.microsoft.com/office/drawing/2014/main" id="{C31835E4-6E30-47B3-AC13-DABE3E60B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3" name="kicker-records-label">
            <a:extLst xmlns:a="http://schemas.openxmlformats.org/drawingml/2006/main">
              <a:ext uri="{FF2B5EF4-FFF2-40B4-BE49-F238E27FC236}">
                <a16:creationId xmlns:a16="http://schemas.microsoft.com/office/drawing/2014/main" id="{8A9C5ED8-790E-4E4A-A947-10726D2F1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3815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rPr>
              <a:t>ПОЛЬЗОВАТЕЛЬСКИЙ ОПЫТ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9B2DEE-A84E-4F28-A294-CBCD7D35F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7239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33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Код записи остается под рукой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026C66-B60A-45B4-B46E-D1C65E073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43050"/>
            <a:ext cx="7715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Экран своих записей закрывает вопросы после регистрации: куда идти, какой код показать и что с напоминаниями.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1E24CE-C834-4DE9-9E05-F12BA5693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5334000" cy="3448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AEBB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97A808-A9F7-4B20-AB63-199BDC5D3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33650"/>
            <a:ext cx="4991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11182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21F804-CEA1-4317-9D96-A303D04C2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619375"/>
            <a:ext cx="4648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Мои записи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FEEA16-5BA0-4670-BB65-C63B89EE6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05150"/>
            <a:ext cx="480060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A"/>
          </a:solidFill>
          <a:ln xmlns:a="http://schemas.openxmlformats.org/drawingml/2006/main" w="9525">
            <a:solidFill>
              <a:srgbClr val="AAB7CA"/>
            </a:solidFill>
            <a:prstDash val="dash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4C5330-6E47-4E5C-9339-E6EAB2D38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76675"/>
            <a:ext cx="4419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175" b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rPr>
              <a:t>место под скриншот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8C539F-688C-4C11-ABF9-B338FDB00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295775"/>
            <a:ext cx="3962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сюда вставить скриншот экрана с кодом и статусом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3BBD0B-9B17-4868-BB6C-2EEFA8FE5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57450"/>
            <a:ext cx="3714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3D9278-45A2-4D13-804B-3B79EC84A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57450"/>
            <a:ext cx="76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922FBB-CC65-4BFA-B866-ABC3DC711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628900"/>
            <a:ext cx="3295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rPr>
              <a:t>Код для входа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1381CD-1E52-4954-98F9-87C03EA01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971800"/>
            <a:ext cx="32956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не нужен отдельный билет: код хранится прямо в диалоге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6E7E19-1BB5-407D-833D-DD5666ED4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52850"/>
            <a:ext cx="3714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0C7584-8E74-42D6-85A9-1D3E96618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52850"/>
            <a:ext cx="76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76"/>
          </a:solidFill>
          <a:ln xmlns:a="http://schemas.openxmlformats.org/drawingml/2006/main" w="0">
            <a:solidFill>
              <a:srgbClr val="00A67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EFBF0E-8655-4477-ACE2-F9BBD3CB2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924300"/>
            <a:ext cx="3295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rPr>
              <a:t>Статус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C5CF47-2798-4F36-A966-87B88F002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67200"/>
            <a:ext cx="32956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видно, что запись активна, отменена или уже посещена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EED25A7-6E47-4840-8ADF-0FCF2027E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048250"/>
            <a:ext cx="37147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4D9842-3D68-44E5-95BA-165EAFE55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048250"/>
            <a:ext cx="762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A14BEE-304F-442A-8BFA-96C54AA76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5219700"/>
            <a:ext cx="3295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rPr>
              <a:t>Напоминания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5E49DB-5C7B-4FED-A287-E4A941F0F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5562600"/>
            <a:ext cx="32956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пользователь понимает, что бот вернет его к мероприятию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A907232-A659-4D53-86E6-AC476955E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MAX-бот записи на мероприятия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0424AF-0A76-401D-891F-5DCE3E20E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0795423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5A20A09-5076-4856-9109-406C4071C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F7F8FA"/>
            </a:solidFill>
            <a:prstDash val="solid"/>
          </a:ln>
        </p:spPr>
      </p:sp>
      <p:sp>
        <p:nvSpPr>
          <p:cNvPr id="2" name="kicker-deeplink-marker">
            <a:extLst xmlns:a="http://schemas.openxmlformats.org/drawingml/2006/main">
              <a:ext uri="{FF2B5EF4-FFF2-40B4-BE49-F238E27FC236}">
                <a16:creationId xmlns:a16="http://schemas.microsoft.com/office/drawing/2014/main" id="{C558C78D-63A5-4A94-A882-490B97892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76"/>
          </a:solidFill>
          <a:ln xmlns:a="http://schemas.openxmlformats.org/drawingml/2006/main" w="0">
            <a:solidFill>
              <a:srgbClr val="00A676"/>
            </a:solidFill>
            <a:prstDash val="solid"/>
          </a:ln>
        </p:spPr>
      </p:sp>
      <p:sp>
        <p:nvSpPr>
          <p:cNvPr id="3" name="kicker-deeplink-label">
            <a:extLst xmlns:a="http://schemas.openxmlformats.org/drawingml/2006/main">
              <a:ext uri="{FF2B5EF4-FFF2-40B4-BE49-F238E27FC236}">
                <a16:creationId xmlns:a16="http://schemas.microsoft.com/office/drawing/2014/main" id="{1033452E-0E29-438B-9EBF-B3047CEAF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3815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rPr>
              <a:t>ПОЛЬЗОВАТЕЛЬСКИЙ ОПЫТ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C49719-B7F7-4046-894D-7FD6D730A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7810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33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Ссылка из чата сразу открывает запись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21918C-B21C-4AFA-AAC0-8F4F96862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43050"/>
            <a:ext cx="819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Это ключевая фича для массовых рассылок: участник не ищет мероприятие вручную, а попадает прямо в нужную карточку.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F15D49-F4E8-4CD6-97AF-B61712110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62250"/>
            <a:ext cx="20764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DF8FE8-F474-4468-98B8-70EDED6A5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337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B637AF-7290-43B1-91BC-49896BDD8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81325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55BBB5-2752-489F-9BDC-17EAB6F6A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9241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575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Рассылка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F15026-AD3B-4207-8AD6-5F4E8B645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29000"/>
            <a:ext cx="16573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ссылка отправлена в общий чат или личное сообщение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439D0F-B666-4341-AA11-5A475AF2D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457575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99BF30-F060-48B2-AE57-D58E56A7A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305175"/>
            <a:ext cx="190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100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rPr>
              <a:t>&gt;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8A7C13-505C-472C-A115-FF5D0008E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762250"/>
            <a:ext cx="20764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00CF17-06F5-4103-B7C5-73E7BAB20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9337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76"/>
          </a:solidFill>
          <a:ln xmlns:a="http://schemas.openxmlformats.org/drawingml/2006/main" w="0">
            <a:solidFill>
              <a:srgbClr val="00A67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EBEFB7-38C1-4C98-8D32-825AEB5B2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981325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469436-2F83-4EFB-AAC1-960C53119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9241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575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Карточка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522631-957F-4868-A69B-43230F2F1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429000"/>
            <a:ext cx="16573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сразу открывается нужное мероприятие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9E48A9-47EF-4704-A2D3-F838F8135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457575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76"/>
          </a:solidFill>
          <a:ln xmlns:a="http://schemas.openxmlformats.org/drawingml/2006/main" w="0">
            <a:solidFill>
              <a:srgbClr val="00A67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ADC48F-EE9B-43E8-9CC3-3D086B227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305175"/>
            <a:ext cx="190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100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326F46-A926-444F-B906-9C21C0323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762250"/>
            <a:ext cx="20764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92A4A4-D068-4AD7-AEF4-ECFF4F1C0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9337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0FD6B1-5B30-4352-A32B-432E8DDC9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981325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7AAB4F-CF10-4E46-B639-78D4BA191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9241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575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Запись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690796-2B2C-4A05-8CBC-68D80C7D2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29000"/>
            <a:ext cx="16573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участник выбирает слот и подтверждает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EFF5A0D-78CE-47C9-A38B-285C20041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457575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8C9AE3-EB99-4FC1-8795-B53840A4E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305175"/>
            <a:ext cx="190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10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rPr>
              <a:t>&gt;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08CEED2-973E-45BD-8CD8-87B314857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762250"/>
            <a:ext cx="18859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9095AA0-58C5-420D-89E8-F628DA12A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9337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FC1EA69-3042-46E5-A4BC-BF1DD4BC2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981325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667C67F-4129-42A5-A27D-48D11F409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9241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575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Код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7D28A6A-9D7C-400A-A2BB-9399F575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429000"/>
            <a:ext cx="1466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бот выдает код записи для входа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1690CE1-8AC2-47E7-989B-CA4CA23D1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57750"/>
            <a:ext cx="3048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C97F0AF-73FA-4541-8F88-20BFB95EB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57750"/>
            <a:ext cx="76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76"/>
          </a:solidFill>
          <a:ln xmlns:a="http://schemas.openxmlformats.org/drawingml/2006/main" w="0">
            <a:solidFill>
              <a:srgbClr val="00A676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A51FA3C-48F3-4B57-92AB-BC4545385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29200"/>
            <a:ext cx="2628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rPr>
              <a:t>До 10 секунд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AF0448B-8963-4C63-A050-D7B9464D7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37210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цель: от ссылки до кода записи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570C297-7490-489A-ABD8-2216FE820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857750"/>
            <a:ext cx="3048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EA39FFA-A740-4EAF-ACE7-AFBC6A770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857750"/>
            <a:ext cx="76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85DF767-7C13-48CE-927F-D2A5277EF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029200"/>
            <a:ext cx="2628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rPr>
              <a:t>Выше конверсия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2C120E6-A5D1-47AF-92B5-90114FC8D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37210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меньше шагов между интересом и записью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8168B14-C182-45BB-A77F-9837CD1BC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857750"/>
            <a:ext cx="3048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3A32B8A-4D95-48FA-B982-8DBF026A1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857750"/>
            <a:ext cx="76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4605BB4-981B-4AF5-BB45-78C29AF4F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029200"/>
            <a:ext cx="2628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rPr>
              <a:t>Без миниаппа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B833008-D460-4A96-9068-F8178F0AB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37210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для короткого сценария чат быстрее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7476F63-7147-4037-9578-128F612EF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MAX-бот записи на мероприятия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6E72895-3A16-41C0-8583-12A2E0DB7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8620741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3BD2A9A-EFDE-485A-8CCB-3BB6E07C9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F7F8FA"/>
            </a:solidFill>
            <a:prstDash val="solid"/>
          </a:ln>
        </p:spPr>
      </p:sp>
      <p:sp>
        <p:nvSpPr>
          <p:cNvPr id="2" name="kicker-notify-marker">
            <a:extLst xmlns:a="http://schemas.openxmlformats.org/drawingml/2006/main">
              <a:ext uri="{FF2B5EF4-FFF2-40B4-BE49-F238E27FC236}">
                <a16:creationId xmlns:a16="http://schemas.microsoft.com/office/drawing/2014/main" id="{8D1EE43D-C9C1-4860-B236-20143EBDC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3" name="kicker-notify-label">
            <a:extLst xmlns:a="http://schemas.openxmlformats.org/drawingml/2006/main">
              <a:ext uri="{FF2B5EF4-FFF2-40B4-BE49-F238E27FC236}">
                <a16:creationId xmlns:a16="http://schemas.microsoft.com/office/drawing/2014/main" id="{AF8B9346-3B80-4DB7-A83C-7ACB4B665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3815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rPr>
              <a:t>ПОЛЬЗОВАТЕЛЬСКИЙ ОПЫТ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A65AD2-19B2-4454-9446-C6106BB1B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33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Уведомления доводят человека до входа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1B9DEA-2042-45FF-8DE0-42594F67E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43050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После записи бот возвращает участника к мероприятию, чтобы он не забыл время, место и код.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DA8477-824D-4513-ABBC-1B4170C25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200150"/>
            <a:ext cx="19621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a5d5b945884144"/>
          <a:stretch xmlns:a="http://schemas.openxmlformats.org/drawingml/2006/main"/>
        </p:blipFill>
        <p:spPr>
          <a:xfrm xmlns:a="http://schemas.openxmlformats.org/drawingml/2006/main">
            <a:off x="9239250" y="2333625"/>
            <a:ext cx="1771650" cy="5905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796214-F459-4997-9A25-B13DA36D9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05150"/>
            <a:ext cx="16764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9C4743-B35B-4901-BD99-2D9DBEB75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05150"/>
            <a:ext cx="762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C291A2-2F5B-47E4-AA8F-2F0EDD7C1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76600"/>
            <a:ext cx="1257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rPr>
              <a:t>за 3 дня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8C614E-BF4D-4137-A773-CC5509CEA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619500"/>
            <a:ext cx="1257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ранний возврат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FE3896-D6BD-4CF1-92B4-9E51EB694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600450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2FFE7E-551F-42AE-84A4-746D18A23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448050"/>
            <a:ext cx="190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10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rPr>
              <a:t>&gt;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B1394C-3F3A-4987-9A60-3B9F4ED32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105150"/>
            <a:ext cx="16764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E0253B-5BAE-4230-B654-6154FBD29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105150"/>
            <a:ext cx="762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8E79AF-D758-426E-9D48-A5B2D0412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276600"/>
            <a:ext cx="1257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rPr>
              <a:t>за 24 часа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01BB94-D5EA-41C1-BB82-B191E2D38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619500"/>
            <a:ext cx="1257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проверка планов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0DB01E-E090-4289-8141-6F7E89CFC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600450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91342D-47C5-4F1E-9702-F1BD5EAE8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448050"/>
            <a:ext cx="190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10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7649F7-084E-408C-A899-5AE9D3C0E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105150"/>
            <a:ext cx="16764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89A2E4-C74A-40D3-B1AE-930F2AEB8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105150"/>
            <a:ext cx="762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8D2AB7-395A-457A-BA14-9F9CDA7AB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276600"/>
            <a:ext cx="1257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rPr>
              <a:t>за 3 часа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121CDB-7260-4FE1-9565-BA6930846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619500"/>
            <a:ext cx="1257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финальное напоминание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296A4F7-1A75-4DBD-A99F-3FCE02F77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600450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628CB6D-81A7-4936-8CFE-54867E7B9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448050"/>
            <a:ext cx="190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10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rPr>
              <a:t>&gt;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B96D1B-13CF-42B5-B658-AED0E360A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105150"/>
            <a:ext cx="16764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B952CD-CB34-405B-AE03-63B0AB4DF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105150"/>
            <a:ext cx="762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1D48"/>
          </a:solidFill>
          <a:ln xmlns:a="http://schemas.openxmlformats.org/drawingml/2006/main" w="0">
            <a:solidFill>
              <a:srgbClr val="E11D4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0EA711-3E13-43DF-A3F1-6AAE79420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276600"/>
            <a:ext cx="1257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11D48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E11D48"/>
                </a:solidFill>
                <a:latin typeface="Segoe UI Semibold"/>
                <a:ea typeface="Segoe UI Semibold"/>
                <a:cs typeface="Segoe UI Semibold"/>
              </a:rPr>
              <a:t>старт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E5E10D5-D412-49AD-958A-41573F446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619500"/>
            <a:ext cx="1257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код под рукой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DF844A4-C6F1-4E86-91A2-046C38BCC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00600"/>
            <a:ext cx="70294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0D32D4-A5EA-42A3-A6D9-6D6526C0A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00600"/>
            <a:ext cx="762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FAFA877-4036-4D9F-B235-3206C9C66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972050"/>
            <a:ext cx="6610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rPr>
              <a:t>Подробнее возвращает в карточку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1827951-D176-4CE7-BA12-51C0C40CE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314950"/>
            <a:ext cx="6610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участник не ищет старое сообщение: бот сам ведет к нужному действию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82CE89F-E4FF-4ECD-91E9-8E7863245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400550"/>
            <a:ext cx="2266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111827"/>
                </a:solidFill>
                <a:latin typeface="Segoe UI"/>
                <a:ea typeface="Segoe UI"/>
                <a:cs typeface="Segoe UI"/>
              </a:rPr>
              <a:t>Очередь уведомлений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61F83CE-2498-408B-AD98-D5EFC8C6F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86300"/>
            <a:ext cx="2266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563E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2563EB"/>
                </a:solidFill>
                <a:latin typeface="Segoe UI"/>
                <a:ea typeface="Segoe UI"/>
                <a:cs typeface="Segoe UI"/>
              </a:rPr>
              <a:t>notification_outbox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0114D96-18B7-46FC-8C98-636C229D4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10150"/>
            <a:ext cx="2266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05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плановые и ручные сообщения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46DB9FA-F6C7-4BDC-9D26-038F85D8B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MAX-бот записи на мероприятия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A41E9E5-06CF-446A-BC1D-1C743CF7F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95589877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C2B5D39-35C4-4793-8836-8DEB1DC1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F7F8FA"/>
            </a:solidFill>
            <a:prstDash val="solid"/>
          </a:ln>
        </p:spPr>
      </p:sp>
      <p:sp>
        <p:nvSpPr>
          <p:cNvPr id="2" name="kicker-builder-marker">
            <a:extLst xmlns:a="http://schemas.openxmlformats.org/drawingml/2006/main">
              <a:ext uri="{FF2B5EF4-FFF2-40B4-BE49-F238E27FC236}">
                <a16:creationId xmlns:a16="http://schemas.microsoft.com/office/drawing/2014/main" id="{88331D30-9FEA-4D9E-B56E-9F23CB12F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3" name="kicker-builder-label">
            <a:extLst xmlns:a="http://schemas.openxmlformats.org/drawingml/2006/main">
              <a:ext uri="{FF2B5EF4-FFF2-40B4-BE49-F238E27FC236}">
                <a16:creationId xmlns:a16="http://schemas.microsoft.com/office/drawing/2014/main" id="{3C2C7B2B-CF78-46E3-BB3E-D469D0BF5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3815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rPr>
              <a:t>ПОЛЬЗОВАТЕЛЬСКИЙ ОПЫТ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5D7E1B-7652-4DBA-BBAA-8C9DB9DCE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7429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33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Билдер мероприятия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7741C5-E1F8-48A6-BA85-36A6E8979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43050"/>
            <a:ext cx="7334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Мероприятие собирается из блоков: дата, время, место, требования, слоты и обложка. Это удобно и пользователю, и будущей бизнес-логике.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F1C4D2-DADB-4F47-9231-7451424F4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028700"/>
            <a:ext cx="27241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aeded29eae4a67"/>
          <a:stretch xmlns:a="http://schemas.openxmlformats.org/drawingml/2006/main"/>
        </p:blipFill>
        <p:spPr>
          <a:xfrm xmlns:a="http://schemas.openxmlformats.org/drawingml/2006/main">
            <a:off x="8743950" y="1747838"/>
            <a:ext cx="2571750" cy="1285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C4C066-C9B6-4CAB-A4E0-5EAE146B5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28950"/>
            <a:ext cx="171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8D2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F802F6-F986-4819-A333-AA2A8C47C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86100"/>
            <a:ext cx="1485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563EB"/>
                </a:solidFill>
                <a:latin typeface="Segoe UI"/>
                <a:ea typeface="Segoe UI"/>
                <a:cs typeface="Segoe UI"/>
              </a:defRPr>
            </a:pPr>
            <a:r>
              <a:rPr sz="975" b="1">
                <a:solidFill>
                  <a:srgbClr val="2563EB"/>
                </a:solidFill>
                <a:latin typeface="Segoe UI"/>
                <a:ea typeface="Segoe UI"/>
                <a:cs typeface="Segoe UI"/>
              </a:rPr>
              <a:t>Название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82265E-D032-4827-AA11-37DE0BCA9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028950"/>
            <a:ext cx="171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7EC"/>
          </a:solidFill>
          <a:ln xmlns:a="http://schemas.openxmlformats.org/drawingml/2006/main" w="9525">
            <a:solidFill>
              <a:srgbClr val="C8D2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7599FB-81CF-4FB2-8452-1802F73D4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086100"/>
            <a:ext cx="1485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0A676"/>
                </a:solidFill>
                <a:latin typeface="Segoe UI"/>
                <a:ea typeface="Segoe UI"/>
                <a:cs typeface="Segoe UI"/>
              </a:defRPr>
            </a:pPr>
            <a:r>
              <a:rPr sz="975" b="1">
                <a:solidFill>
                  <a:srgbClr val="00A676"/>
                </a:solidFill>
                <a:latin typeface="Segoe UI"/>
                <a:ea typeface="Segoe UI"/>
                <a:cs typeface="Segoe UI"/>
              </a:rPr>
              <a:t>Дата и время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FD5749-B26D-40D6-873A-E6454F7EC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028950"/>
            <a:ext cx="171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8D2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8D1256-6DF7-411D-A2E3-7C9932055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086100"/>
            <a:ext cx="1485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9A5B00"/>
                </a:solidFill>
                <a:latin typeface="Segoe UI"/>
                <a:ea typeface="Segoe UI"/>
                <a:cs typeface="Segoe UI"/>
              </a:defRPr>
            </a:pPr>
            <a:r>
              <a:rPr sz="975" b="1">
                <a:solidFill>
                  <a:srgbClr val="9A5B00"/>
                </a:solidFill>
                <a:latin typeface="Segoe UI"/>
                <a:ea typeface="Segoe UI"/>
                <a:cs typeface="Segoe UI"/>
              </a:rPr>
              <a:t>Место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013934-54CE-4507-BBE3-C82E449E1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33800"/>
            <a:ext cx="171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C8D2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B7166E-08D4-4A7E-A3D8-11871BA9A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790950"/>
            <a:ext cx="1485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C3AED"/>
                </a:solidFill>
                <a:latin typeface="Segoe UI"/>
                <a:ea typeface="Segoe UI"/>
                <a:cs typeface="Segoe UI"/>
              </a:defRPr>
            </a:pPr>
            <a:r>
              <a:rPr sz="975" b="1">
                <a:solidFill>
                  <a:srgbClr val="7C3AED"/>
                </a:solidFill>
                <a:latin typeface="Segoe UI"/>
                <a:ea typeface="Segoe UI"/>
                <a:cs typeface="Segoe UI"/>
              </a:rPr>
              <a:t>Требования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6F38F3-8B38-4D8E-B11F-4ABD3034B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733800"/>
            <a:ext cx="171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C8D2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248956-96A4-494F-A8B3-B67BD7132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790950"/>
            <a:ext cx="1485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E11D48"/>
                </a:solidFill>
                <a:latin typeface="Segoe UI"/>
                <a:ea typeface="Segoe UI"/>
                <a:cs typeface="Segoe UI"/>
              </a:defRPr>
            </a:pPr>
            <a:r>
              <a:rPr sz="975" b="1">
                <a:solidFill>
                  <a:srgbClr val="E11D48"/>
                </a:solidFill>
                <a:latin typeface="Segoe UI"/>
                <a:ea typeface="Segoe UI"/>
                <a:cs typeface="Segoe UI"/>
              </a:rPr>
              <a:t>Слоты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884387-5AC2-4877-8E28-F75DD865C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733800"/>
            <a:ext cx="171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A"/>
          </a:solidFill>
          <a:ln xmlns:a="http://schemas.openxmlformats.org/drawingml/2006/main" w="9525">
            <a:solidFill>
              <a:srgbClr val="C8D2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1E5AC2-35B7-470C-B9AD-B5EE89AB5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790950"/>
            <a:ext cx="1485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F2937"/>
                </a:solidFill>
                <a:latin typeface="Segoe UI"/>
                <a:ea typeface="Segoe UI"/>
                <a:cs typeface="Segoe UI"/>
              </a:defRPr>
            </a:pPr>
            <a:r>
              <a:rPr sz="975" b="1">
                <a:solidFill>
                  <a:srgbClr val="1F2937"/>
                </a:solidFill>
                <a:latin typeface="Segoe UI"/>
                <a:ea typeface="Segoe UI"/>
                <a:cs typeface="Segoe UI"/>
              </a:rPr>
              <a:t>Обложка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1D737A-610C-4BFE-8DF5-02FF6EE10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505200"/>
            <a:ext cx="190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D6EAE6-2CDC-451F-AF64-FDC282E5F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352800"/>
            <a:ext cx="190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100" b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7A9F53-E501-4D13-9A40-6AF67EC51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143250"/>
            <a:ext cx="16383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960B67-9DC3-4C8C-AD8E-C2EF1BDF5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143250"/>
            <a:ext cx="762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24AFFD-D0D8-4C74-9E52-32763AAA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314700"/>
            <a:ext cx="1219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rPr>
              <a:t>Билдер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150AAC1-5500-4BB6-886B-C22792946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657600"/>
            <a:ext cx="1219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мероприятий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6DC5CE8-B17F-438A-B689-FF09BD99A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91100"/>
            <a:ext cx="48196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CD6DE05-A2CB-4496-A759-38BF98AB7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91100"/>
            <a:ext cx="76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76"/>
          </a:solidFill>
          <a:ln xmlns:a="http://schemas.openxmlformats.org/drawingml/2006/main" w="0">
            <a:solidFill>
              <a:srgbClr val="00A67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09D217D-F6E9-4BB7-84D4-D379617AE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62550"/>
            <a:ext cx="4400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rPr>
              <a:t>Пользователю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A28BF60-5B2F-4A9C-BF29-E64E05D00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05450"/>
            <a:ext cx="4400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в карточке быстро читаются время, требования и действие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37E5461-C271-41AF-B8EE-785DDB140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991100"/>
            <a:ext cx="2762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F206DA2-EA97-425E-8880-1EA827327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991100"/>
            <a:ext cx="76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E2D54D-D520-4C36-9DA3-140CECDC6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162550"/>
            <a:ext cx="23431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rPr>
              <a:t>Управление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567D33F-34A2-454B-84FE-B2D2533DE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505450"/>
            <a:ext cx="2343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закрыть регистрацию, отправить напоминание, поделиться ссылкой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48A1FDC-5284-4A7E-A7A6-A3F0BEC8B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MAX-бот записи на мероприятия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DACA024-4452-48F0-9247-79C44EF68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68806836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7E15694-C13F-4856-AD65-60A3A265F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F7F8FA"/>
            </a:solidFill>
            <a:prstDash val="solid"/>
          </a:ln>
        </p:spPr>
      </p:sp>
      <p:sp>
        <p:nvSpPr>
          <p:cNvPr id="2" name="kicker-attendance-marker">
            <a:extLst xmlns:a="http://schemas.openxmlformats.org/drawingml/2006/main">
              <a:ext uri="{FF2B5EF4-FFF2-40B4-BE49-F238E27FC236}">
                <a16:creationId xmlns:a16="http://schemas.microsoft.com/office/drawing/2014/main" id="{DB71F292-A410-4256-96F3-30C0CFF92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1D48"/>
          </a:solidFill>
          <a:ln xmlns:a="http://schemas.openxmlformats.org/drawingml/2006/main" w="0">
            <a:solidFill>
              <a:srgbClr val="E11D48"/>
            </a:solidFill>
            <a:prstDash val="solid"/>
          </a:ln>
        </p:spPr>
      </p:sp>
      <p:sp>
        <p:nvSpPr>
          <p:cNvPr id="3" name="kicker-attendance-label">
            <a:extLst xmlns:a="http://schemas.openxmlformats.org/drawingml/2006/main">
              <a:ext uri="{FF2B5EF4-FFF2-40B4-BE49-F238E27FC236}">
                <a16:creationId xmlns:a16="http://schemas.microsoft.com/office/drawing/2014/main" id="{A5F06ACC-376E-49BF-B591-E46ECED51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3815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rPr>
              <a:t>ПОЛЬЗОВАТЕЛЬСКИЙ ОПЫТ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284F5A-D496-4821-9D0F-3AED798B3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7810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33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Код подтверждается одной кнопкой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D3EDD7-69C8-4C19-88FA-0448ADE73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430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Основной поток линейный: участник показывает код, Организатор подтверждает, бот меняет статус и уведомляет участника.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475A05-9232-4867-B6B4-3CA8B784D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219200"/>
            <a:ext cx="21526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261776bf824715"/>
          <a:stretch xmlns:a="http://schemas.openxmlformats.org/drawingml/2006/main"/>
        </p:blipFill>
        <p:spPr>
          <a:xfrm xmlns:a="http://schemas.openxmlformats.org/drawingml/2006/main">
            <a:off x="8953500" y="2062163"/>
            <a:ext cx="1962150" cy="9810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F63C8E-D947-443D-BC4C-84ED5FCF5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76550"/>
            <a:ext cx="2095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826540-733E-4DB3-9C3D-EE5F3ADFF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0480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1D48"/>
          </a:solidFill>
          <a:ln xmlns:a="http://schemas.openxmlformats.org/drawingml/2006/main" w="0">
            <a:solidFill>
              <a:srgbClr val="E11D4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9014EA-81F2-4646-869B-D48814ADA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095625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8EF890-BA88-4A40-A468-491C10A57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038475"/>
            <a:ext cx="1295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575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Код на входе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98DA3C-DC29-40EA-A566-E2BEDBCC0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43300"/>
            <a:ext cx="16764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участник показывает код записи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44A948-980A-4BF4-829E-0ED040857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524250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1D48"/>
          </a:solidFill>
          <a:ln xmlns:a="http://schemas.openxmlformats.org/drawingml/2006/main" w="0">
            <a:solidFill>
              <a:srgbClr val="E11D4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F347A3-5401-4AF8-8F1A-37FC4E241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71850"/>
            <a:ext cx="190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E11D48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100" b="1">
                <a:solidFill>
                  <a:srgbClr val="E11D48"/>
                </a:solidFill>
                <a:latin typeface="Segoe UI Semibold"/>
                <a:ea typeface="Segoe UI Semibold"/>
                <a:cs typeface="Segoe UI Semibold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5FCA5C-87A9-4C48-AF19-F4A4AB4FB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76550"/>
            <a:ext cx="2095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6A78C3-C4E8-4E53-870D-50F5458A5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0480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3CEB8E-44A8-408F-8676-42A3A079C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095625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93ED85-EB07-42E6-A98A-3F6B76C6F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38475"/>
            <a:ext cx="1295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575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Одна кнопка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C454B4-BB72-44DD-A65A-F76B66795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543300"/>
            <a:ext cx="16764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Организатор отмечает посещение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17F01A-5EDE-4E7D-93CE-2876FBACF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524250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75B642-3383-42A9-8045-AA5F38D84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371850"/>
            <a:ext cx="190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100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1404A0-B65A-4620-BE42-76AD15380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876550"/>
            <a:ext cx="2095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1BE890E-25F4-48AD-88B8-C9A1F2832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0480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76"/>
          </a:solidFill>
          <a:ln xmlns:a="http://schemas.openxmlformats.org/drawingml/2006/main" w="0">
            <a:solidFill>
              <a:srgbClr val="00A67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08AB7F-9A2A-4BBF-A280-31C2914CE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095625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2DDC494-35F4-4A5A-8505-C707F0E40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038475"/>
            <a:ext cx="1295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575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Статус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5BD6DF-24F7-4D36-B617-7A2181A3B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543300"/>
            <a:ext cx="16764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запись становится посещенной, участник получает сообщение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EE37F1A-8A9D-426B-86DD-1749BF2C9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53000"/>
            <a:ext cx="3333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0B053A0-6223-4FF0-9968-58200187C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53000"/>
            <a:ext cx="762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5F324CD-A522-4D07-A16E-DC3C7772F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24450"/>
            <a:ext cx="2914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rPr>
              <a:t>Поиск как запасной путь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F877201-E643-475A-8489-7CC879F85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467350"/>
            <a:ext cx="2914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если код забыли, запись можно найти по имени или профилю MAX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12980AA-8C22-4A7C-8A7F-BAEAFCFDB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953000"/>
            <a:ext cx="3333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9C38C49-5F73-4B07-BFA4-D5C1074A9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953000"/>
            <a:ext cx="762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FD162BD-2F33-4014-8FE6-28EEC6549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5124450"/>
            <a:ext cx="2914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rPr>
              <a:t>Журнал действий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A390EEC-A057-4B2F-A7BF-B4F21587B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5467350"/>
            <a:ext cx="2914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отметки посещения становятся основой для аудита и будущей аналитики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442818-08F8-4D76-9263-86BE3BE1F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MAX-бот записи на мероприятия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7894DE8-25AF-4DCB-A978-64727C240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3133105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A074026-8342-410A-B223-15A8D22AE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F7F8FA"/>
            </a:solidFill>
            <a:prstDash val="solid"/>
          </a:ln>
        </p:spPr>
      </p:sp>
      <p:sp>
        <p:nvSpPr>
          <p:cNvPr id="2" name="kicker-criteria-marker">
            <a:extLst xmlns:a="http://schemas.openxmlformats.org/drawingml/2006/main">
              <a:ext uri="{FF2B5EF4-FFF2-40B4-BE49-F238E27FC236}">
                <a16:creationId xmlns:a16="http://schemas.microsoft.com/office/drawing/2014/main" id="{C32BBDB0-8304-4388-BE38-842080A7D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3" name="kicker-criteria-label">
            <a:extLst xmlns:a="http://schemas.openxmlformats.org/drawingml/2006/main">
              <a:ext uri="{FF2B5EF4-FFF2-40B4-BE49-F238E27FC236}">
                <a16:creationId xmlns:a16="http://schemas.microsoft.com/office/drawing/2014/main" id="{322146DF-7C0E-44D9-93AB-E29DD0838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3815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rPr>
              <a:t>ПОЛЬЗОВАТЕЛЬСКИЙ ОПЫТ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F271D0-E6DD-4537-9AE2-74F1EAE6F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8572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33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Критерии закрываются продуктом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D1947D-BC8D-478F-A027-474FB2991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43050"/>
            <a:ext cx="8382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Вместо отдельного рассказа про команду показываем то, что жюри сможет оценить по продукту: опыт, ценность, техника и надежность.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41A2B5-38D5-44AA-9A64-A9D3E88C6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24150"/>
            <a:ext cx="3048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ED6DD3-F30E-4BDF-B0E8-3FAF114AE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241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286C0F-3391-4A53-9021-99849FBDE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95600"/>
            <a:ext cx="2628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rPr>
              <a:t>Инновационность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3CFBF3-1F65-4C08-A93C-6A0EAA590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38500"/>
            <a:ext cx="26289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ссылка из рассылки сразу ведет к записи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93B6F6-FB37-49D7-9060-1C9E88F07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724150"/>
            <a:ext cx="3048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850702-6150-4364-AD70-B8075FB36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7241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76"/>
          </a:solidFill>
          <a:ln xmlns:a="http://schemas.openxmlformats.org/drawingml/2006/main" w="0">
            <a:solidFill>
              <a:srgbClr val="00A67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F13199-1D1A-44E5-811B-4EE219C4C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895600"/>
            <a:ext cx="2628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rPr>
              <a:t>Практическая ценность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2D8A36-FD08-4015-9DD6-1DDB5A2A8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38500"/>
            <a:ext cx="26289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меньше ручной координации и потерянных участников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8BE71F-4FF7-4911-8167-DEE7DAC4B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724150"/>
            <a:ext cx="3048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E00528-6BA6-48F9-B7DD-917320B78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7241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5CCE8E-C49E-403A-973F-676A1D77B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895600"/>
            <a:ext cx="2628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rPr>
              <a:t>Дизайн и UX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FA1C1A-A473-49B0-9F9F-B3487A7EA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238500"/>
            <a:ext cx="26289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понятные кнопки, короткий путь, данные структурированы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ADC32F-D3F7-4388-9644-EAB91D709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14800"/>
            <a:ext cx="3048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D4C2D3-D835-4049-ACC0-A68888AEC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1480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30E141-84B3-4726-BE1D-733362A64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86250"/>
            <a:ext cx="2628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rPr>
              <a:t>Техническая реализация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FD3200-2441-49D3-885F-2225DACDD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629150"/>
            <a:ext cx="26289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серверлесс, YDB, очередь уведомлений, деплой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9C53859-9EDB-451B-8590-FDA11F04D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114800"/>
            <a:ext cx="3048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61EC95-F0E8-4358-9C6B-34FA76A9E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11480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1D48"/>
          </a:solidFill>
          <a:ln xmlns:a="http://schemas.openxmlformats.org/drawingml/2006/main" w="0">
            <a:solidFill>
              <a:srgbClr val="E11D4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A5FC92-D3DC-4428-8395-CAF8AACAB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286250"/>
            <a:ext cx="2628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11D48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E11D48"/>
                </a:solidFill>
                <a:latin typeface="Segoe UI Semibold"/>
                <a:ea typeface="Segoe UI Semibold"/>
                <a:cs typeface="Segoe UI Semibold"/>
              </a:rPr>
              <a:t>Коммерциализация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DB465C-C827-4066-B0E7-7F2C7BB36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629150"/>
            <a:ext cx="26289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приоритетные места, статистика, аналитические отчеты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1BC5E92-E352-4521-949B-2029B0C90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114800"/>
            <a:ext cx="3048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6E2F846-9DF3-490C-91BF-F9DB9BCE7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11480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solidFill>
              <a:srgbClr val="1F293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0CFB83A-E745-4140-BA88-D4AA58D74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286250"/>
            <a:ext cx="2628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293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1F2937"/>
                </a:solidFill>
                <a:latin typeface="Segoe UI Semibold"/>
                <a:ea typeface="Segoe UI Semibold"/>
                <a:cs typeface="Segoe UI Semibold"/>
              </a:rPr>
              <a:t>Надежность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14A0733-1A8A-43F1-8CBD-540ECB336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629150"/>
            <a:ext cx="26289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158 тестов, включая качество текстов интерфейса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4E1D58-42CB-4AEA-8AE6-39B487724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MAX-бот записи на мероприятия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2A89682-6363-45C8-A6D6-EEEE32A6E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91017425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8D83085-1578-4573-8EBB-A59254A40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F172A"/>
            </a:solidFill>
            <a:prstDash val="solid"/>
          </a:ln>
        </p:spPr>
      </p:sp>
      <p:sp>
        <p:nvSpPr>
          <p:cNvPr id="2" name="kicker-stack-marker">
            <a:extLst xmlns:a="http://schemas.openxmlformats.org/drawingml/2006/main">
              <a:ext uri="{FF2B5EF4-FFF2-40B4-BE49-F238E27FC236}">
                <a16:creationId xmlns:a16="http://schemas.microsoft.com/office/drawing/2014/main" id="{06292723-A36E-4001-8B7B-44AB079B8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76"/>
          </a:solidFill>
          <a:ln xmlns:a="http://schemas.openxmlformats.org/drawingml/2006/main" w="0">
            <a:solidFill>
              <a:srgbClr val="00A676"/>
            </a:solidFill>
            <a:prstDash val="solid"/>
          </a:ln>
        </p:spPr>
      </p:sp>
      <p:sp>
        <p:nvSpPr>
          <p:cNvPr id="3" name="kicker-stack-label">
            <a:extLst xmlns:a="http://schemas.openxmlformats.org/drawingml/2006/main">
              <a:ext uri="{FF2B5EF4-FFF2-40B4-BE49-F238E27FC236}">
                <a16:creationId xmlns:a16="http://schemas.microsoft.com/office/drawing/2014/main" id="{F1B6D8C6-274F-4B1A-B725-DE329889C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3815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9D4E5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75" b="1">
                <a:solidFill>
                  <a:srgbClr val="C9D4E5"/>
                </a:solidFill>
                <a:latin typeface="Segoe UI Semibold"/>
                <a:ea typeface="Segoe UI Semibold"/>
                <a:cs typeface="Segoe UI Semibold"/>
              </a:rPr>
              <a:t>ТЕХНИЧЕСКАЯ РЕАЛИЗАЦИЯ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9632A6-C972-4791-A1B0-EBB66459A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8953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33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Стек: российский контур и открытый код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EBA8CB-BAE5-4F89-9CC6-DE61327A7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43050"/>
            <a:ext cx="8286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Это важно для импортозамещения: меньше зависимости от закрытых иностранных сервисов, проще проверять и поддерживать решение.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03677A-4257-4364-A18B-6F8D098D0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00050"/>
            <a:ext cx="285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0A676"/>
                </a:solidFill>
                <a:latin typeface="Segoe UI"/>
                <a:ea typeface="Segoe UI"/>
                <a:cs typeface="Segoe UI"/>
              </a:defRPr>
            </a:pPr>
            <a:r>
              <a:rPr sz="975" b="1">
                <a:solidFill>
                  <a:srgbClr val="00A676"/>
                </a:solidFill>
                <a:latin typeface="Segoe UI"/>
                <a:ea typeface="Segoe UI"/>
                <a:cs typeface="Segoe UI"/>
              </a:rPr>
              <a:t>RU = российская технология или сервис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D99E1A-086A-4339-861F-BDAAC017F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609600"/>
            <a:ext cx="285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3C5FD"/>
                </a:solidFill>
                <a:latin typeface="Segoe UI"/>
                <a:ea typeface="Segoe UI"/>
                <a:cs typeface="Segoe UI"/>
              </a:defRPr>
            </a:pPr>
            <a:r>
              <a:rPr sz="975" b="1">
                <a:solidFill>
                  <a:srgbClr val="93C5FD"/>
                </a:solidFill>
                <a:latin typeface="Segoe UI"/>
                <a:ea typeface="Segoe UI"/>
                <a:cs typeface="Segoe UI"/>
              </a:rPr>
              <a:t>OSS = открытый исходный код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FECBB5-4CB5-4342-9888-344590570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09850"/>
            <a:ext cx="24193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31415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08301D-5964-4AC7-801C-3FB18E9CE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09850"/>
            <a:ext cx="24193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B1B909-96B2-4EEF-A7B4-5AAD90EF4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19400"/>
            <a:ext cx="2038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MAX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244AAE-061C-4F86-BF24-476E5179B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143250"/>
            <a:ext cx="2038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90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чатовая платформа и кнопки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F89F41-2221-47A5-9404-5CA98F3A1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42900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76"/>
          </a:solidFill>
          <a:ln xmlns:a="http://schemas.openxmlformats.org/drawingml/2006/main" w="0">
            <a:solidFill>
              <a:srgbClr val="00A67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F30CDD-6BD6-4110-BBA8-84B37767F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476625"/>
            <a:ext cx="514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RU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37EE74-6AFC-4E88-8E13-9B3079D59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609850"/>
            <a:ext cx="24193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31415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7DEE56-4A4A-4A39-AD29-1DAD9024A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609850"/>
            <a:ext cx="24193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76"/>
          </a:solidFill>
          <a:ln xmlns:a="http://schemas.openxmlformats.org/drawingml/2006/main" w="0">
            <a:solidFill>
              <a:srgbClr val="00A67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69438B-0BE5-4216-BF1C-CAE5A9CAF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819400"/>
            <a:ext cx="2038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Yandex Cloud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B0A6F2-36AF-4286-908A-D3EF99CA7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43250"/>
            <a:ext cx="2038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90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Cloud Functions для входящих запросов и таймера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422442-4666-4FB4-9512-9443D0141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42900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76"/>
          </a:solidFill>
          <a:ln xmlns:a="http://schemas.openxmlformats.org/drawingml/2006/main" w="0">
            <a:solidFill>
              <a:srgbClr val="00A67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F6B42C-3FCB-4A09-8CD8-2D07726B9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476625"/>
            <a:ext cx="514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RU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51FE48-0D48-4C61-B982-A3291775C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09850"/>
            <a:ext cx="24193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31415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C7E8D2-1856-42AC-877F-A120AB01F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09850"/>
            <a:ext cx="24193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73A8EB-7F9D-4330-AE44-1F9F0C890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819400"/>
            <a:ext cx="2038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YDB Serverless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772966-1FCB-487C-8185-059D282A5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143250"/>
            <a:ext cx="2038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90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хранилище мероприятий, записей и очереди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DD4F1E-9BB7-4C4D-B8FA-208D66829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42900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76"/>
          </a:solidFill>
          <a:ln xmlns:a="http://schemas.openxmlformats.org/drawingml/2006/main" w="0">
            <a:solidFill>
              <a:srgbClr val="00A67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D98D20-02EE-4231-9B86-88A35D706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476625"/>
            <a:ext cx="514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RU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395B598-AF28-4F95-A0AA-0F9CA234D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609850"/>
            <a:ext cx="19621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31415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7F65E36-35CE-4A9B-B6D8-68C3978ED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609850"/>
            <a:ext cx="19621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FBF8E67-7A22-43BE-80A6-87BA743E4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819400"/>
            <a:ext cx="15811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Python 3.12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D22DD4C-EBCD-43DE-8CEE-C4AF6C7FF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43250"/>
            <a:ext cx="15811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90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сервисная логика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47EA6A2-B4D5-49E8-9A62-A1A3BD01C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42900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B3EF427-DF22-400E-B620-918FBBFD6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476625"/>
            <a:ext cx="514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OSS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77764A0-C164-445E-BEBF-468D8DABA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33850"/>
            <a:ext cx="24193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31415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5A16F24-887F-49ED-BDDC-0DDF65F51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33850"/>
            <a:ext cx="24193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1D48"/>
          </a:solidFill>
          <a:ln xmlns:a="http://schemas.openxmlformats.org/drawingml/2006/main" w="0">
            <a:solidFill>
              <a:srgbClr val="E11D4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BED4941-3D5C-463F-B872-DE0256A6B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343400"/>
            <a:ext cx="2038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FastAPI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057EBEA-BAEE-4A4C-82AA-52E9373A5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667250"/>
            <a:ext cx="2038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90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HTTP-обработчик и проверка доступности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8CB1A1F-0FDB-4C3D-AA99-75475FB6F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95300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BF40C85-1726-4E4E-9720-60DC2B60D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000625"/>
            <a:ext cx="514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OSS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1459530-322E-4550-9910-DBC8A9F09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133850"/>
            <a:ext cx="24193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31415F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4C6F121-3A22-40BF-92B9-37B462171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133850"/>
            <a:ext cx="24193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9D529C3-4D23-4470-ACAC-46A48AE1E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343400"/>
            <a:ext cx="2038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maxapi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B97451D-38EC-41FD-9D99-540F6434C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667250"/>
            <a:ext cx="2038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90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заменяемый клиент MAX API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CCDB34A-E376-48EF-94D0-FB34D01F2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95300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64748B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6484966-9874-486B-8939-32171AEC3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5000625"/>
            <a:ext cx="514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API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FBFDE7D-EBB5-400D-A083-13F952301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133850"/>
            <a:ext cx="24193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31415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CF4AF13-9C96-4D59-AF78-2CB96BBC2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133850"/>
            <a:ext cx="24193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solidFill>
              <a:srgbClr val="1F2937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970E910-784B-451E-A246-D161D8925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343400"/>
            <a:ext cx="2038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Docker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8AF6348-0EEC-47A4-ABC8-9FE51C802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667250"/>
            <a:ext cx="2038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90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локальный стенд с YDB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0390F90-7451-4B59-BC08-53FF9700A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95300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3C7F9F5-7B42-4F2C-B61C-0C11A812C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000625"/>
            <a:ext cx="514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OSS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CE42FE5-FBE0-4C67-AA59-BE918734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133850"/>
            <a:ext cx="19621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31415F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E5EBD66-7506-4EEA-ADA2-B6D501C0E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133850"/>
            <a:ext cx="19621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76"/>
          </a:solidFill>
          <a:ln xmlns:a="http://schemas.openxmlformats.org/drawingml/2006/main" w="0">
            <a:solidFill>
              <a:srgbClr val="00A676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5C1DDC5-6667-433E-A51A-ECA817FB6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343400"/>
            <a:ext cx="15811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pytest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1C55D72-AE74-4711-95BD-A9B8D0FEC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667250"/>
            <a:ext cx="15811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90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158 автотестов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ED05795-AA24-438B-8A9B-E7A19B7B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95300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A518485-AE93-4FDA-A50E-9A5CCBC2D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000625"/>
            <a:ext cx="514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OSS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0B31F96-DBEC-44CB-8069-00040B020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53100"/>
            <a:ext cx="981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Ставка: российские сервисы в продакшене, открытые инструменты в коде и тестах.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76549FE-A267-4FDC-949E-1F2C21529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1809A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71809A"/>
                </a:solidFill>
                <a:latin typeface="Segoe UI"/>
                <a:ea typeface="Segoe UI"/>
                <a:cs typeface="Segoe UI"/>
              </a:rPr>
              <a:t>MAX-бот записи на мероприятия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B3FEA78-C1DE-4F5D-A9D3-892AFF533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71809A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71809A"/>
                </a:solidFill>
                <a:latin typeface="Segoe UI"/>
                <a:ea typeface="Segoe UI"/>
                <a:cs typeface="Segoe U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503105604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3EDB6EB-5A50-4CBC-9B4A-A2E85F2B2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F172A"/>
            </a:solidFill>
            <a:prstDash val="solid"/>
          </a:ln>
        </p:spPr>
      </p:sp>
      <p:sp>
        <p:nvSpPr>
          <p:cNvPr id="2" name="kicker-arch-marker">
            <a:extLst xmlns:a="http://schemas.openxmlformats.org/drawingml/2006/main">
              <a:ext uri="{FF2B5EF4-FFF2-40B4-BE49-F238E27FC236}">
                <a16:creationId xmlns:a16="http://schemas.microsoft.com/office/drawing/2014/main" id="{ABEC7BB7-54F2-4874-A61D-A6A113713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3" name="kicker-arch-label">
            <a:extLst xmlns:a="http://schemas.openxmlformats.org/drawingml/2006/main">
              <a:ext uri="{FF2B5EF4-FFF2-40B4-BE49-F238E27FC236}">
                <a16:creationId xmlns:a16="http://schemas.microsoft.com/office/drawing/2014/main" id="{858905D0-40A4-4C79-8159-21A77E6E5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3815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9D4E5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75" b="1">
                <a:solidFill>
                  <a:srgbClr val="C9D4E5"/>
                </a:solidFill>
                <a:latin typeface="Segoe UI Semibold"/>
                <a:ea typeface="Segoe UI Semibold"/>
                <a:cs typeface="Segoe UI Semibold"/>
              </a:rPr>
              <a:t>ТЕХНИЧЕСКАЯ РЕАЛИЗАЦИЯ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D1F31E-54B1-4951-AB88-3F086E3B9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8286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33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Архитектура короткая и поддерживаемая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B08716-902C-46F8-B51F-48E842AAB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43050"/>
            <a:ext cx="8286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Входящий запрос MAX идет в Cloud Functions, бизнес-логика работает в сервисах, состояние хранится в YDB.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FD4F92-2AB0-4644-B6DC-FA20B72DD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14650"/>
            <a:ext cx="17526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31415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FF39ED-6D4C-4B9F-B42F-57643E24F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861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762A3B-802C-4EE8-BBF4-9612387A9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33725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3BDA76-E70B-477C-B18A-EC448B6FF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076575"/>
            <a:ext cx="95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575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MAX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60025D-C33B-4B9E-9E84-CFBC00BF0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81400"/>
            <a:ext cx="1333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сообщения, кнопки, стартовая ссылка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918CD3-F6FE-4A10-9B74-C57C58EF9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562350"/>
            <a:ext cx="1714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F86EA9-B77E-4F65-A46E-A84F62CD4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409950"/>
            <a:ext cx="190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100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rPr>
              <a:t>&gt;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F95384-73BE-4AD7-A42D-91A78F580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914650"/>
            <a:ext cx="17526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31415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ABF458-81F7-45EC-A6CE-F458D910A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0861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76"/>
          </a:solidFill>
          <a:ln xmlns:a="http://schemas.openxmlformats.org/drawingml/2006/main" w="0">
            <a:solidFill>
              <a:srgbClr val="00A67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449620-CE28-4E0A-AD3E-674BAFB1F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133725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BAE0AC-46F9-46F7-A70D-6EB77BD82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076575"/>
            <a:ext cx="95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575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Функция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878067-7E14-4C75-B58B-30BDC9AB4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581400"/>
            <a:ext cx="1333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Cloud Functions принимает запросы и таймер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0EA65C-014A-4923-B433-7B16B212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562350"/>
            <a:ext cx="1714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76"/>
          </a:solidFill>
          <a:ln xmlns:a="http://schemas.openxmlformats.org/drawingml/2006/main" w="0">
            <a:solidFill>
              <a:srgbClr val="00A67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E200EF-7E46-4E10-B949-4116E4CD4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409950"/>
            <a:ext cx="190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100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5166F7-469F-4A29-8DFE-771D3B6F9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914650"/>
            <a:ext cx="17526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31415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5BF3B5-55B7-42F5-B321-3EF81E8A6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0861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8D69F5-AF00-4852-946A-8A8F5B389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133725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838F71-8F25-4E05-8AEB-1A3469772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076575"/>
            <a:ext cx="95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575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Обработчик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D26261-987C-43F5-AE46-AF396F4FA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581400"/>
            <a:ext cx="1333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FastAPI: проверка, роли, маршрутизация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8098CC-68AF-42C2-8BB0-0B0729FF2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562350"/>
            <a:ext cx="1714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7A37D3-5329-4160-B5C5-77267B26C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409950"/>
            <a:ext cx="190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10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rPr>
              <a:t>&gt;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AD9982C-1E13-403A-8596-419D519A9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914650"/>
            <a:ext cx="17526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31415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B422C39-D341-4294-A72C-57FDE9313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0861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B5E6838-F0A4-4423-BB27-66BC6BBF1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33725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7FAEA12-0FF2-43F1-922B-8E386FF43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076575"/>
            <a:ext cx="95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575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Сервисы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891BFF2-A5DC-42C7-AD84-739FD5E7F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581400"/>
            <a:ext cx="1333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запись, слоты, напоминания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15BF3ED-F98C-4C12-9339-98AF28ECB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562350"/>
            <a:ext cx="1714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261BC31-6CEE-4FBE-96AB-1C8DF4C4A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409950"/>
            <a:ext cx="190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100" b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0EAAE32-3AC7-4690-A504-7DFDDFCE8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914650"/>
            <a:ext cx="15621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31415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C2E7F1E-378B-4FAE-A155-FA4C621EF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0861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1D48"/>
          </a:solidFill>
          <a:ln xmlns:a="http://schemas.openxmlformats.org/drawingml/2006/main" w="0">
            <a:solidFill>
              <a:srgbClr val="E11D4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0AAB93B-B0DE-49FB-B648-D8ADF549B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133725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FB7A06E-D9B3-430D-80FE-4041346E9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3076575"/>
            <a:ext cx="762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575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YDB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1B89D99-A16A-4EE2-A7E7-FCEB55775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581400"/>
            <a:ext cx="1143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таблицы, очередь, аудит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559A489-B4B4-4D74-914D-8D236125C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72050"/>
            <a:ext cx="2857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31415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FAADBCA-FA57-4EF9-A0F1-2780DAD8A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72050"/>
            <a:ext cx="76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76"/>
          </a:solidFill>
          <a:ln xmlns:a="http://schemas.openxmlformats.org/drawingml/2006/main" w="0">
            <a:solidFill>
              <a:srgbClr val="00A676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1A7522C-C6D8-4007-B51B-D2A5945D9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43500"/>
            <a:ext cx="24384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Развертывание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EF439DA-7DB1-4EB7-ACA2-88A309183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486400"/>
            <a:ext cx="24384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скрипт собирает пакет Cloud Functions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8A97C56-5F16-4D65-80BA-B88E9E44A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972050"/>
            <a:ext cx="2857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31415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185D34A-84A1-41C1-9D8F-1FE26E687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972050"/>
            <a:ext cx="76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C3AE6F0-3FFB-4122-B9E1-5C5A22C65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143500"/>
            <a:ext cx="24384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Локальная разработка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20E8D42-9276-4E1F-A2C1-DD8650F5C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486400"/>
            <a:ext cx="24384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Docker Compose поднимает YDB и бота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8DFC99E-7E4A-4EF0-8F4A-D0F474392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972050"/>
            <a:ext cx="2857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31415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17D3950-816A-482E-BE0D-626C7AE0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972050"/>
            <a:ext cx="76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CF392D8-D9CD-46F1-8C07-028C492DC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143500"/>
            <a:ext cx="24384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Поддержка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CB8BA6F-05BC-48CE-BC6C-F03DAFBF2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486400"/>
            <a:ext cx="24384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проверка доступности и журнал действий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A159CF6-EE54-4B79-B22A-9E1EBBE65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1809A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71809A"/>
                </a:solidFill>
                <a:latin typeface="Segoe UI"/>
                <a:ea typeface="Segoe UI"/>
                <a:cs typeface="Segoe UI"/>
              </a:rPr>
              <a:t>MAX-бот записи на мероприятия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D6A26C3-A13C-4C6B-B651-DD788BE88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71809A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71809A"/>
                </a:solidFill>
                <a:latin typeface="Segoe UI"/>
                <a:ea typeface="Segoe UI"/>
                <a:cs typeface="Segoe U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888901432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CEEAD26-8848-487B-A6D4-619A07A05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F172A"/>
            </a:solidFill>
            <a:prstDash val="solid"/>
          </a:ln>
        </p:spPr>
      </p:sp>
      <p:sp>
        <p:nvSpPr>
          <p:cNvPr id="2" name="kicker-tests-marker">
            <a:extLst xmlns:a="http://schemas.openxmlformats.org/drawingml/2006/main">
              <a:ext uri="{FF2B5EF4-FFF2-40B4-BE49-F238E27FC236}">
                <a16:creationId xmlns:a16="http://schemas.microsoft.com/office/drawing/2014/main" id="{B37CF0C0-876B-435A-8EE8-7E8726E15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3" name="kicker-tests-label">
            <a:extLst xmlns:a="http://schemas.openxmlformats.org/drawingml/2006/main">
              <a:ext uri="{FF2B5EF4-FFF2-40B4-BE49-F238E27FC236}">
                <a16:creationId xmlns:a16="http://schemas.microsoft.com/office/drawing/2014/main" id="{A498CBDD-6E3E-4872-945F-D917F847B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3815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9D4E5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75" b="1">
                <a:solidFill>
                  <a:srgbClr val="C9D4E5"/>
                </a:solidFill>
                <a:latin typeface="Segoe UI Semibold"/>
                <a:ea typeface="Segoe UI Semibold"/>
                <a:cs typeface="Segoe UI Semibold"/>
              </a:rPr>
              <a:t>ТЕХНИЧЕСКАЯ РЕАЛИЗАЦИЯ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8BE106-8AA8-4E61-B465-A2B110E41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334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33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Тесты проверяют контролируемые слои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B645C0-AD73-46BF-9FE3-EECDEE610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43050"/>
            <a:ext cx="8572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Мы честно покрываем локальную логику: сценарии, обработчики, тексты интерфейса, YDB-схему, очередь уведомлений и адаптеры.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7F7D11-8452-4BB0-8861-D1FD67A54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86050"/>
            <a:ext cx="2095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31415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3CD892-0128-4CA0-99E1-F8F436DDA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86050"/>
            <a:ext cx="76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D0F1F2-CA71-4F9A-8627-4B3CA17EC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57500"/>
            <a:ext cx="16764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158 тестов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80E30C-4F07-46D6-840E-180013564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00400"/>
            <a:ext cx="1676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собираются через pytest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CC45A7-8F65-4097-B1AE-991940FA5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686050"/>
            <a:ext cx="2095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31415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38F95B-21B7-45E9-8E8D-86F6F8DC6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686050"/>
            <a:ext cx="76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865702-B517-4164-90F5-4BB4269E7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857500"/>
            <a:ext cx="16764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Тексты интерфейса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5F9D76-6022-42CE-8642-4D014A4C3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200400"/>
            <a:ext cx="1676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кнопки, эмодзи, пробелы, глоссарий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F1C516-D03C-4EBA-A5BB-EC4A3913B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686050"/>
            <a:ext cx="2095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31415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1BBBEB-EE0B-4DD9-BFE6-EBB5AE74D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686050"/>
            <a:ext cx="76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76"/>
          </a:solidFill>
          <a:ln xmlns:a="http://schemas.openxmlformats.org/drawingml/2006/main" w="0">
            <a:solidFill>
              <a:srgbClr val="00A67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BA0EA6-41A4-4673-B3A5-6BCB2BEEF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857500"/>
            <a:ext cx="16764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Сценарии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BD4B86-17AC-4F64-A652-DCFBC2BEB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200400"/>
            <a:ext cx="1676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запись, отмена, слоты, Организатор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81E2D5-FDB4-4490-A6A5-B2BBC7930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686050"/>
            <a:ext cx="2095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31415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1B5587-FCB8-48E9-B48D-6444B747D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686050"/>
            <a:ext cx="76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0BFD39-8742-464B-B6C8-55E8D6813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57500"/>
            <a:ext cx="16764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YDB и очередь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1B2CDE-5BD1-412F-B8D1-E606AD1D4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200400"/>
            <a:ext cx="1676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схема, транзакции, notification_outbox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FF481B-77A1-4080-8C16-B0CECFF6D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29100"/>
            <a:ext cx="4267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31415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03EE14-2720-4028-99DB-2F3067BA3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29100"/>
            <a:ext cx="76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1D48"/>
          </a:solidFill>
          <a:ln xmlns:a="http://schemas.openxmlformats.org/drawingml/2006/main" w="0">
            <a:solidFill>
              <a:srgbClr val="E11D4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14573E1-FE08-43A4-B402-5A4AE30FE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00550"/>
            <a:ext cx="3848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Безопасность данных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17D38E-FCFB-4595-8732-FAF7C9839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743450"/>
            <a:ext cx="3848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храним только нужное: MAX id, отображаемое имя, выбранное мероприятие, код и статус записи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8FDC2C1-5C77-4F3B-8BEA-107A531A7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229100"/>
            <a:ext cx="4267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31415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EF5C46D-B6FD-4891-A10F-9D5B53F8B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229100"/>
            <a:ext cx="76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76"/>
          </a:solidFill>
          <a:ln xmlns:a="http://schemas.openxmlformats.org/drawingml/2006/main" w="0">
            <a:solidFill>
              <a:srgbClr val="00A67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ED46834-5DD3-4A10-AF35-1BCD9F5B2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400550"/>
            <a:ext cx="3848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Границы интеграции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D59D1FD-4B0B-4006-A676-822A9C14F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743450"/>
            <a:ext cx="3848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тестируем свои обработчики, webhook payload, таймер и адаптер клиента, а не саму внешнюю платформу MAX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5787020-7EAA-44DB-8713-58DCDC5B1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772150"/>
            <a:ext cx="876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Итог: надежность доказывается там, где продукт реально контролирует поведение.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A0B6AD9-08DE-4613-AC22-B3AD6FB78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1809A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71809A"/>
                </a:solidFill>
                <a:latin typeface="Segoe UI"/>
                <a:ea typeface="Segoe UI"/>
                <a:cs typeface="Segoe UI"/>
              </a:rPr>
              <a:t>MAX-бот записи на мероприятия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CFEF59A-CF06-4EC0-8C83-A387A1B49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71809A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71809A"/>
                </a:solidFill>
                <a:latin typeface="Segoe UI"/>
                <a:ea typeface="Segoe UI"/>
                <a:cs typeface="Segoe U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645817374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3869D43-08DB-46B3-9B9E-AD9C6268F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F172A"/>
            </a:solidFill>
            <a:prstDash val="solid"/>
          </a:ln>
        </p:spPr>
      </p:sp>
      <p:sp>
        <p:nvSpPr>
          <p:cNvPr id="2" name="kicker-growth-marker">
            <a:extLst xmlns:a="http://schemas.openxmlformats.org/drawingml/2006/main">
              <a:ext uri="{FF2B5EF4-FFF2-40B4-BE49-F238E27FC236}">
                <a16:creationId xmlns:a16="http://schemas.microsoft.com/office/drawing/2014/main" id="{30347ED0-FDA1-412A-A628-D24FDB969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76"/>
          </a:solidFill>
          <a:ln xmlns:a="http://schemas.openxmlformats.org/drawingml/2006/main" w="0">
            <a:solidFill>
              <a:srgbClr val="00A676"/>
            </a:solidFill>
            <a:prstDash val="solid"/>
          </a:ln>
        </p:spPr>
      </p:sp>
      <p:sp>
        <p:nvSpPr>
          <p:cNvPr id="3" name="kicker-growth-label">
            <a:extLst xmlns:a="http://schemas.openxmlformats.org/drawingml/2006/main">
              <a:ext uri="{FF2B5EF4-FFF2-40B4-BE49-F238E27FC236}">
                <a16:creationId xmlns:a16="http://schemas.microsoft.com/office/drawing/2014/main" id="{181D4BAD-3369-4AC7-8C79-7D6D332AF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3815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9D4E5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75" b="1">
                <a:solidFill>
                  <a:srgbClr val="C9D4E5"/>
                </a:solidFill>
                <a:latin typeface="Segoe UI Semibold"/>
                <a:ea typeface="Segoe UI Semibold"/>
                <a:cs typeface="Segoe UI Semibold"/>
              </a:rPr>
              <a:t>ТЕХНИЧЕСКАЯ РЕАЛИЗАЦИЯ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97DAE9-3CD3-4CEF-9892-44FB8EE6D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838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33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Монетизация как набор ветвей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E8AC73-9F92-4CC2-BB79-B82F42247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43050"/>
            <a:ext cx="8572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Здесь нет линейной цепочки: разные заказчики покупают разные ценности вокруг одной точки входа в мероприятия.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FC29AD-C1E3-4196-A304-84650C88B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781300"/>
            <a:ext cx="3429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31415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9C34F0-A112-4AA0-88AB-23815508B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781300"/>
            <a:ext cx="76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76"/>
          </a:solidFill>
          <a:ln xmlns:a="http://schemas.openxmlformats.org/drawingml/2006/main" w="0">
            <a:solidFill>
              <a:srgbClr val="00A67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D7ECD8-057A-4CBC-9DD3-CC709B661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952750"/>
            <a:ext cx="3009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Бот как точка входа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7026D7-9EB6-4C88-9785-0FEDD36EE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295650"/>
            <a:ext cx="30099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запись, посещение, напоминания и журнал действий собираются в одном контуре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408529-A306-4A3F-BCCA-FE503745F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47950"/>
            <a:ext cx="26479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31415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853760-3AA4-4418-8334-515F1AE52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47950"/>
            <a:ext cx="76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D73B21-E9EA-4F7B-8F69-8AC2CCE8D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19400"/>
            <a:ext cx="2228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Приоритетные места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EC96AD-6D5A-4E4E-85B4-D0C10EA72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162300"/>
            <a:ext cx="2228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платное продвижение мероприятий в верх каталога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9BDDDB-8038-4D90-B675-0FB1B813C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647950"/>
            <a:ext cx="26479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31415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7B68F7-E1F3-4BD1-8643-892A0077E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647950"/>
            <a:ext cx="76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08A276-F9BD-49DA-82DB-343013E4B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19400"/>
            <a:ext cx="2228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Статистика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2C5BEC-958D-4CE8-B01B-0BE5975B2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62300"/>
            <a:ext cx="2228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конверсия из просмотра в запись, посещаемость, отмены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CE98A0-C040-4B13-ABCF-1117F53D2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33900"/>
            <a:ext cx="26479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31415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3C53FA-5C3E-45CA-80DD-09CA0AE1D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33900"/>
            <a:ext cx="76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1B19AE-8C4D-490B-B2B0-C0F5135EE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705350"/>
            <a:ext cx="2228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Панель действий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055AFD-DBD8-4538-B96B-654BA6DA3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048250"/>
            <a:ext cx="2228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Grafana, Loki, Prometheus и журнал всех операций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56A681-7CBD-4F43-BED6-F2EE538BB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533900"/>
            <a:ext cx="26479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31415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BCB467-6B35-4F2A-AE6B-27DD09D8F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533900"/>
            <a:ext cx="76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1D48"/>
          </a:solidFill>
          <a:ln xmlns:a="http://schemas.openxmlformats.org/drawingml/2006/main" w="0">
            <a:solidFill>
              <a:srgbClr val="E11D4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C26201-9B38-4732-92B2-56C50932C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705350"/>
            <a:ext cx="2228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Аналитические отчеты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88D9DC4-CD51-4A83-BF51-6328E1542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048250"/>
            <a:ext cx="2228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обезличенные срезы интересов групп пользователей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0D8096-EA76-4D90-9F7C-0ED28908D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9626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Популярность объясняется простотой: человек быстро достигает цели, а бизнес легко расширяет правила вокруг этого пути.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0E2D1CD-E119-4E2C-9AD8-8CD9A7A19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1809A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71809A"/>
                </a:solidFill>
                <a:latin typeface="Segoe UI"/>
                <a:ea typeface="Segoe UI"/>
                <a:cs typeface="Segoe UI"/>
              </a:rPr>
              <a:t>MAX-бот записи на мероприятия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B257253-B5A9-41DB-9D55-1D8AB3BC4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71809A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71809A"/>
                </a:solidFill>
                <a:latin typeface="Segoe UI"/>
                <a:ea typeface="Segoe UI"/>
                <a:cs typeface="Segoe U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529389849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5ABF41E-17F3-4A2D-BF2B-6CA818C7F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F172A"/>
            </a:solidFill>
            <a:prstDash val="solid"/>
          </a:ln>
        </p:spPr>
      </p:sp>
      <p:sp>
        <p:nvSpPr>
          <p:cNvPr id="2" name="kicker-thanks-marker">
            <a:extLst xmlns:a="http://schemas.openxmlformats.org/drawingml/2006/main">
              <a:ext uri="{FF2B5EF4-FFF2-40B4-BE49-F238E27FC236}">
                <a16:creationId xmlns:a16="http://schemas.microsoft.com/office/drawing/2014/main" id="{9255246B-AB8D-4BFD-A73F-2290E7D80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76"/>
          </a:solidFill>
          <a:ln xmlns:a="http://schemas.openxmlformats.org/drawingml/2006/main" w="0">
            <a:solidFill>
              <a:srgbClr val="00A676"/>
            </a:solidFill>
            <a:prstDash val="solid"/>
          </a:ln>
        </p:spPr>
      </p:sp>
      <p:sp>
        <p:nvSpPr>
          <p:cNvPr id="3" name="kicker-thanks-label">
            <a:extLst xmlns:a="http://schemas.openxmlformats.org/drawingml/2006/main">
              <a:ext uri="{FF2B5EF4-FFF2-40B4-BE49-F238E27FC236}">
                <a16:creationId xmlns:a16="http://schemas.microsoft.com/office/drawing/2014/main" id="{4AE43B40-FFBB-40E0-85B5-974AE4EC0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3815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9D4E5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75" b="1">
                <a:solidFill>
                  <a:srgbClr val="C9D4E5"/>
                </a:solidFill>
                <a:latin typeface="Segoe UI Semibold"/>
                <a:ea typeface="Segoe UI Semibold"/>
                <a:cs typeface="Segoe UI Semibold"/>
              </a:rPr>
              <a:t>ФИНАЛ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DDC287-EAE5-4F96-8021-8E443AB1E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81915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48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Спасибо за внимание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958263-0130-47CD-B567-E3F2D99D8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47900"/>
            <a:ext cx="8191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80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Готовы показать демо и ответить на вопросы по продукту, архитектуре и развитию.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EFAD4E-2448-4A90-A35F-3D2160876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09950"/>
            <a:ext cx="2952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31415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FF0AE4-94E0-4409-844A-FC5479071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09950"/>
            <a:ext cx="762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6E9BC1-E8B4-4803-9C51-6C87DA37F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81400"/>
            <a:ext cx="2533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Пользователю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B91B42-03E1-4D4C-8F90-815CFD4C1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24300"/>
            <a:ext cx="2533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записаться быстро и не потерять код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F114F9-678C-4858-9E3B-8E19EF46E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409950"/>
            <a:ext cx="2952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31415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D02BC7-BB03-4E36-A8F3-0412E699F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409950"/>
            <a:ext cx="762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76"/>
          </a:solidFill>
          <a:ln xmlns:a="http://schemas.openxmlformats.org/drawingml/2006/main" w="0">
            <a:solidFill>
              <a:srgbClr val="00A67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B85E86-8AFC-43FE-A7A8-150939004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581400"/>
            <a:ext cx="2533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Организатору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93C078-7841-413D-92D8-15E52EC7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924300"/>
            <a:ext cx="2533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создать мероприятие, разослать ссылку, отметить вход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46E5E2-265E-42F5-BE7F-DF23A9E72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409950"/>
            <a:ext cx="2952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31415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DEE86D-C5B8-4ED3-BEF1-B5BA645F2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409950"/>
            <a:ext cx="762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FFBACD-A07A-439C-B1C6-8614247A0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581400"/>
            <a:ext cx="2533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Проекту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6FC133-FB70-4449-ABF9-796B7E1A2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924300"/>
            <a:ext cx="2533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российский/open stack, тесты и понятная монетизация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9D40C6-147C-4EFC-8F2C-A761F708C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95900"/>
            <a:ext cx="4000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MAX-бот записи на мероприятия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A8A811-F95C-4F44-B90D-3CE050C54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1809A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71809A"/>
                </a:solidFill>
                <a:latin typeface="Segoe UI"/>
                <a:ea typeface="Segoe UI"/>
                <a:cs typeface="Segoe UI"/>
              </a:rPr>
              <a:t>MAX-бот записи на мероприятия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1CBEDC-B75D-4705-AB61-B130B4E90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77000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71809A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71809A"/>
                </a:solidFill>
                <a:latin typeface="Segoe UI"/>
                <a:ea typeface="Segoe UI"/>
                <a:cs typeface="Segoe U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88711273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2026-05-24T23:40:18.3760000Z</dcterms:created>
  <dcterms:modified xsi:type="dcterms:W3CDTF">2026-05-24T23:40:18.3760000Z</dcterms:modified>
</coreProperties>
</file>