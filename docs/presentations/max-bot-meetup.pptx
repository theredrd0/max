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7360" autoAdjust="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План</a:t>
            </a:r>
            <a:r>
              <a:rPr dirty="0"/>
              <a:t> </a:t>
            </a:r>
            <a:r>
              <a:rPr dirty="0" err="1"/>
              <a:t>рассказа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Начать</a:t>
            </a:r>
            <a:r>
              <a:rPr dirty="0"/>
              <a:t> с </a:t>
            </a:r>
            <a:r>
              <a:rPr dirty="0" err="1"/>
              <a:t>тезиса</a:t>
            </a:r>
            <a:r>
              <a:rPr dirty="0"/>
              <a:t>: </a:t>
            </a:r>
            <a:r>
              <a:rPr dirty="0" err="1"/>
              <a:t>продукт</a:t>
            </a:r>
            <a:r>
              <a:rPr dirty="0"/>
              <a:t> </a:t>
            </a:r>
            <a:r>
              <a:rPr dirty="0" err="1"/>
              <a:t>ценен</a:t>
            </a:r>
            <a:r>
              <a:rPr dirty="0"/>
              <a:t> </a:t>
            </a:r>
            <a:r>
              <a:rPr dirty="0" err="1"/>
              <a:t>скоростью</a:t>
            </a:r>
            <a:r>
              <a:rPr dirty="0"/>
              <a:t> и </a:t>
            </a:r>
            <a:r>
              <a:rPr dirty="0" err="1"/>
              <a:t>простотой</a:t>
            </a:r>
            <a:r>
              <a:rPr dirty="0"/>
              <a:t>, а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самим</a:t>
            </a:r>
            <a:r>
              <a:rPr dirty="0"/>
              <a:t> </a:t>
            </a:r>
            <a:r>
              <a:rPr dirty="0" err="1"/>
              <a:t>фактом</a:t>
            </a:r>
            <a:r>
              <a:rPr dirty="0"/>
              <a:t> </a:t>
            </a:r>
            <a:r>
              <a:rPr dirty="0" err="1"/>
              <a:t>бота</a:t>
            </a:r>
            <a:r>
              <a:rPr dirty="0"/>
              <a:t>.</a:t>
            </a:r>
          </a:p>
          <a:p>
            <a:r>
              <a:rPr dirty="0"/>
              <a:t>- </a:t>
            </a:r>
            <a:r>
              <a:rPr dirty="0" err="1"/>
              <a:t>Объяснить</a:t>
            </a:r>
            <a:r>
              <a:rPr dirty="0"/>
              <a:t>, </a:t>
            </a: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сначала</a:t>
            </a:r>
            <a:r>
              <a:rPr dirty="0"/>
              <a:t> </a:t>
            </a:r>
            <a:r>
              <a:rPr dirty="0" err="1"/>
              <a:t>покажем</a:t>
            </a:r>
            <a:r>
              <a:rPr dirty="0"/>
              <a:t> </a:t>
            </a:r>
            <a:r>
              <a:rPr dirty="0" err="1"/>
              <a:t>путь</a:t>
            </a:r>
            <a:r>
              <a:rPr dirty="0"/>
              <a:t> </a:t>
            </a:r>
            <a:r>
              <a:rPr dirty="0" err="1"/>
              <a:t>участника</a:t>
            </a:r>
            <a:r>
              <a:rPr dirty="0"/>
              <a:t> и </a:t>
            </a:r>
            <a:r>
              <a:rPr dirty="0" err="1"/>
              <a:t>Организатора</a:t>
            </a:r>
            <a:r>
              <a:rPr dirty="0"/>
              <a:t>, </a:t>
            </a:r>
            <a:r>
              <a:rPr dirty="0" err="1"/>
              <a:t>затем</a:t>
            </a:r>
            <a:r>
              <a:rPr dirty="0"/>
              <a:t> </a:t>
            </a:r>
            <a:r>
              <a:rPr dirty="0" err="1"/>
              <a:t>технику</a:t>
            </a:r>
            <a:r>
              <a:rPr dirty="0"/>
              <a:t> и </a:t>
            </a:r>
            <a:r>
              <a:rPr dirty="0" err="1"/>
              <a:t>рынок</a:t>
            </a:r>
            <a:r>
              <a:rPr dirty="0"/>
              <a:t>.</a:t>
            </a:r>
          </a:p>
          <a:p>
            <a:r>
              <a:rPr dirty="0"/>
              <a:t>- </a:t>
            </a:r>
            <a:r>
              <a:rPr dirty="0" err="1"/>
              <a:t>Отдельно</a:t>
            </a:r>
            <a:r>
              <a:rPr dirty="0"/>
              <a:t> </a:t>
            </a:r>
            <a:r>
              <a:rPr dirty="0" err="1"/>
              <a:t>отметить</a:t>
            </a:r>
            <a:r>
              <a:rPr dirty="0"/>
              <a:t>: </a:t>
            </a:r>
            <a:r>
              <a:rPr dirty="0" err="1"/>
              <a:t>живые</a:t>
            </a:r>
            <a:r>
              <a:rPr dirty="0"/>
              <a:t> </a:t>
            </a:r>
            <a:r>
              <a:rPr dirty="0" err="1"/>
              <a:t>скриншоты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вставлены</a:t>
            </a:r>
            <a:r>
              <a:rPr dirty="0"/>
              <a:t>,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них</a:t>
            </a:r>
            <a:r>
              <a:rPr dirty="0"/>
              <a:t> </a:t>
            </a:r>
            <a:r>
              <a:rPr dirty="0" err="1"/>
              <a:t>оставлены</a:t>
            </a:r>
            <a:r>
              <a:rPr dirty="0"/>
              <a:t> </a:t>
            </a:r>
            <a:r>
              <a:rPr dirty="0" err="1"/>
              <a:t>крупные</a:t>
            </a:r>
            <a:r>
              <a:rPr dirty="0"/>
              <a:t> </a:t>
            </a:r>
            <a:r>
              <a:rPr dirty="0" err="1"/>
              <a:t>места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рассказа:</a:t>
            </a:r>
          </a:p>
          <a:p>
            <a:r>
              <a:t>- Показать крупный скриншот главного меню.</a:t>
            </a:r>
          </a:p>
          <a:p>
            <a:r>
              <a:t>- Сказать, что интерфейс не требует обучения: путь начинается с понятных кнопок.</a:t>
            </a:r>
          </a:p>
          <a:p>
            <a:r>
              <a:t>- Подчеркнуть возможность найти мероприятия самостоятельно, а не только по ссылке.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рассказа:</a:t>
            </a:r>
          </a:p>
          <a:p>
            <a:r>
              <a:t>- Показать карточку мероприятия крупно, чтобы жюри видело структуру.</a:t>
            </a:r>
          </a:p>
          <a:p>
            <a:r>
              <a:t>- Сделать акцент на отдельных полях: дата, время, требования, место, слоты.</a:t>
            </a:r>
          </a:p>
          <a:p>
            <a:r>
              <a:t>- Подвести к следующему слайду: кнопка Поделиться превращает карточку в ссылку для рассылки.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План</a:t>
            </a:r>
            <a:r>
              <a:rPr dirty="0"/>
              <a:t> </a:t>
            </a:r>
            <a:r>
              <a:rPr dirty="0" err="1"/>
              <a:t>рассказа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Показать</a:t>
            </a:r>
            <a:r>
              <a:rPr dirty="0"/>
              <a:t> </a:t>
            </a:r>
            <a:r>
              <a:rPr dirty="0" err="1"/>
              <a:t>экран</a:t>
            </a:r>
            <a:r>
              <a:rPr dirty="0"/>
              <a:t> </a:t>
            </a:r>
            <a:r>
              <a:rPr dirty="0" err="1"/>
              <a:t>своих</a:t>
            </a:r>
            <a:r>
              <a:rPr dirty="0"/>
              <a:t> </a:t>
            </a:r>
            <a:r>
              <a:rPr dirty="0" err="1"/>
              <a:t>записей</a:t>
            </a:r>
            <a:r>
              <a:rPr dirty="0"/>
              <a:t> </a:t>
            </a:r>
            <a:r>
              <a:rPr dirty="0" err="1"/>
              <a:t>крупно</a:t>
            </a:r>
            <a:r>
              <a:rPr dirty="0"/>
              <a:t>.</a:t>
            </a:r>
          </a:p>
          <a:p>
            <a:r>
              <a:rPr dirty="0"/>
              <a:t>- </a:t>
            </a:r>
            <a:r>
              <a:rPr dirty="0" err="1"/>
              <a:t>Пояснить</a:t>
            </a:r>
            <a:r>
              <a:rPr dirty="0"/>
              <a:t>, </a:t>
            </a: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пользователь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тратит</a:t>
            </a:r>
            <a:r>
              <a:rPr dirty="0"/>
              <a:t> </a:t>
            </a:r>
            <a:r>
              <a:rPr dirty="0" err="1"/>
              <a:t>время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поиск</a:t>
            </a:r>
            <a:r>
              <a:rPr dirty="0"/>
              <a:t> </a:t>
            </a:r>
            <a:r>
              <a:rPr dirty="0" err="1"/>
              <a:t>билета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письма</a:t>
            </a:r>
            <a:r>
              <a:rPr dirty="0"/>
              <a:t>.</a:t>
            </a:r>
          </a:p>
          <a:p>
            <a:r>
              <a:rPr dirty="0"/>
              <a:t>- </a:t>
            </a:r>
            <a:r>
              <a:rPr dirty="0" err="1"/>
              <a:t>Сказать</a:t>
            </a:r>
            <a:r>
              <a:rPr dirty="0"/>
              <a:t>, </a:t>
            </a: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бот</a:t>
            </a:r>
            <a:r>
              <a:rPr dirty="0"/>
              <a:t> </a:t>
            </a:r>
            <a:r>
              <a:rPr dirty="0" err="1"/>
              <a:t>доводит</a:t>
            </a:r>
            <a:r>
              <a:rPr dirty="0"/>
              <a:t> </a:t>
            </a:r>
            <a:r>
              <a:rPr dirty="0" err="1"/>
              <a:t>путь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</a:t>
            </a:r>
            <a:r>
              <a:rPr dirty="0" err="1"/>
              <a:t>входа</a:t>
            </a:r>
            <a:r>
              <a:rPr dirty="0"/>
              <a:t>: </a:t>
            </a:r>
            <a:r>
              <a:rPr dirty="0" err="1"/>
              <a:t>код</a:t>
            </a:r>
            <a:r>
              <a:rPr dirty="0"/>
              <a:t>, </a:t>
            </a:r>
            <a:r>
              <a:rPr dirty="0" err="1"/>
              <a:t>статус</a:t>
            </a:r>
            <a:r>
              <a:rPr dirty="0"/>
              <a:t> и </a:t>
            </a:r>
            <a:r>
              <a:rPr dirty="0" err="1"/>
              <a:t>напоминания</a:t>
            </a:r>
            <a:r>
              <a:rPr dirty="0"/>
              <a:t> в </a:t>
            </a:r>
            <a:r>
              <a:rPr dirty="0" err="1"/>
              <a:t>одном</a:t>
            </a:r>
            <a:r>
              <a:rPr dirty="0"/>
              <a:t> </a:t>
            </a:r>
            <a:r>
              <a:rPr dirty="0" err="1"/>
              <a:t>месте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рассказа:</a:t>
            </a:r>
          </a:p>
          <a:p>
            <a:r>
              <a:t>- Рассказать про отправку ссылки на мероприятие в массовые чаты.</a:t>
            </a:r>
          </a:p>
          <a:p>
            <a:r>
              <a:t>- Подчеркнуть, что ссылка ведет сразу в карточку, а не в общее меню.</a:t>
            </a:r>
          </a:p>
          <a:p>
            <a:r>
              <a:t>- Сформулировать выгоду: меньше шагов, выше шанс, что человек реально запишется.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План</a:t>
            </a:r>
            <a:r>
              <a:rPr dirty="0"/>
              <a:t> </a:t>
            </a:r>
            <a:r>
              <a:rPr dirty="0" err="1"/>
              <a:t>рассказа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Показать</a:t>
            </a:r>
            <a:r>
              <a:rPr dirty="0"/>
              <a:t>, </a:t>
            </a: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продукт</a:t>
            </a:r>
            <a:r>
              <a:rPr dirty="0"/>
              <a:t> </a:t>
            </a:r>
            <a:r>
              <a:rPr dirty="0" err="1"/>
              <a:t>закрывает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запись</a:t>
            </a:r>
            <a:r>
              <a:rPr dirty="0"/>
              <a:t>, </a:t>
            </a:r>
            <a:r>
              <a:rPr dirty="0" err="1"/>
              <a:t>но</a:t>
            </a:r>
            <a:r>
              <a:rPr dirty="0"/>
              <a:t> и </a:t>
            </a:r>
            <a:r>
              <a:rPr dirty="0" err="1"/>
              <a:t>возврат</a:t>
            </a:r>
            <a:r>
              <a:rPr dirty="0"/>
              <a:t> </a:t>
            </a:r>
            <a:r>
              <a:rPr dirty="0" err="1"/>
              <a:t>участника</a:t>
            </a:r>
            <a:r>
              <a:rPr dirty="0"/>
              <a:t> к </a:t>
            </a:r>
            <a:r>
              <a:rPr dirty="0" err="1"/>
              <a:t>мероприятию</a:t>
            </a:r>
            <a:r>
              <a:rPr dirty="0"/>
              <a:t>.</a:t>
            </a:r>
          </a:p>
          <a:p>
            <a:r>
              <a:rPr dirty="0"/>
              <a:t>- </a:t>
            </a:r>
            <a:r>
              <a:rPr dirty="0" err="1"/>
              <a:t>Объяснить</a:t>
            </a:r>
            <a:r>
              <a:rPr dirty="0"/>
              <a:t> </a:t>
            </a:r>
            <a:r>
              <a:rPr dirty="0" err="1"/>
              <a:t>цепочку</a:t>
            </a:r>
            <a:r>
              <a:rPr dirty="0"/>
              <a:t> </a:t>
            </a:r>
            <a:r>
              <a:rPr dirty="0" err="1"/>
              <a:t>автоматических</a:t>
            </a:r>
            <a:r>
              <a:rPr dirty="0"/>
              <a:t> </a:t>
            </a:r>
            <a:r>
              <a:rPr dirty="0" err="1"/>
              <a:t>напоминаний</a:t>
            </a:r>
            <a:r>
              <a:rPr dirty="0"/>
              <a:t> и </a:t>
            </a:r>
            <a:r>
              <a:rPr dirty="0" err="1"/>
              <a:t>ручные</a:t>
            </a:r>
            <a:r>
              <a:rPr dirty="0"/>
              <a:t> </a:t>
            </a:r>
            <a:r>
              <a:rPr dirty="0" err="1"/>
              <a:t>уведомления</a:t>
            </a:r>
            <a:r>
              <a:rPr dirty="0"/>
              <a:t> </a:t>
            </a:r>
            <a:r>
              <a:rPr dirty="0" err="1"/>
              <a:t>Организатора</a:t>
            </a:r>
            <a:r>
              <a:rPr dirty="0"/>
              <a:t>.</a:t>
            </a:r>
          </a:p>
          <a:p>
            <a:r>
              <a:rPr dirty="0"/>
              <a:t>- </a:t>
            </a:r>
            <a:r>
              <a:rPr dirty="0" err="1"/>
              <a:t>Связать</a:t>
            </a:r>
            <a:r>
              <a:rPr dirty="0"/>
              <a:t> </a:t>
            </a:r>
            <a:r>
              <a:rPr dirty="0" err="1"/>
              <a:t>notification_outbox</a:t>
            </a:r>
            <a:r>
              <a:rPr dirty="0"/>
              <a:t> с </a:t>
            </a:r>
            <a:r>
              <a:rPr dirty="0" err="1"/>
              <a:t>надежной</a:t>
            </a:r>
            <a:r>
              <a:rPr dirty="0"/>
              <a:t> </a:t>
            </a:r>
            <a:r>
              <a:rPr dirty="0" err="1"/>
              <a:t>доставкой</a:t>
            </a:r>
            <a:r>
              <a:rPr dirty="0"/>
              <a:t> </a:t>
            </a:r>
            <a:r>
              <a:rPr dirty="0" err="1"/>
              <a:t>сообщений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рассказа:</a:t>
            </a:r>
          </a:p>
          <a:p>
            <a:r>
              <a:t>- Перейти к контуру Организатора.</a:t>
            </a:r>
          </a:p>
          <a:p>
            <a:r>
              <a:t>- Показать, что мероприятие собирается из понятных структурных блоков.</a:t>
            </a:r>
          </a:p>
          <a:p>
            <a:r>
              <a:t>- Связать это с масштабируемостью: такие поля проще использовать для фильтров, аналитики и бизнес-правил.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План</a:t>
            </a:r>
            <a:r>
              <a:rPr dirty="0"/>
              <a:t> </a:t>
            </a:r>
            <a:r>
              <a:rPr dirty="0" err="1"/>
              <a:t>рассказа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Показать</a:t>
            </a:r>
            <a:r>
              <a:rPr dirty="0"/>
              <a:t> </a:t>
            </a:r>
            <a:r>
              <a:rPr dirty="0" err="1"/>
              <a:t>исправленный</a:t>
            </a:r>
            <a:r>
              <a:rPr dirty="0"/>
              <a:t> </a:t>
            </a:r>
            <a:r>
              <a:rPr dirty="0" err="1"/>
              <a:t>основной</a:t>
            </a:r>
            <a:r>
              <a:rPr dirty="0"/>
              <a:t> </a:t>
            </a:r>
            <a:r>
              <a:rPr dirty="0" err="1"/>
              <a:t>поток</a:t>
            </a:r>
            <a:r>
              <a:rPr dirty="0"/>
              <a:t>: </a:t>
            </a:r>
            <a:r>
              <a:rPr dirty="0" err="1"/>
              <a:t>код</a:t>
            </a:r>
            <a:r>
              <a:rPr dirty="0"/>
              <a:t> -&gt; </a:t>
            </a:r>
            <a:r>
              <a:rPr dirty="0" err="1"/>
              <a:t>подтверждение</a:t>
            </a:r>
            <a:r>
              <a:rPr dirty="0"/>
              <a:t> -&gt; </a:t>
            </a:r>
            <a:r>
              <a:rPr dirty="0" err="1"/>
              <a:t>статус</a:t>
            </a:r>
            <a:r>
              <a:rPr dirty="0"/>
              <a:t>.</a:t>
            </a:r>
          </a:p>
          <a:p>
            <a:r>
              <a:rPr dirty="0"/>
              <a:t>- </a:t>
            </a:r>
            <a:r>
              <a:rPr dirty="0" err="1"/>
              <a:t>Отдельно</a:t>
            </a:r>
            <a:r>
              <a:rPr dirty="0"/>
              <a:t> </a:t>
            </a:r>
            <a:r>
              <a:rPr dirty="0" err="1"/>
              <a:t>сказать</a:t>
            </a:r>
            <a:r>
              <a:rPr dirty="0"/>
              <a:t>, </a:t>
            </a: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поиск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имени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профилю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часть</a:t>
            </a:r>
            <a:r>
              <a:rPr dirty="0"/>
              <a:t> </a:t>
            </a:r>
            <a:r>
              <a:rPr dirty="0" err="1"/>
              <a:t>стрелочной</a:t>
            </a:r>
            <a:r>
              <a:rPr dirty="0"/>
              <a:t> </a:t>
            </a:r>
            <a:r>
              <a:rPr dirty="0" err="1"/>
              <a:t>цепочки</a:t>
            </a:r>
            <a:r>
              <a:rPr dirty="0"/>
              <a:t>, а </a:t>
            </a:r>
            <a:r>
              <a:rPr dirty="0" err="1"/>
              <a:t>запасной</a:t>
            </a:r>
            <a:r>
              <a:rPr dirty="0"/>
              <a:t> </a:t>
            </a:r>
            <a:r>
              <a:rPr dirty="0" err="1"/>
              <a:t>путь</a:t>
            </a:r>
            <a:r>
              <a:rPr dirty="0"/>
              <a:t>.</a:t>
            </a:r>
          </a:p>
          <a:p>
            <a:r>
              <a:rPr dirty="0"/>
              <a:t>- </a:t>
            </a:r>
            <a:r>
              <a:rPr dirty="0" err="1"/>
              <a:t>Подчеркнуть</a:t>
            </a:r>
            <a:r>
              <a:rPr dirty="0"/>
              <a:t> </a:t>
            </a:r>
            <a:r>
              <a:rPr dirty="0" err="1"/>
              <a:t>ценность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входе</a:t>
            </a:r>
            <a:r>
              <a:rPr dirty="0"/>
              <a:t>: </a:t>
            </a:r>
            <a:r>
              <a:rPr dirty="0" err="1"/>
              <a:t>меньше</a:t>
            </a:r>
            <a:r>
              <a:rPr dirty="0"/>
              <a:t> </a:t>
            </a:r>
            <a:r>
              <a:rPr dirty="0" err="1"/>
              <a:t>ручных</a:t>
            </a:r>
            <a:r>
              <a:rPr dirty="0"/>
              <a:t> </a:t>
            </a:r>
            <a:r>
              <a:rPr dirty="0" err="1"/>
              <a:t>списков</a:t>
            </a:r>
            <a:r>
              <a:rPr dirty="0"/>
              <a:t> и </a:t>
            </a:r>
            <a:r>
              <a:rPr dirty="0" err="1"/>
              <a:t>меньше</a:t>
            </a:r>
            <a:r>
              <a:rPr dirty="0"/>
              <a:t> </a:t>
            </a:r>
            <a:r>
              <a:rPr dirty="0" err="1"/>
              <a:t>ошибок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рассказа:</a:t>
            </a:r>
          </a:p>
          <a:p>
            <a:r>
              <a:t>- Пояснить, что этот слайд связывает продукт с финальными критериями оценки.</a:t>
            </a:r>
          </a:p>
          <a:p>
            <a:r>
              <a:t>- Командную работу не обсуждать: вместо нее показать надежность и тесты как часть продукта.</a:t>
            </a:r>
          </a:p>
          <a:p>
            <a:r>
              <a:t>- Сделать мост к темной технической части: теперь понятно, зачем нужна архитектура и стек.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рассказа:</a:t>
            </a:r>
          </a:p>
          <a:p>
            <a:r>
              <a:t>- Объяснить визуальное разделение: с этого слайда начинается техническая часть.</a:t>
            </a:r>
          </a:p>
          <a:p>
            <a:r>
              <a:t>- Расшифровать значки RU и OSS: российская технология или открытый исходный код.</a:t>
            </a:r>
          </a:p>
          <a:p>
            <a:r>
              <a:t>- Подчеркнуть, что почти весь стек безопасен для импортозамещения: российский продакшен-контур плюс открытые инструменты разработки.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рассказа:</a:t>
            </a:r>
          </a:p>
          <a:p>
            <a:r>
              <a:t>- Пройти архитектуру слева направо: MAX, функция, обработчик, сервисы, YDB.</a:t>
            </a:r>
          </a:p>
          <a:p>
            <a:r>
              <a:t>- Сказать, что простота здесь плюс: меньше инфраструктуры, проще поддерживать и деплоить.</a:t>
            </a:r>
          </a:p>
          <a:p>
            <a:r>
              <a:t>- Упомянуть очередь уведомлений и журнал действий как точки надежности.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рассказа:</a:t>
            </a:r>
          </a:p>
          <a:p>
            <a:r>
              <a:t>- Сказать честно: тесты не проверяют MAX как внешнюю платформу целиком.</a:t>
            </a:r>
          </a:p>
          <a:p>
            <a:r>
              <a:t>- Показать, что покрыто: сценарии записи, Организатор, YDB, очередь уведомлений, обработчики.</a:t>
            </a:r>
          </a:p>
          <a:p>
            <a:r>
              <a:t>- Особенно выделить качество текстов интерфейса: это тестируется отдельно, поэтому кнопки и глоссарий не расползаются.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рассказа:</a:t>
            </a:r>
          </a:p>
          <a:p>
            <a:r>
              <a:t>- Пояснить, что это не последовательность стрелок, а независимые направления монетизации.</a:t>
            </a:r>
          </a:p>
          <a:p>
            <a:r>
              <a:t>- Назвать платные места в каталоге, статистику, панели наблюдаемости и аналитические отчеты.</a:t>
            </a:r>
          </a:p>
          <a:p>
            <a:r>
              <a:t>- Обосновать популярность: быстрый пользовательский путь плюс простое расширение бизнес-логики.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рассказа:</a:t>
            </a:r>
          </a:p>
          <a:p>
            <a:r>
              <a:t>- Пояснить, что это не последовательность стрелок, а независимые направления монетизации.</a:t>
            </a:r>
          </a:p>
          <a:p>
            <a:r>
              <a:t>- Назвать платные места в каталоге, статистику, панели наблюдаемости и аналитические отчеты.</a:t>
            </a:r>
          </a:p>
          <a:p>
            <a:r>
              <a:t>- Обосновать популярность: быстрый пользовательский путь плюс простое расширение бизнес-логики.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658483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План рассказа:</a:t>
            </a:r>
          </a:p>
          <a:p>
            <a:r>
              <a:t>- Закончить коротко: спасибо, готовы к вопросам.</a:t>
            </a:r>
          </a:p>
          <a:p>
            <a:r>
              <a:t>- Если есть время, повторить три опоры: скорость для пользователя, контроль для Организатора, поддерживаемая техреализация.</a:t>
            </a:r>
          </a:p>
          <a:p>
            <a:r>
              <a:t>- Перейти к демонстрации или вопросам эксперта.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731C9AF-2713-4A62-B689-503B2463DA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F7F8FA"/>
            </a:solidFill>
            <a:prstDash val="solid"/>
          </a:ln>
        </p:spPr>
      </p:sp>
      <p:sp>
        <p:nvSpPr>
          <p:cNvPr id="2" name="kicker-cover-marker">
            <a:extLst>
              <a:ext uri="{FF2B5EF4-FFF2-40B4-BE49-F238E27FC236}">
                <a16:creationId xmlns:a16="http://schemas.microsoft.com/office/drawing/2014/main" id="{3C5BDCC9-5CAB-4B52-A419-D51E89784468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3" name="kicker-cover-label">
            <a:extLst>
              <a:ext uri="{FF2B5EF4-FFF2-40B4-BE49-F238E27FC236}">
                <a16:creationId xmlns:a16="http://schemas.microsoft.com/office/drawing/2014/main" id="{5E8A31C6-D660-41B6-94BC-B12A013C5406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D8CE4E7-C156-4295-893D-312AC4566591}"/>
              </a:ext>
            </a:extLst>
          </p:cNvPr>
          <p:cNvSpPr>
            <a:spLocks noGrp="1"/>
          </p:cNvSpPr>
          <p:nvPr/>
        </p:nvSpPr>
        <p:spPr>
          <a:xfrm>
            <a:off x="685800" y="895350"/>
            <a:ext cx="6191250" cy="1181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42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4200" b="1" dirty="0" err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Запись</a:t>
            </a:r>
            <a:r>
              <a:rPr sz="4200" b="1" dirty="0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sz="4200" b="1" dirty="0" err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на</a:t>
            </a:r>
            <a:r>
              <a:rPr sz="4200" b="1" dirty="0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sz="4200" b="1" dirty="0" err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мероприятие</a:t>
            </a:r>
            <a:r>
              <a:rPr sz="4200" b="1" dirty="0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 в MAX </a:t>
            </a:r>
            <a:r>
              <a:rPr sz="42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за</a:t>
            </a:r>
            <a:r>
              <a:rPr sz="4200" b="1" dirty="0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 10 </a:t>
            </a:r>
            <a:r>
              <a:rPr sz="4200" b="1" dirty="0" err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секунд</a:t>
            </a:r>
            <a:endParaRPr sz="4200" b="1" dirty="0">
              <a:solidFill>
                <a:srgbClr val="111827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DB56149-10A4-4138-BA36-8C683B29BC3A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590550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Чат-бот ведет участника от ссылки в рассылке до кода записи без отдельного миниаппа и лишних экранов.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27693C9-1492-412D-94AB-552CB71B101D}"/>
              </a:ext>
            </a:extLst>
          </p:cNvPr>
          <p:cNvSpPr>
            <a:spLocks noGrp="1"/>
          </p:cNvSpPr>
          <p:nvPr/>
        </p:nvSpPr>
        <p:spPr>
          <a:xfrm>
            <a:off x="7429500" y="876300"/>
            <a:ext cx="3714750" cy="4381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505700" y="2176463"/>
            <a:ext cx="3562350" cy="1781175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A29EBDA-5C6C-46CE-91BF-796B45C4DAC3}"/>
              </a:ext>
            </a:extLst>
          </p:cNvPr>
          <p:cNvSpPr>
            <a:spLocks noGrp="1"/>
          </p:cNvSpPr>
          <p:nvPr/>
        </p:nvSpPr>
        <p:spPr>
          <a:xfrm>
            <a:off x="723900" y="3790950"/>
            <a:ext cx="167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5AF906C-FC77-4C9B-AF0D-3385AFBB8C6C}"/>
              </a:ext>
            </a:extLst>
          </p:cNvPr>
          <p:cNvSpPr>
            <a:spLocks noGrp="1"/>
          </p:cNvSpPr>
          <p:nvPr/>
        </p:nvSpPr>
        <p:spPr>
          <a:xfrm>
            <a:off x="723900" y="3790950"/>
            <a:ext cx="76200" cy="9144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735D642-A26B-4F47-B9D5-4D928B103030}"/>
              </a:ext>
            </a:extLst>
          </p:cNvPr>
          <p:cNvSpPr>
            <a:spLocks noGrp="1"/>
          </p:cNvSpPr>
          <p:nvPr/>
        </p:nvSpPr>
        <p:spPr>
          <a:xfrm>
            <a:off x="933450" y="3962400"/>
            <a:ext cx="12573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10 сек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712AB7B-752D-42D6-B715-DBAE765E0C06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1524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цель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: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ссылка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-&gt;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карточка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-&gt;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код</a:t>
            </a:r>
            <a:endParaRPr sz="1200" b="0" dirty="0">
              <a:solidFill>
                <a:srgbClr val="66708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A47E0F8-9122-40F8-AB01-A6AD8058EC4F}"/>
              </a:ext>
            </a:extLst>
          </p:cNvPr>
          <p:cNvSpPr>
            <a:spLocks noGrp="1"/>
          </p:cNvSpPr>
          <p:nvPr/>
        </p:nvSpPr>
        <p:spPr>
          <a:xfrm>
            <a:off x="2628900" y="3790950"/>
            <a:ext cx="167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C658B55-12A6-42CE-8C7B-8F22A38A6563}"/>
              </a:ext>
            </a:extLst>
          </p:cNvPr>
          <p:cNvSpPr>
            <a:spLocks noGrp="1"/>
          </p:cNvSpPr>
          <p:nvPr/>
        </p:nvSpPr>
        <p:spPr>
          <a:xfrm>
            <a:off x="2628900" y="3790950"/>
            <a:ext cx="76200" cy="9144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6182157-06ED-495E-B527-29432CEE1E68}"/>
              </a:ext>
            </a:extLst>
          </p:cNvPr>
          <p:cNvSpPr>
            <a:spLocks noGrp="1"/>
          </p:cNvSpPr>
          <p:nvPr/>
        </p:nvSpPr>
        <p:spPr>
          <a:xfrm>
            <a:off x="2838450" y="3962400"/>
            <a:ext cx="12573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1 чат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9277106-D546-42CF-89F7-D97D4BB1E686}"/>
              </a:ext>
            </a:extLst>
          </p:cNvPr>
          <p:cNvSpPr>
            <a:spLocks noGrp="1"/>
          </p:cNvSpPr>
          <p:nvPr/>
        </p:nvSpPr>
        <p:spPr>
          <a:xfrm>
            <a:off x="2781300" y="4240068"/>
            <a:ext cx="1562100" cy="66386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вся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запись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остается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в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истории</a:t>
            </a:r>
            <a:endParaRPr sz="1200" b="0" dirty="0">
              <a:solidFill>
                <a:srgbClr val="66708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FB3FD26-BADA-467E-83B9-58B155381E53}"/>
              </a:ext>
            </a:extLst>
          </p:cNvPr>
          <p:cNvSpPr>
            <a:spLocks noGrp="1"/>
          </p:cNvSpPr>
          <p:nvPr/>
        </p:nvSpPr>
        <p:spPr>
          <a:xfrm>
            <a:off x="4533900" y="3790950"/>
            <a:ext cx="167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B9190FF-327C-4A1A-B929-C85CB983B3F5}"/>
              </a:ext>
            </a:extLst>
          </p:cNvPr>
          <p:cNvSpPr>
            <a:spLocks noGrp="1"/>
          </p:cNvSpPr>
          <p:nvPr/>
        </p:nvSpPr>
        <p:spPr>
          <a:xfrm>
            <a:off x="4533900" y="3790950"/>
            <a:ext cx="76200" cy="9144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1D712A3-7A09-4B9F-B09A-6349D9CD5A44}"/>
              </a:ext>
            </a:extLst>
          </p:cNvPr>
          <p:cNvSpPr>
            <a:spLocks noGrp="1"/>
          </p:cNvSpPr>
          <p:nvPr/>
        </p:nvSpPr>
        <p:spPr>
          <a:xfrm>
            <a:off x="4743450" y="3962400"/>
            <a:ext cx="12573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lang="ru-RU" sz="1650" b="1" dirty="0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180+</a:t>
            </a:r>
            <a:endParaRPr sz="1650" b="1" dirty="0">
              <a:solidFill>
                <a:srgbClr val="F59E0B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D7367C7-AB9D-4A36-A65E-DC5A8739DCB8}"/>
              </a:ext>
            </a:extLst>
          </p:cNvPr>
          <p:cNvSpPr>
            <a:spLocks noGrp="1"/>
          </p:cNvSpPr>
          <p:nvPr/>
        </p:nvSpPr>
        <p:spPr>
          <a:xfrm>
            <a:off x="4686300" y="4305300"/>
            <a:ext cx="1524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автотестов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в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проекте</a:t>
            </a:r>
            <a:endParaRPr sz="1200" b="0" dirty="0">
              <a:solidFill>
                <a:srgbClr val="66708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DA140F2-6319-497D-BCAB-FC8CEAD93E70}"/>
              </a:ext>
            </a:extLst>
          </p:cNvPr>
          <p:cNvSpPr>
            <a:spLocks noGrp="1"/>
          </p:cNvSpPr>
          <p:nvPr/>
        </p:nvSpPr>
        <p:spPr>
          <a:xfrm>
            <a:off x="723900" y="5276850"/>
            <a:ext cx="590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Дальше рассказ идет от пользовательского пути к технической реализации.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A860A65-27E1-4903-999B-7F4E3308CFB0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E6FD7DD-A84E-40E7-B040-9785A69B6869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50544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8649E91-5E0D-4971-BEAE-39C47165AA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F7F8FA"/>
            </a:solidFill>
            <a:prstDash val="solid"/>
          </a:ln>
        </p:spPr>
      </p:sp>
      <p:sp>
        <p:nvSpPr>
          <p:cNvPr id="2" name="kicker-mainmenu-marker">
            <a:extLst>
              <a:ext uri="{FF2B5EF4-FFF2-40B4-BE49-F238E27FC236}">
                <a16:creationId xmlns:a16="http://schemas.microsoft.com/office/drawing/2014/main" id="{FFA7541C-7683-4C80-8B77-6DED0382A41D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3" name="kicker-mainmenu-label">
            <a:extLst>
              <a:ext uri="{FF2B5EF4-FFF2-40B4-BE49-F238E27FC236}">
                <a16:creationId xmlns:a16="http://schemas.microsoft.com/office/drawing/2014/main" id="{3D553405-EB04-4173-AB7C-96698D9B5166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AFE0F5E-6F83-4FFB-BF8A-46841B67A6E3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7429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 dirty="0" err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Главное</a:t>
            </a:r>
            <a:r>
              <a:rPr sz="3300" b="1" dirty="0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sz="3300" b="1" dirty="0" err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меню</a:t>
            </a:r>
            <a:r>
              <a:rPr sz="3300" b="1" dirty="0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sz="3300" b="1" dirty="0" err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показывает</a:t>
            </a:r>
            <a:r>
              <a:rPr sz="3300" b="1" dirty="0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sz="3300" b="1" dirty="0" err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маршрут</a:t>
            </a:r>
            <a:endParaRPr sz="3300" b="1" dirty="0">
              <a:solidFill>
                <a:srgbClr val="111827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91B6BC5-57A1-436A-AD1D-F90927CC98C3}"/>
              </a:ext>
            </a:extLst>
          </p:cNvPr>
          <p:cNvSpPr>
            <a:spLocks noGrp="1"/>
          </p:cNvSpPr>
          <p:nvPr/>
        </p:nvSpPr>
        <p:spPr>
          <a:xfrm>
            <a:off x="704850" y="1543050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Пользователь видит два естественных действия: найти мероприятие или открыть свои записи.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46B2974-D549-4589-A240-8BB2A7E795BA}"/>
              </a:ext>
            </a:extLst>
          </p:cNvPr>
          <p:cNvSpPr>
            <a:spLocks noGrp="1"/>
          </p:cNvSpPr>
          <p:nvPr/>
        </p:nvSpPr>
        <p:spPr>
          <a:xfrm>
            <a:off x="1123950" y="2619375"/>
            <a:ext cx="46482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Главное меню участника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0C493BD-776C-42E0-9240-8553B7E47DD3}"/>
              </a:ext>
            </a:extLst>
          </p:cNvPr>
          <p:cNvSpPr>
            <a:spLocks noGrp="1"/>
          </p:cNvSpPr>
          <p:nvPr/>
        </p:nvSpPr>
        <p:spPr>
          <a:xfrm>
            <a:off x="704850" y="2409825"/>
            <a:ext cx="3714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EE6552E-2159-4AD0-A626-CE18E089263E}"/>
              </a:ext>
            </a:extLst>
          </p:cNvPr>
          <p:cNvSpPr>
            <a:spLocks noGrp="1"/>
          </p:cNvSpPr>
          <p:nvPr/>
        </p:nvSpPr>
        <p:spPr>
          <a:xfrm>
            <a:off x="704850" y="2409825"/>
            <a:ext cx="76200" cy="9906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4A33FF7-C4C3-4070-AE2D-5CC88F0FE89B}"/>
              </a:ext>
            </a:extLst>
          </p:cNvPr>
          <p:cNvSpPr>
            <a:spLocks noGrp="1"/>
          </p:cNvSpPr>
          <p:nvPr/>
        </p:nvSpPr>
        <p:spPr>
          <a:xfrm>
            <a:off x="914400" y="2581275"/>
            <a:ext cx="3295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Меньше решений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A954F24-47B0-4F5A-B204-68FA0957A318}"/>
              </a:ext>
            </a:extLst>
          </p:cNvPr>
          <p:cNvSpPr>
            <a:spLocks noGrp="1"/>
          </p:cNvSpPr>
          <p:nvPr/>
        </p:nvSpPr>
        <p:spPr>
          <a:xfrm>
            <a:off x="914400" y="2924175"/>
            <a:ext cx="32956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не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нужно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разбираться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в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навигации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: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бот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сам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предлагает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следующие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шаги</a:t>
            </a:r>
            <a:endParaRPr sz="1200" b="0" dirty="0">
              <a:solidFill>
                <a:srgbClr val="66708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BC7D193-9784-40D1-9F39-71FC0511D30C}"/>
              </a:ext>
            </a:extLst>
          </p:cNvPr>
          <p:cNvSpPr>
            <a:spLocks noGrp="1"/>
          </p:cNvSpPr>
          <p:nvPr/>
        </p:nvSpPr>
        <p:spPr>
          <a:xfrm>
            <a:off x="703345" y="3690937"/>
            <a:ext cx="3714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4CF9001-9EDB-4762-B26E-FF52183D8A8E}"/>
              </a:ext>
            </a:extLst>
          </p:cNvPr>
          <p:cNvSpPr>
            <a:spLocks noGrp="1"/>
          </p:cNvSpPr>
          <p:nvPr/>
        </p:nvSpPr>
        <p:spPr>
          <a:xfrm>
            <a:off x="703345" y="3690937"/>
            <a:ext cx="76200" cy="9906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B7C8E7-0BFE-4CF3-B934-921175387312}"/>
              </a:ext>
            </a:extLst>
          </p:cNvPr>
          <p:cNvSpPr>
            <a:spLocks noGrp="1"/>
          </p:cNvSpPr>
          <p:nvPr/>
        </p:nvSpPr>
        <p:spPr>
          <a:xfrm>
            <a:off x="912895" y="3862387"/>
            <a:ext cx="3295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Самостоятельный поиск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2FDA844-DA21-443D-9DB9-EF9924EA85C9}"/>
              </a:ext>
            </a:extLst>
          </p:cNvPr>
          <p:cNvSpPr>
            <a:spLocks noGrp="1"/>
          </p:cNvSpPr>
          <p:nvPr/>
        </p:nvSpPr>
        <p:spPr>
          <a:xfrm>
            <a:off x="912895" y="4205287"/>
            <a:ext cx="32956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если ссылки нет, пользователь может найти мероприятия из каталога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83F4E19-8017-4B9D-A210-44AE3FF39E01}"/>
              </a:ext>
            </a:extLst>
          </p:cNvPr>
          <p:cNvSpPr>
            <a:spLocks noGrp="1"/>
          </p:cNvSpPr>
          <p:nvPr/>
        </p:nvSpPr>
        <p:spPr>
          <a:xfrm>
            <a:off x="703345" y="4976812"/>
            <a:ext cx="371475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E0E73B9-36E9-495C-9298-E7E342410AA1}"/>
              </a:ext>
            </a:extLst>
          </p:cNvPr>
          <p:cNvSpPr>
            <a:spLocks noGrp="1"/>
          </p:cNvSpPr>
          <p:nvPr/>
        </p:nvSpPr>
        <p:spPr>
          <a:xfrm>
            <a:off x="703345" y="4976812"/>
            <a:ext cx="76200" cy="93345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7B00959-1C52-4DF6-8454-B22EE6AF2CCD}"/>
              </a:ext>
            </a:extLst>
          </p:cNvPr>
          <p:cNvSpPr>
            <a:spLocks noGrp="1"/>
          </p:cNvSpPr>
          <p:nvPr/>
        </p:nvSpPr>
        <p:spPr>
          <a:xfrm>
            <a:off x="912895" y="5148262"/>
            <a:ext cx="3295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История диалога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352D4D5-B7FC-4930-BD84-F8DEC815CBAE}"/>
              </a:ext>
            </a:extLst>
          </p:cNvPr>
          <p:cNvSpPr>
            <a:spLocks noGrp="1"/>
          </p:cNvSpPr>
          <p:nvPr/>
        </p:nvSpPr>
        <p:spPr>
          <a:xfrm>
            <a:off x="912895" y="5491162"/>
            <a:ext cx="32956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все действия остаются там, где человек уже общается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2A4A0EC-E95E-421A-8810-27729959B709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5906BAE-8126-4952-91E6-7FD3ADC78E18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952B6F96-30D1-432A-BECF-7564E8C1F5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18642"/>
            <a:ext cx="3839111" cy="6496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94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6F8F6E5-DA43-4AF3-AD56-A645A0C0C5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F7F8FA"/>
            </a:solidFill>
            <a:prstDash val="solid"/>
          </a:ln>
        </p:spPr>
      </p:sp>
      <p:sp>
        <p:nvSpPr>
          <p:cNvPr id="2" name="kicker-eventcard-marker">
            <a:extLst>
              <a:ext uri="{FF2B5EF4-FFF2-40B4-BE49-F238E27FC236}">
                <a16:creationId xmlns:a16="http://schemas.microsoft.com/office/drawing/2014/main" id="{26640D41-77F2-4904-B8F8-9A8187FB7A8B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3" name="kicker-eventcard-label">
            <a:extLst>
              <a:ext uri="{FF2B5EF4-FFF2-40B4-BE49-F238E27FC236}">
                <a16:creationId xmlns:a16="http://schemas.microsoft.com/office/drawing/2014/main" id="{8D088BD5-912E-44C4-8066-1DFFE864744D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318429-71B3-4188-BD0B-3D0CE8CD583A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Карточка показывает структуру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A7BAABD-4B01-4F46-A8EF-2B3C009BE3E8}"/>
              </a:ext>
            </a:extLst>
          </p:cNvPr>
          <p:cNvSpPr>
            <a:spLocks noGrp="1"/>
          </p:cNvSpPr>
          <p:nvPr/>
        </p:nvSpPr>
        <p:spPr>
          <a:xfrm>
            <a:off x="704850" y="1543050"/>
            <a:ext cx="8001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Дата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время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требования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место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и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слоты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разделены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.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Пользователь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быстро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понимает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подходит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ли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ему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мероприятие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7BEFF11-E414-49AD-877D-C2CC32D5EE5C}"/>
              </a:ext>
            </a:extLst>
          </p:cNvPr>
          <p:cNvSpPr>
            <a:spLocks noGrp="1"/>
          </p:cNvSpPr>
          <p:nvPr/>
        </p:nvSpPr>
        <p:spPr>
          <a:xfrm>
            <a:off x="685800" y="2419350"/>
            <a:ext cx="371475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617810F-4EAE-4D80-AABB-933A8E792D22}"/>
              </a:ext>
            </a:extLst>
          </p:cNvPr>
          <p:cNvSpPr>
            <a:spLocks noGrp="1"/>
          </p:cNvSpPr>
          <p:nvPr/>
        </p:nvSpPr>
        <p:spPr>
          <a:xfrm>
            <a:off x="685800" y="2419350"/>
            <a:ext cx="76200" cy="93345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C796935-EA68-446A-94A3-99CC420C54D9}"/>
              </a:ext>
            </a:extLst>
          </p:cNvPr>
          <p:cNvSpPr>
            <a:spLocks noGrp="1"/>
          </p:cNvSpPr>
          <p:nvPr/>
        </p:nvSpPr>
        <p:spPr>
          <a:xfrm>
            <a:off x="895350" y="2590800"/>
            <a:ext cx="3295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Структура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C5EB63F-75F4-42DD-ADA2-2FF02B4A152F}"/>
              </a:ext>
            </a:extLst>
          </p:cNvPr>
          <p:cNvSpPr>
            <a:spLocks noGrp="1"/>
          </p:cNvSpPr>
          <p:nvPr/>
        </p:nvSpPr>
        <p:spPr>
          <a:xfrm>
            <a:off x="895350" y="2933700"/>
            <a:ext cx="3295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время, дата, требования и место читаются отдельно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FF9F013-2954-4EDC-BA32-C662BF368722}"/>
              </a:ext>
            </a:extLst>
          </p:cNvPr>
          <p:cNvSpPr>
            <a:spLocks noGrp="1"/>
          </p:cNvSpPr>
          <p:nvPr/>
        </p:nvSpPr>
        <p:spPr>
          <a:xfrm>
            <a:off x="685800" y="3583709"/>
            <a:ext cx="37147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772E46B-517C-45CE-BD13-74C45AEB45B1}"/>
              </a:ext>
            </a:extLst>
          </p:cNvPr>
          <p:cNvSpPr>
            <a:spLocks noGrp="1"/>
          </p:cNvSpPr>
          <p:nvPr/>
        </p:nvSpPr>
        <p:spPr>
          <a:xfrm>
            <a:off x="685800" y="3583709"/>
            <a:ext cx="76200" cy="9525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01FE0AA-93D7-45EC-8853-C1A694311B24}"/>
              </a:ext>
            </a:extLst>
          </p:cNvPr>
          <p:cNvSpPr>
            <a:spLocks noGrp="1"/>
          </p:cNvSpPr>
          <p:nvPr/>
        </p:nvSpPr>
        <p:spPr>
          <a:xfrm>
            <a:off x="895350" y="3755159"/>
            <a:ext cx="3295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Слоты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5A301B2-FDC8-446D-A32D-CCBFEFD13322}"/>
              </a:ext>
            </a:extLst>
          </p:cNvPr>
          <p:cNvSpPr>
            <a:spLocks noGrp="1"/>
          </p:cNvSpPr>
          <p:nvPr/>
        </p:nvSpPr>
        <p:spPr>
          <a:xfrm>
            <a:off x="895350" y="4098059"/>
            <a:ext cx="3295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если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есть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выбор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времени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он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не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спрятан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в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описании</a:t>
            </a:r>
            <a:endParaRPr sz="1200" b="0" dirty="0">
              <a:solidFill>
                <a:srgbClr val="66708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2B931064-70C4-4CDB-85ED-A7C6F5C5AF1B}"/>
              </a:ext>
            </a:extLst>
          </p:cNvPr>
          <p:cNvSpPr>
            <a:spLocks noGrp="1"/>
          </p:cNvSpPr>
          <p:nvPr/>
        </p:nvSpPr>
        <p:spPr>
          <a:xfrm>
            <a:off x="685800" y="4836391"/>
            <a:ext cx="37147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509A9A88-571F-4FC5-BB95-72A3423E9973}"/>
              </a:ext>
            </a:extLst>
          </p:cNvPr>
          <p:cNvSpPr>
            <a:spLocks noGrp="1"/>
          </p:cNvSpPr>
          <p:nvPr/>
        </p:nvSpPr>
        <p:spPr>
          <a:xfrm>
            <a:off x="685800" y="4836391"/>
            <a:ext cx="76200" cy="9525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821F4A-CDB2-41E7-8A84-9994C4D71676}"/>
              </a:ext>
            </a:extLst>
          </p:cNvPr>
          <p:cNvSpPr>
            <a:spLocks noGrp="1"/>
          </p:cNvSpPr>
          <p:nvPr/>
        </p:nvSpPr>
        <p:spPr>
          <a:xfrm>
            <a:off x="895350" y="5007841"/>
            <a:ext cx="3295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Поделиться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CCA82E1-420D-4C51-B316-8058CCFB914A}"/>
              </a:ext>
            </a:extLst>
          </p:cNvPr>
          <p:cNvSpPr>
            <a:spLocks noGrp="1"/>
          </p:cNvSpPr>
          <p:nvPr/>
        </p:nvSpPr>
        <p:spPr>
          <a:xfrm>
            <a:off x="895350" y="5350741"/>
            <a:ext cx="32956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Организатор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копирует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ссылку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и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отправляет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ее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в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чат</a:t>
            </a:r>
            <a:endParaRPr sz="1200" b="0" dirty="0">
              <a:solidFill>
                <a:srgbClr val="66708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6FEAA4DD-F1EE-48C7-B088-B6F3BBBB9C84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C72539A-AA57-49FF-B921-178BB4489086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3A7BF112-12E0-49E4-B680-AC995623A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188" y="1978464"/>
            <a:ext cx="5001323" cy="404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59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41D395D9-DFCC-46F6-828D-DFA2BE640B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F7F8FA"/>
            </a:solidFill>
            <a:prstDash val="solid"/>
          </a:ln>
        </p:spPr>
      </p:sp>
      <p:sp>
        <p:nvSpPr>
          <p:cNvPr id="2" name="kicker-records-marker">
            <a:extLst>
              <a:ext uri="{FF2B5EF4-FFF2-40B4-BE49-F238E27FC236}">
                <a16:creationId xmlns:a16="http://schemas.microsoft.com/office/drawing/2014/main" id="{C31835E4-6E30-47B3-AC13-DABE3E60B8F2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3" name="kicker-records-label">
            <a:extLst>
              <a:ext uri="{FF2B5EF4-FFF2-40B4-BE49-F238E27FC236}">
                <a16:creationId xmlns:a16="http://schemas.microsoft.com/office/drawing/2014/main" id="{8A9C5ED8-790E-4E4A-A947-10726D2F1DBC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49B2DEE-A84E-4F28-A294-CBCD7D35FEE7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7239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Код записи остается под рукой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7026C66-B60A-45B4-B46E-D1C65E073047}"/>
              </a:ext>
            </a:extLst>
          </p:cNvPr>
          <p:cNvSpPr>
            <a:spLocks noGrp="1"/>
          </p:cNvSpPr>
          <p:nvPr/>
        </p:nvSpPr>
        <p:spPr>
          <a:xfrm>
            <a:off x="704850" y="1543050"/>
            <a:ext cx="77152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Экран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своих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записей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закрывает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вопросы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после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регистрации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: </a:t>
            </a:r>
            <a:endParaRPr lang="en-US" sz="1650" b="0" dirty="0">
              <a:solidFill>
                <a:srgbClr val="667085"/>
              </a:solidFill>
              <a:latin typeface="Segoe UI"/>
              <a:ea typeface="Segoe UI"/>
              <a:cs typeface="Segoe UI"/>
            </a:endParaRPr>
          </a:p>
          <a:p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куда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идти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какой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код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показать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и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что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с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напоминаниями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921F804-CEA1-4317-9D96-A303D04C280E}"/>
              </a:ext>
            </a:extLst>
          </p:cNvPr>
          <p:cNvSpPr>
            <a:spLocks noGrp="1"/>
          </p:cNvSpPr>
          <p:nvPr/>
        </p:nvSpPr>
        <p:spPr>
          <a:xfrm>
            <a:off x="1123950" y="2619375"/>
            <a:ext cx="46482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Мои записи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93BBD0B-9B17-4868-BB6C-2EEFA8FE53C7}"/>
              </a:ext>
            </a:extLst>
          </p:cNvPr>
          <p:cNvSpPr>
            <a:spLocks noGrp="1"/>
          </p:cNvSpPr>
          <p:nvPr/>
        </p:nvSpPr>
        <p:spPr>
          <a:xfrm>
            <a:off x="685800" y="2410980"/>
            <a:ext cx="3714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E3D9278-45A2-4D13-804B-3B79EC84A2B6}"/>
              </a:ext>
            </a:extLst>
          </p:cNvPr>
          <p:cNvSpPr>
            <a:spLocks noGrp="1"/>
          </p:cNvSpPr>
          <p:nvPr/>
        </p:nvSpPr>
        <p:spPr>
          <a:xfrm>
            <a:off x="685800" y="2410980"/>
            <a:ext cx="76200" cy="99060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E922FBB-CC65-4BFA-B866-ABC3DC71148E}"/>
              </a:ext>
            </a:extLst>
          </p:cNvPr>
          <p:cNvSpPr>
            <a:spLocks noGrp="1"/>
          </p:cNvSpPr>
          <p:nvPr/>
        </p:nvSpPr>
        <p:spPr>
          <a:xfrm>
            <a:off x="895350" y="2582430"/>
            <a:ext cx="3295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dirty="0" err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Код</a:t>
            </a:r>
            <a:r>
              <a:rPr sz="1650" b="1" dirty="0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sz="1650" b="1" dirty="0" err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для</a:t>
            </a:r>
            <a:r>
              <a:rPr sz="1650" b="1" dirty="0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sz="1650" b="1" dirty="0" err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входа</a:t>
            </a:r>
            <a:endParaRPr sz="1650" b="1" dirty="0">
              <a:solidFill>
                <a:srgbClr val="7C3AED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E31381CD-1E52-4954-98F9-87C03EA011C3}"/>
              </a:ext>
            </a:extLst>
          </p:cNvPr>
          <p:cNvSpPr>
            <a:spLocks noGrp="1"/>
          </p:cNvSpPr>
          <p:nvPr/>
        </p:nvSpPr>
        <p:spPr>
          <a:xfrm>
            <a:off x="895350" y="2925330"/>
            <a:ext cx="32956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не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нужен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отдельный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билет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: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код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хранится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прямо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в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диалоге</a:t>
            </a:r>
            <a:endParaRPr sz="1200" b="0" dirty="0">
              <a:solidFill>
                <a:srgbClr val="66708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26E7E19-1BB5-407D-833D-DD5666ED47D5}"/>
              </a:ext>
            </a:extLst>
          </p:cNvPr>
          <p:cNvSpPr>
            <a:spLocks noGrp="1"/>
          </p:cNvSpPr>
          <p:nvPr/>
        </p:nvSpPr>
        <p:spPr>
          <a:xfrm>
            <a:off x="685800" y="3652837"/>
            <a:ext cx="3714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60C7584-8E74-42D6-85A9-1D3E96618714}"/>
              </a:ext>
            </a:extLst>
          </p:cNvPr>
          <p:cNvSpPr>
            <a:spLocks noGrp="1"/>
          </p:cNvSpPr>
          <p:nvPr/>
        </p:nvSpPr>
        <p:spPr>
          <a:xfrm>
            <a:off x="685800" y="3652837"/>
            <a:ext cx="76200" cy="9906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01EFBF0E-8655-4477-ACE2-F9BBD3CB2348}"/>
              </a:ext>
            </a:extLst>
          </p:cNvPr>
          <p:cNvSpPr>
            <a:spLocks noGrp="1"/>
          </p:cNvSpPr>
          <p:nvPr/>
        </p:nvSpPr>
        <p:spPr>
          <a:xfrm>
            <a:off x="895350" y="3824287"/>
            <a:ext cx="3295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Статус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AC5CF47-2798-4F36-A966-87B88F002CAF}"/>
              </a:ext>
            </a:extLst>
          </p:cNvPr>
          <p:cNvSpPr>
            <a:spLocks noGrp="1"/>
          </p:cNvSpPr>
          <p:nvPr/>
        </p:nvSpPr>
        <p:spPr>
          <a:xfrm>
            <a:off x="895350" y="4167187"/>
            <a:ext cx="32956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видно, что запись активна, отменена или уже посещена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EED25A7-6E47-4840-8ADF-0FCF2027E8B7}"/>
              </a:ext>
            </a:extLst>
          </p:cNvPr>
          <p:cNvSpPr>
            <a:spLocks noGrp="1"/>
          </p:cNvSpPr>
          <p:nvPr/>
        </p:nvSpPr>
        <p:spPr>
          <a:xfrm>
            <a:off x="685800" y="4900467"/>
            <a:ext cx="371475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E4D9842-3D68-44E5-95BA-165EAFE55D7F}"/>
              </a:ext>
            </a:extLst>
          </p:cNvPr>
          <p:cNvSpPr>
            <a:spLocks noGrp="1"/>
          </p:cNvSpPr>
          <p:nvPr/>
        </p:nvSpPr>
        <p:spPr>
          <a:xfrm>
            <a:off x="685800" y="4900467"/>
            <a:ext cx="76200" cy="93345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8A14BEE-304F-442A-8BFA-96C54AA762C5}"/>
              </a:ext>
            </a:extLst>
          </p:cNvPr>
          <p:cNvSpPr>
            <a:spLocks noGrp="1"/>
          </p:cNvSpPr>
          <p:nvPr/>
        </p:nvSpPr>
        <p:spPr>
          <a:xfrm>
            <a:off x="895350" y="5071917"/>
            <a:ext cx="3295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Напоминания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F5E49DB-5C7B-4FED-A287-E4A941F0FAF8}"/>
              </a:ext>
            </a:extLst>
          </p:cNvPr>
          <p:cNvSpPr>
            <a:spLocks noGrp="1"/>
          </p:cNvSpPr>
          <p:nvPr/>
        </p:nvSpPr>
        <p:spPr>
          <a:xfrm>
            <a:off x="895350" y="5414817"/>
            <a:ext cx="32956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пользователь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понимает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что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бот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вернет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его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к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мероприятию</a:t>
            </a:r>
            <a:endParaRPr sz="1200" b="0" dirty="0">
              <a:solidFill>
                <a:srgbClr val="66708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FA907232-A659-4D53-86E6-AC476955EB75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00424AF-0A76-401D-891F-5DCE3E20E79C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3D34ADE-EF0B-4209-AD12-B22319DE7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0" y="554903"/>
            <a:ext cx="3924848" cy="5639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954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E5A20A09-5076-4856-9109-406C4071C0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F7F8FA"/>
            </a:solidFill>
            <a:prstDash val="solid"/>
          </a:ln>
        </p:spPr>
      </p:sp>
      <p:sp>
        <p:nvSpPr>
          <p:cNvPr id="2" name="kicker-deeplink-marker">
            <a:extLst>
              <a:ext uri="{FF2B5EF4-FFF2-40B4-BE49-F238E27FC236}">
                <a16:creationId xmlns:a16="http://schemas.microsoft.com/office/drawing/2014/main" id="{C558C78D-63A5-4A94-A882-490B9789274F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3" name="kicker-deeplink-label">
            <a:extLst>
              <a:ext uri="{FF2B5EF4-FFF2-40B4-BE49-F238E27FC236}">
                <a16:creationId xmlns:a16="http://schemas.microsoft.com/office/drawing/2014/main" id="{1033452E-0E29-438B-9EBF-B3047CEAFC0E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7C49719-B7F7-4046-894D-7FD6D730A3E9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7810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Ссылка из чата сразу открывает запись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321918C-B21C-4AFA-AAC0-8F4F96862113}"/>
              </a:ext>
            </a:extLst>
          </p:cNvPr>
          <p:cNvSpPr>
            <a:spLocks noGrp="1"/>
          </p:cNvSpPr>
          <p:nvPr/>
        </p:nvSpPr>
        <p:spPr>
          <a:xfrm>
            <a:off x="704850" y="1543050"/>
            <a:ext cx="8191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Это ключевая фича для массовых рассылок: участник не ищет мероприятие вручную, а попадает прямо в нужную карточку.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3F15D49-F4E8-4CD6-97AF-B61712110DAF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20764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9DF8FE8-F474-4468-98B8-70EDED6A5068}"/>
              </a:ext>
            </a:extLst>
          </p:cNvPr>
          <p:cNvSpPr>
            <a:spLocks noGrp="1"/>
          </p:cNvSpPr>
          <p:nvPr/>
        </p:nvSpPr>
        <p:spPr>
          <a:xfrm>
            <a:off x="952500" y="2933700"/>
            <a:ext cx="323850" cy="32385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1B637AF-7290-43B1-91BC-49896BDD86EE}"/>
              </a:ext>
            </a:extLst>
          </p:cNvPr>
          <p:cNvSpPr>
            <a:spLocks noGrp="1"/>
          </p:cNvSpPr>
          <p:nvPr/>
        </p:nvSpPr>
        <p:spPr>
          <a:xfrm>
            <a:off x="952500" y="2981325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655BBB5-2752-489F-9BDC-17EAB6F6AA25}"/>
              </a:ext>
            </a:extLst>
          </p:cNvPr>
          <p:cNvSpPr>
            <a:spLocks noGrp="1"/>
          </p:cNvSpPr>
          <p:nvPr/>
        </p:nvSpPr>
        <p:spPr>
          <a:xfrm>
            <a:off x="1409700" y="2924175"/>
            <a:ext cx="12763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Рассылка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F15026-AD3B-4207-8AD6-5F4E8B6458E1}"/>
              </a:ext>
            </a:extLst>
          </p:cNvPr>
          <p:cNvSpPr>
            <a:spLocks noGrp="1"/>
          </p:cNvSpPr>
          <p:nvPr/>
        </p:nvSpPr>
        <p:spPr>
          <a:xfrm>
            <a:off x="990600" y="3429000"/>
            <a:ext cx="16573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ссылка отправлена в общий чат или личное сообщение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0439D0F-B666-4341-AA11-5A475AF2D361}"/>
              </a:ext>
            </a:extLst>
          </p:cNvPr>
          <p:cNvSpPr>
            <a:spLocks noGrp="1"/>
          </p:cNvSpPr>
          <p:nvPr/>
        </p:nvSpPr>
        <p:spPr>
          <a:xfrm>
            <a:off x="2990850" y="3457575"/>
            <a:ext cx="342900" cy="381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3099BF30-F060-48B2-AE57-D58E56A7AEEA}"/>
              </a:ext>
            </a:extLst>
          </p:cNvPr>
          <p:cNvSpPr>
            <a:spLocks noGrp="1"/>
          </p:cNvSpPr>
          <p:nvPr/>
        </p:nvSpPr>
        <p:spPr>
          <a:xfrm>
            <a:off x="3295650" y="3305175"/>
            <a:ext cx="190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58A7C13-505C-472C-A115-FF5D0008EBE9}"/>
              </a:ext>
            </a:extLst>
          </p:cNvPr>
          <p:cNvSpPr>
            <a:spLocks noGrp="1"/>
          </p:cNvSpPr>
          <p:nvPr/>
        </p:nvSpPr>
        <p:spPr>
          <a:xfrm>
            <a:off x="3638550" y="2762250"/>
            <a:ext cx="20764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900CF17-06F5-4103-B7C5-73E7BAB20CA8}"/>
              </a:ext>
            </a:extLst>
          </p:cNvPr>
          <p:cNvSpPr>
            <a:spLocks noGrp="1"/>
          </p:cNvSpPr>
          <p:nvPr/>
        </p:nvSpPr>
        <p:spPr>
          <a:xfrm>
            <a:off x="3810000" y="2933700"/>
            <a:ext cx="323850" cy="32385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FEBEFB7-38C1-4C98-8D32-825AEB5B2CD6}"/>
              </a:ext>
            </a:extLst>
          </p:cNvPr>
          <p:cNvSpPr>
            <a:spLocks noGrp="1"/>
          </p:cNvSpPr>
          <p:nvPr/>
        </p:nvSpPr>
        <p:spPr>
          <a:xfrm>
            <a:off x="3810000" y="2981325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1469436-2F83-4EFB-AAC1-960C53119D06}"/>
              </a:ext>
            </a:extLst>
          </p:cNvPr>
          <p:cNvSpPr>
            <a:spLocks noGrp="1"/>
          </p:cNvSpPr>
          <p:nvPr/>
        </p:nvSpPr>
        <p:spPr>
          <a:xfrm>
            <a:off x="4267200" y="2924175"/>
            <a:ext cx="12763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Карточка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9522631-957F-4868-A69B-43230F2F19D6}"/>
              </a:ext>
            </a:extLst>
          </p:cNvPr>
          <p:cNvSpPr>
            <a:spLocks noGrp="1"/>
          </p:cNvSpPr>
          <p:nvPr/>
        </p:nvSpPr>
        <p:spPr>
          <a:xfrm>
            <a:off x="3848100" y="3429000"/>
            <a:ext cx="16573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сразу открывается нужное мероприятие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B9E48A9-47EF-4704-A2D3-F838F813551E}"/>
              </a:ext>
            </a:extLst>
          </p:cNvPr>
          <p:cNvSpPr>
            <a:spLocks noGrp="1"/>
          </p:cNvSpPr>
          <p:nvPr/>
        </p:nvSpPr>
        <p:spPr>
          <a:xfrm>
            <a:off x="5848350" y="3457575"/>
            <a:ext cx="342900" cy="381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4ADC48F-EE9B-43E8-9CC3-3D086B2272ED}"/>
              </a:ext>
            </a:extLst>
          </p:cNvPr>
          <p:cNvSpPr>
            <a:spLocks noGrp="1"/>
          </p:cNvSpPr>
          <p:nvPr/>
        </p:nvSpPr>
        <p:spPr>
          <a:xfrm>
            <a:off x="6153150" y="3305175"/>
            <a:ext cx="190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7326F46-A926-444F-B906-9C21C0323504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20764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6C92A4A4-D068-4AD7-AEF4-ECFF4F1C0929}"/>
              </a:ext>
            </a:extLst>
          </p:cNvPr>
          <p:cNvSpPr>
            <a:spLocks noGrp="1"/>
          </p:cNvSpPr>
          <p:nvPr/>
        </p:nvSpPr>
        <p:spPr>
          <a:xfrm>
            <a:off x="6667500" y="2933700"/>
            <a:ext cx="323850" cy="32385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50FD6B1-5B30-4352-A32B-432E8DDC9065}"/>
              </a:ext>
            </a:extLst>
          </p:cNvPr>
          <p:cNvSpPr>
            <a:spLocks noGrp="1"/>
          </p:cNvSpPr>
          <p:nvPr/>
        </p:nvSpPr>
        <p:spPr>
          <a:xfrm>
            <a:off x="6667500" y="2981325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A7AAB4F-CF10-4E46-B639-78D4BA191DF1}"/>
              </a:ext>
            </a:extLst>
          </p:cNvPr>
          <p:cNvSpPr>
            <a:spLocks noGrp="1"/>
          </p:cNvSpPr>
          <p:nvPr/>
        </p:nvSpPr>
        <p:spPr>
          <a:xfrm>
            <a:off x="7124700" y="2924175"/>
            <a:ext cx="12763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Запись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FC690796-2B2C-4A05-8CBC-68D80C7D2DDD}"/>
              </a:ext>
            </a:extLst>
          </p:cNvPr>
          <p:cNvSpPr>
            <a:spLocks noGrp="1"/>
          </p:cNvSpPr>
          <p:nvPr/>
        </p:nvSpPr>
        <p:spPr>
          <a:xfrm>
            <a:off x="6705600" y="3429000"/>
            <a:ext cx="16573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участник выбирает слот и подтверждает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FF5A0D-78CE-47C9-A38B-285C20041F85}"/>
              </a:ext>
            </a:extLst>
          </p:cNvPr>
          <p:cNvSpPr>
            <a:spLocks noGrp="1"/>
          </p:cNvSpPr>
          <p:nvPr/>
        </p:nvSpPr>
        <p:spPr>
          <a:xfrm>
            <a:off x="8705850" y="3457575"/>
            <a:ext cx="342900" cy="381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FE8C9AE3-EB99-4FC1-8795-B53840A4EC65}"/>
              </a:ext>
            </a:extLst>
          </p:cNvPr>
          <p:cNvSpPr>
            <a:spLocks noGrp="1"/>
          </p:cNvSpPr>
          <p:nvPr/>
        </p:nvSpPr>
        <p:spPr>
          <a:xfrm>
            <a:off x="9010650" y="3305175"/>
            <a:ext cx="190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308CEED2-973E-45BD-8CD8-87B314857A60}"/>
              </a:ext>
            </a:extLst>
          </p:cNvPr>
          <p:cNvSpPr>
            <a:spLocks noGrp="1"/>
          </p:cNvSpPr>
          <p:nvPr/>
        </p:nvSpPr>
        <p:spPr>
          <a:xfrm>
            <a:off x="9353550" y="2762250"/>
            <a:ext cx="18859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9095AA0-58C5-420D-89E8-F628DA12AF59}"/>
              </a:ext>
            </a:extLst>
          </p:cNvPr>
          <p:cNvSpPr>
            <a:spLocks noGrp="1"/>
          </p:cNvSpPr>
          <p:nvPr/>
        </p:nvSpPr>
        <p:spPr>
          <a:xfrm>
            <a:off x="9525000" y="2933700"/>
            <a:ext cx="323850" cy="32385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FC1EA69-3042-46E5-A4BC-BF1DD4BC250E}"/>
              </a:ext>
            </a:extLst>
          </p:cNvPr>
          <p:cNvSpPr>
            <a:spLocks noGrp="1"/>
          </p:cNvSpPr>
          <p:nvPr/>
        </p:nvSpPr>
        <p:spPr>
          <a:xfrm>
            <a:off x="9525000" y="2981325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667C67F-4129-42A5-A27D-48D11F409F4E}"/>
              </a:ext>
            </a:extLst>
          </p:cNvPr>
          <p:cNvSpPr>
            <a:spLocks noGrp="1"/>
          </p:cNvSpPr>
          <p:nvPr/>
        </p:nvSpPr>
        <p:spPr>
          <a:xfrm>
            <a:off x="9982200" y="2924175"/>
            <a:ext cx="10858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Код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C7D28A6A-9D7C-400A-A2BB-9399F57537B9}"/>
              </a:ext>
            </a:extLst>
          </p:cNvPr>
          <p:cNvSpPr>
            <a:spLocks noGrp="1"/>
          </p:cNvSpPr>
          <p:nvPr/>
        </p:nvSpPr>
        <p:spPr>
          <a:xfrm>
            <a:off x="9563100" y="3429000"/>
            <a:ext cx="14668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бот выдает код записи для входа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1690CE1-8AC2-47E7-989B-CA4CA23D1E97}"/>
              </a:ext>
            </a:extLst>
          </p:cNvPr>
          <p:cNvSpPr>
            <a:spLocks noGrp="1"/>
          </p:cNvSpPr>
          <p:nvPr/>
        </p:nvSpPr>
        <p:spPr>
          <a:xfrm>
            <a:off x="857250" y="4857750"/>
            <a:ext cx="3048000" cy="942974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BC97F0AF-73FA-4541-8F88-20BFB95EBD00}"/>
              </a:ext>
            </a:extLst>
          </p:cNvPr>
          <p:cNvSpPr>
            <a:spLocks noGrp="1"/>
          </p:cNvSpPr>
          <p:nvPr/>
        </p:nvSpPr>
        <p:spPr>
          <a:xfrm>
            <a:off x="857250" y="4857750"/>
            <a:ext cx="76200" cy="942974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2A51FA3C-48F3-4B57-92AB-BC4545385A28}"/>
              </a:ext>
            </a:extLst>
          </p:cNvPr>
          <p:cNvSpPr>
            <a:spLocks noGrp="1"/>
          </p:cNvSpPr>
          <p:nvPr/>
        </p:nvSpPr>
        <p:spPr>
          <a:xfrm>
            <a:off x="1066800" y="5029200"/>
            <a:ext cx="26289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До 10 секунд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BAF0448B-8963-4C63-A050-D7B9464D7902}"/>
              </a:ext>
            </a:extLst>
          </p:cNvPr>
          <p:cNvSpPr>
            <a:spLocks noGrp="1"/>
          </p:cNvSpPr>
          <p:nvPr/>
        </p:nvSpPr>
        <p:spPr>
          <a:xfrm>
            <a:off x="1066800" y="5372100"/>
            <a:ext cx="2628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цель: от ссылки до кода записи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B570C297-7490-489A-ABD8-2216FE8203F6}"/>
              </a:ext>
            </a:extLst>
          </p:cNvPr>
          <p:cNvSpPr>
            <a:spLocks noGrp="1"/>
          </p:cNvSpPr>
          <p:nvPr/>
        </p:nvSpPr>
        <p:spPr>
          <a:xfrm>
            <a:off x="4343400" y="4857749"/>
            <a:ext cx="3048000" cy="942975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CEA39FFA-A740-4EAF-ACE7-AFBC6A77047D}"/>
              </a:ext>
            </a:extLst>
          </p:cNvPr>
          <p:cNvSpPr>
            <a:spLocks noGrp="1"/>
          </p:cNvSpPr>
          <p:nvPr/>
        </p:nvSpPr>
        <p:spPr>
          <a:xfrm>
            <a:off x="4343400" y="4857750"/>
            <a:ext cx="76200" cy="942974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F85DF767-7C13-48CE-927F-D2A5277EFB79}"/>
              </a:ext>
            </a:extLst>
          </p:cNvPr>
          <p:cNvSpPr>
            <a:spLocks noGrp="1"/>
          </p:cNvSpPr>
          <p:nvPr/>
        </p:nvSpPr>
        <p:spPr>
          <a:xfrm>
            <a:off x="4552950" y="5029200"/>
            <a:ext cx="26289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Выше конверсия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2C120E6-A5D1-47AF-92B5-90114FC8D3C1}"/>
              </a:ext>
            </a:extLst>
          </p:cNvPr>
          <p:cNvSpPr>
            <a:spLocks noGrp="1"/>
          </p:cNvSpPr>
          <p:nvPr/>
        </p:nvSpPr>
        <p:spPr>
          <a:xfrm>
            <a:off x="4552950" y="5372100"/>
            <a:ext cx="2628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меньше шагов между интересом и записью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58168B14-C182-45BB-A77F-9837CD1BC222}"/>
              </a:ext>
            </a:extLst>
          </p:cNvPr>
          <p:cNvSpPr>
            <a:spLocks noGrp="1"/>
          </p:cNvSpPr>
          <p:nvPr/>
        </p:nvSpPr>
        <p:spPr>
          <a:xfrm>
            <a:off x="7829550" y="4857750"/>
            <a:ext cx="3048000" cy="942974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23A32B8A-4D95-48FA-B982-8DBF026A1304}"/>
              </a:ext>
            </a:extLst>
          </p:cNvPr>
          <p:cNvSpPr>
            <a:spLocks noGrp="1"/>
          </p:cNvSpPr>
          <p:nvPr/>
        </p:nvSpPr>
        <p:spPr>
          <a:xfrm>
            <a:off x="7829550" y="4857750"/>
            <a:ext cx="95250" cy="942974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74605BB4-981B-4AF5-BB45-78C29AF4F07C}"/>
              </a:ext>
            </a:extLst>
          </p:cNvPr>
          <p:cNvSpPr>
            <a:spLocks noGrp="1"/>
          </p:cNvSpPr>
          <p:nvPr/>
        </p:nvSpPr>
        <p:spPr>
          <a:xfrm>
            <a:off x="8039100" y="5029200"/>
            <a:ext cx="26289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Без миниаппа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1B833008-D460-4A96-9068-F8178F0ABD90}"/>
              </a:ext>
            </a:extLst>
          </p:cNvPr>
          <p:cNvSpPr>
            <a:spLocks noGrp="1"/>
          </p:cNvSpPr>
          <p:nvPr/>
        </p:nvSpPr>
        <p:spPr>
          <a:xfrm>
            <a:off x="8039100" y="5372100"/>
            <a:ext cx="2628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для короткого сценария чат быстрее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97476F63-7147-4037-9578-128F612EF54F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76E72895-3A16-41C0-8583-12A2E0DB7F5E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86207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B3BD2A9A-EFDE-485A-8CCB-3BB6E07C996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F7F8FA"/>
            </a:solidFill>
            <a:prstDash val="solid"/>
          </a:ln>
        </p:spPr>
      </p:sp>
      <p:sp>
        <p:nvSpPr>
          <p:cNvPr id="2" name="kicker-notify-marker">
            <a:extLst>
              <a:ext uri="{FF2B5EF4-FFF2-40B4-BE49-F238E27FC236}">
                <a16:creationId xmlns:a16="http://schemas.microsoft.com/office/drawing/2014/main" id="{8D1EE43D-C9C1-4860-B236-20143EBDCF63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3" name="kicker-notify-label">
            <a:extLst>
              <a:ext uri="{FF2B5EF4-FFF2-40B4-BE49-F238E27FC236}">
                <a16:creationId xmlns:a16="http://schemas.microsoft.com/office/drawing/2014/main" id="{AF8B9346-3B80-4DB7-A83C-7ACB4B665FC1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6A65AD2-19B2-4454-9446-C6106BB1B8F0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8096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Уведомления доводят человека до входа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01B9DEA-2042-45FF-8DE0-42594F67E150}"/>
              </a:ext>
            </a:extLst>
          </p:cNvPr>
          <p:cNvSpPr>
            <a:spLocks noGrp="1"/>
          </p:cNvSpPr>
          <p:nvPr/>
        </p:nvSpPr>
        <p:spPr>
          <a:xfrm>
            <a:off x="685800" y="2016414"/>
            <a:ext cx="7239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После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записи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бот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возвращает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участника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к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мероприятию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чтобы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он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не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забыл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время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место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и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код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3796214-F459-4997-9A25-B13DA36D975C}"/>
              </a:ext>
            </a:extLst>
          </p:cNvPr>
          <p:cNvSpPr>
            <a:spLocks noGrp="1"/>
          </p:cNvSpPr>
          <p:nvPr/>
        </p:nvSpPr>
        <p:spPr>
          <a:xfrm>
            <a:off x="682464" y="2962275"/>
            <a:ext cx="1332923" cy="1009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79C4743-B35B-4901-BD99-2D9DBEB757ED}"/>
              </a:ext>
            </a:extLst>
          </p:cNvPr>
          <p:cNvSpPr>
            <a:spLocks noGrp="1"/>
          </p:cNvSpPr>
          <p:nvPr/>
        </p:nvSpPr>
        <p:spPr>
          <a:xfrm>
            <a:off x="682464" y="2962275"/>
            <a:ext cx="60587" cy="100965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6C291A2-2F5B-47E4-AA8F-2F0EDD7C111D}"/>
              </a:ext>
            </a:extLst>
          </p:cNvPr>
          <p:cNvSpPr>
            <a:spLocks noGrp="1"/>
          </p:cNvSpPr>
          <p:nvPr/>
        </p:nvSpPr>
        <p:spPr>
          <a:xfrm>
            <a:off x="892014" y="3133725"/>
            <a:ext cx="999692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за 3 дня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B8C614E-BF4D-4137-A773-CC5509CEAE7F}"/>
              </a:ext>
            </a:extLst>
          </p:cNvPr>
          <p:cNvSpPr>
            <a:spLocks noGrp="1"/>
          </p:cNvSpPr>
          <p:nvPr/>
        </p:nvSpPr>
        <p:spPr>
          <a:xfrm>
            <a:off x="892014" y="3476625"/>
            <a:ext cx="999692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ранний возврат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DFE3896-D6BD-4CF1-92B4-9E51EB694F6E}"/>
              </a:ext>
            </a:extLst>
          </p:cNvPr>
          <p:cNvSpPr>
            <a:spLocks noGrp="1"/>
          </p:cNvSpPr>
          <p:nvPr/>
        </p:nvSpPr>
        <p:spPr>
          <a:xfrm>
            <a:off x="2102764" y="3448050"/>
            <a:ext cx="90881" cy="381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72FFE7E-551F-42AE-84A4-746D18A236E2}"/>
              </a:ext>
            </a:extLst>
          </p:cNvPr>
          <p:cNvSpPr>
            <a:spLocks noGrp="1"/>
          </p:cNvSpPr>
          <p:nvPr/>
        </p:nvSpPr>
        <p:spPr>
          <a:xfrm>
            <a:off x="2178964" y="3295650"/>
            <a:ext cx="151469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 dirty="0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AB1394C-3F3A-4987-9A60-3B9F4ED32A58}"/>
              </a:ext>
            </a:extLst>
          </p:cNvPr>
          <p:cNvSpPr>
            <a:spLocks noGrp="1"/>
          </p:cNvSpPr>
          <p:nvPr/>
        </p:nvSpPr>
        <p:spPr>
          <a:xfrm>
            <a:off x="2381521" y="2962275"/>
            <a:ext cx="1332923" cy="1009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EE0253B-5BAE-4230-B654-6154FBD29630}"/>
              </a:ext>
            </a:extLst>
          </p:cNvPr>
          <p:cNvSpPr>
            <a:spLocks noGrp="1"/>
          </p:cNvSpPr>
          <p:nvPr/>
        </p:nvSpPr>
        <p:spPr>
          <a:xfrm>
            <a:off x="2381521" y="2962275"/>
            <a:ext cx="60587" cy="100965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08E79AF-D758-426E-9D48-A5B2D0412173}"/>
              </a:ext>
            </a:extLst>
          </p:cNvPr>
          <p:cNvSpPr>
            <a:spLocks noGrp="1"/>
          </p:cNvSpPr>
          <p:nvPr/>
        </p:nvSpPr>
        <p:spPr>
          <a:xfrm>
            <a:off x="2591071" y="3133725"/>
            <a:ext cx="999692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за 24 часа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B401BB94-D5EA-41C1-BB82-B191E2D38A6D}"/>
              </a:ext>
            </a:extLst>
          </p:cNvPr>
          <p:cNvSpPr>
            <a:spLocks noGrp="1"/>
          </p:cNvSpPr>
          <p:nvPr/>
        </p:nvSpPr>
        <p:spPr>
          <a:xfrm>
            <a:off x="2591071" y="3476625"/>
            <a:ext cx="999692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проверка планов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50DB01E-E090-4289-8141-6F7E89CFCE76}"/>
              </a:ext>
            </a:extLst>
          </p:cNvPr>
          <p:cNvSpPr>
            <a:spLocks noGrp="1"/>
          </p:cNvSpPr>
          <p:nvPr/>
        </p:nvSpPr>
        <p:spPr>
          <a:xfrm>
            <a:off x="3801835" y="3429000"/>
            <a:ext cx="90881" cy="381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D91342D-47C5-4F1E-9702-F1BD5EAE8579}"/>
              </a:ext>
            </a:extLst>
          </p:cNvPr>
          <p:cNvSpPr>
            <a:spLocks noGrp="1"/>
          </p:cNvSpPr>
          <p:nvPr/>
        </p:nvSpPr>
        <p:spPr>
          <a:xfrm>
            <a:off x="3878035" y="3276600"/>
            <a:ext cx="151469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37649F7-084E-408C-A899-5AE9D3C0E97D}"/>
              </a:ext>
            </a:extLst>
          </p:cNvPr>
          <p:cNvSpPr>
            <a:spLocks noGrp="1"/>
          </p:cNvSpPr>
          <p:nvPr/>
        </p:nvSpPr>
        <p:spPr>
          <a:xfrm>
            <a:off x="4112480" y="2962275"/>
            <a:ext cx="1332923" cy="1009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5689A2E4-C74A-40D3-B1AE-930F2AEB862E}"/>
              </a:ext>
            </a:extLst>
          </p:cNvPr>
          <p:cNvSpPr>
            <a:spLocks noGrp="1"/>
          </p:cNvSpPr>
          <p:nvPr/>
        </p:nvSpPr>
        <p:spPr>
          <a:xfrm>
            <a:off x="4112480" y="2962275"/>
            <a:ext cx="60587" cy="100965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08D2AB7-395A-457A-BA14-9F9CDA7AB46C}"/>
              </a:ext>
            </a:extLst>
          </p:cNvPr>
          <p:cNvSpPr>
            <a:spLocks noGrp="1"/>
          </p:cNvSpPr>
          <p:nvPr/>
        </p:nvSpPr>
        <p:spPr>
          <a:xfrm>
            <a:off x="4322030" y="3133725"/>
            <a:ext cx="999692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за 3 часа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21121CDB-7260-4FE1-9565-BA6930846BA0}"/>
              </a:ext>
            </a:extLst>
          </p:cNvPr>
          <p:cNvSpPr>
            <a:spLocks noGrp="1"/>
          </p:cNvSpPr>
          <p:nvPr/>
        </p:nvSpPr>
        <p:spPr>
          <a:xfrm>
            <a:off x="4322030" y="3476625"/>
            <a:ext cx="999692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финальное напоминание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296A4F7-1A75-4DBD-A99F-3FCE02F77690}"/>
              </a:ext>
            </a:extLst>
          </p:cNvPr>
          <p:cNvSpPr>
            <a:spLocks noGrp="1"/>
          </p:cNvSpPr>
          <p:nvPr/>
        </p:nvSpPr>
        <p:spPr>
          <a:xfrm>
            <a:off x="5591165" y="3409950"/>
            <a:ext cx="90881" cy="381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9628CB6D-81A7-4936-8CFE-54867E7B900C}"/>
              </a:ext>
            </a:extLst>
          </p:cNvPr>
          <p:cNvSpPr>
            <a:spLocks noGrp="1"/>
          </p:cNvSpPr>
          <p:nvPr/>
        </p:nvSpPr>
        <p:spPr>
          <a:xfrm>
            <a:off x="5667365" y="3257550"/>
            <a:ext cx="151469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32B96D1B-13CF-42B5-B658-AED0E360A0CE}"/>
              </a:ext>
            </a:extLst>
          </p:cNvPr>
          <p:cNvSpPr>
            <a:spLocks noGrp="1"/>
          </p:cNvSpPr>
          <p:nvPr/>
        </p:nvSpPr>
        <p:spPr>
          <a:xfrm>
            <a:off x="5960501" y="2924175"/>
            <a:ext cx="1332923" cy="1009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0B952CD-CB34-405B-AE03-63B0AB4DF9CB}"/>
              </a:ext>
            </a:extLst>
          </p:cNvPr>
          <p:cNvSpPr>
            <a:spLocks noGrp="1"/>
          </p:cNvSpPr>
          <p:nvPr/>
        </p:nvSpPr>
        <p:spPr>
          <a:xfrm>
            <a:off x="5960501" y="2924175"/>
            <a:ext cx="60587" cy="1009650"/>
          </a:xfrm>
          <a:prstGeom prst="rect">
            <a:avLst/>
          </a:prstGeom>
          <a:solidFill>
            <a:srgbClr val="E11D48"/>
          </a:solidFill>
          <a:ln w="0">
            <a:solidFill>
              <a:srgbClr val="E11D4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60EA711-3E13-43DF-A3F1-6AAE794202CA}"/>
              </a:ext>
            </a:extLst>
          </p:cNvPr>
          <p:cNvSpPr>
            <a:spLocks noGrp="1"/>
          </p:cNvSpPr>
          <p:nvPr/>
        </p:nvSpPr>
        <p:spPr>
          <a:xfrm>
            <a:off x="6170051" y="3095625"/>
            <a:ext cx="999692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rPr>
              <a:t>старт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4E5E10D5-D412-49AD-958A-41573F446BEE}"/>
              </a:ext>
            </a:extLst>
          </p:cNvPr>
          <p:cNvSpPr>
            <a:spLocks noGrp="1"/>
          </p:cNvSpPr>
          <p:nvPr/>
        </p:nvSpPr>
        <p:spPr>
          <a:xfrm>
            <a:off x="6170051" y="3438525"/>
            <a:ext cx="999692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код под рукой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DF844A4-C6F1-4E86-91A2-046C38BCCD33}"/>
              </a:ext>
            </a:extLst>
          </p:cNvPr>
          <p:cNvSpPr>
            <a:spLocks noGrp="1"/>
          </p:cNvSpPr>
          <p:nvPr/>
        </p:nvSpPr>
        <p:spPr>
          <a:xfrm>
            <a:off x="682464" y="4384386"/>
            <a:ext cx="5544705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50D32D4-A5EA-42A3-A6D9-6D6526C0A72D}"/>
              </a:ext>
            </a:extLst>
          </p:cNvPr>
          <p:cNvSpPr>
            <a:spLocks noGrp="1"/>
          </p:cNvSpPr>
          <p:nvPr/>
        </p:nvSpPr>
        <p:spPr>
          <a:xfrm>
            <a:off x="682464" y="4384386"/>
            <a:ext cx="60105" cy="81915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1FAFA877-4036-4D9F-B235-3206C9C66976}"/>
              </a:ext>
            </a:extLst>
          </p:cNvPr>
          <p:cNvSpPr>
            <a:spLocks noGrp="1"/>
          </p:cNvSpPr>
          <p:nvPr/>
        </p:nvSpPr>
        <p:spPr>
          <a:xfrm>
            <a:off x="892014" y="4555836"/>
            <a:ext cx="5214126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dirty="0" err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Подробнее</a:t>
            </a:r>
            <a:r>
              <a:rPr sz="1650" b="1" dirty="0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sz="1650" b="1" dirty="0" err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возвращает</a:t>
            </a:r>
            <a:r>
              <a:rPr sz="1650" b="1" dirty="0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 в </a:t>
            </a:r>
            <a:r>
              <a:rPr sz="1650" b="1" dirty="0" err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карточку</a:t>
            </a:r>
            <a:endParaRPr sz="1650" b="1" dirty="0">
              <a:solidFill>
                <a:srgbClr val="2563EB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01827951-D176-4CE7-BA12-51C0C40CE4D9}"/>
              </a:ext>
            </a:extLst>
          </p:cNvPr>
          <p:cNvSpPr>
            <a:spLocks noGrp="1"/>
          </p:cNvSpPr>
          <p:nvPr/>
        </p:nvSpPr>
        <p:spPr>
          <a:xfrm>
            <a:off x="892014" y="4898736"/>
            <a:ext cx="5214126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участник не ищет старое сообщение: бот сам ведет к нужному действию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646DB9FA-F6C7-4BDC-9D26-038F85D8B8B0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6A41E9E5-06CF-446A-BC1D-1C743CF7F638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AD61D59A-51B9-4871-9A81-CD29851AA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888" y="1837698"/>
            <a:ext cx="3943900" cy="449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898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C2B5D39-35C4-4793-8836-8DEB1DC16BC1}"/>
              </a:ext>
            </a:extLst>
          </p:cNvPr>
          <p:cNvSpPr>
            <a:spLocks noGrp="1"/>
          </p:cNvSpPr>
          <p:nvPr/>
        </p:nvSpPr>
        <p:spPr>
          <a:xfrm>
            <a:off x="0" y="9525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F7F8FA"/>
            </a:solidFill>
            <a:prstDash val="solid"/>
          </a:ln>
        </p:spPr>
      </p:sp>
      <p:sp>
        <p:nvSpPr>
          <p:cNvPr id="2" name="kicker-builder-marker">
            <a:extLst>
              <a:ext uri="{FF2B5EF4-FFF2-40B4-BE49-F238E27FC236}">
                <a16:creationId xmlns:a16="http://schemas.microsoft.com/office/drawing/2014/main" id="{88331D30-9FEA-4D9E-B56E-9F23CB12F066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3" name="kicker-builder-label">
            <a:extLst>
              <a:ext uri="{FF2B5EF4-FFF2-40B4-BE49-F238E27FC236}">
                <a16:creationId xmlns:a16="http://schemas.microsoft.com/office/drawing/2014/main" id="{3C2C7B2B-CF78-46E3-BB3E-D469D0BF5985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5D7E1B-7652-4DBA-BBAA-8C9DB9DCE1B5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7429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Билдер мероприятия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27741C5-E1F8-48A6-BA85-36A6E897921F}"/>
              </a:ext>
            </a:extLst>
          </p:cNvPr>
          <p:cNvSpPr>
            <a:spLocks noGrp="1"/>
          </p:cNvSpPr>
          <p:nvPr/>
        </p:nvSpPr>
        <p:spPr>
          <a:xfrm>
            <a:off x="704850" y="1543050"/>
            <a:ext cx="73342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Мероприятие собирается из блоков: дата, время, место, требования, слоты и обложка. Это удобно и пользователю, и будущей бизнес-логике.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EC4C066-C9B6-4CAB-A4E0-5EAE146B53E2}"/>
              </a:ext>
            </a:extLst>
          </p:cNvPr>
          <p:cNvSpPr>
            <a:spLocks noGrp="1"/>
          </p:cNvSpPr>
          <p:nvPr/>
        </p:nvSpPr>
        <p:spPr>
          <a:xfrm>
            <a:off x="440459" y="3028950"/>
            <a:ext cx="1714500" cy="304800"/>
          </a:xfrm>
          <a:prstGeom prst="rect">
            <a:avLst/>
          </a:prstGeom>
          <a:solidFill>
            <a:srgbClr val="DBEAFE"/>
          </a:solidFill>
          <a:ln w="9525">
            <a:solidFill>
              <a:srgbClr val="C8D2E0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D8F802F6-F986-4819-A333-AA2A8C47C866}"/>
              </a:ext>
            </a:extLst>
          </p:cNvPr>
          <p:cNvSpPr>
            <a:spLocks noGrp="1"/>
          </p:cNvSpPr>
          <p:nvPr/>
        </p:nvSpPr>
        <p:spPr>
          <a:xfrm>
            <a:off x="554759" y="3086100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2563EB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2563EB"/>
                </a:solidFill>
                <a:latin typeface="Segoe UI"/>
                <a:ea typeface="Segoe UI"/>
                <a:cs typeface="Segoe UI"/>
              </a:rPr>
              <a:t>Название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F82265E-D032-4827-AA11-37DE0BCA9965}"/>
              </a:ext>
            </a:extLst>
          </p:cNvPr>
          <p:cNvSpPr>
            <a:spLocks noGrp="1"/>
          </p:cNvSpPr>
          <p:nvPr/>
        </p:nvSpPr>
        <p:spPr>
          <a:xfrm>
            <a:off x="2535959" y="3028950"/>
            <a:ext cx="1714500" cy="304800"/>
          </a:xfrm>
          <a:prstGeom prst="rect">
            <a:avLst/>
          </a:prstGeom>
          <a:solidFill>
            <a:srgbClr val="DDF7EC"/>
          </a:solidFill>
          <a:ln w="9525">
            <a:solidFill>
              <a:srgbClr val="C8D2E0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C7599FB-81CF-4FB2-8452-1802F73D4793}"/>
              </a:ext>
            </a:extLst>
          </p:cNvPr>
          <p:cNvSpPr>
            <a:spLocks noGrp="1"/>
          </p:cNvSpPr>
          <p:nvPr/>
        </p:nvSpPr>
        <p:spPr>
          <a:xfrm>
            <a:off x="2650259" y="3086100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0A676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00A676"/>
                </a:solidFill>
                <a:latin typeface="Segoe UI"/>
                <a:ea typeface="Segoe UI"/>
                <a:cs typeface="Segoe UI"/>
              </a:rPr>
              <a:t>Дата и время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4FD5749-B26D-40D6-873A-E6454F7ECB42}"/>
              </a:ext>
            </a:extLst>
          </p:cNvPr>
          <p:cNvSpPr>
            <a:spLocks noGrp="1"/>
          </p:cNvSpPr>
          <p:nvPr/>
        </p:nvSpPr>
        <p:spPr>
          <a:xfrm>
            <a:off x="4631459" y="3028950"/>
            <a:ext cx="1714500" cy="304800"/>
          </a:xfrm>
          <a:prstGeom prst="rect">
            <a:avLst/>
          </a:prstGeom>
          <a:solidFill>
            <a:srgbClr val="FEF3C7"/>
          </a:solidFill>
          <a:ln w="9525">
            <a:solidFill>
              <a:srgbClr val="C8D2E0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48D1256-6DF7-411D-A2E3-7C9932055EE6}"/>
              </a:ext>
            </a:extLst>
          </p:cNvPr>
          <p:cNvSpPr>
            <a:spLocks noGrp="1"/>
          </p:cNvSpPr>
          <p:nvPr/>
        </p:nvSpPr>
        <p:spPr>
          <a:xfrm>
            <a:off x="4745759" y="3086100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9A5B00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9A5B00"/>
                </a:solidFill>
                <a:latin typeface="Segoe UI"/>
                <a:ea typeface="Segoe UI"/>
                <a:cs typeface="Segoe UI"/>
              </a:rPr>
              <a:t>Место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A013934-54CE-4507-BBE3-C82E449E11E2}"/>
              </a:ext>
            </a:extLst>
          </p:cNvPr>
          <p:cNvSpPr>
            <a:spLocks noGrp="1"/>
          </p:cNvSpPr>
          <p:nvPr/>
        </p:nvSpPr>
        <p:spPr>
          <a:xfrm>
            <a:off x="440459" y="3733800"/>
            <a:ext cx="1714500" cy="304800"/>
          </a:xfrm>
          <a:prstGeom prst="rect">
            <a:avLst/>
          </a:prstGeom>
          <a:solidFill>
            <a:srgbClr val="EDE9FE"/>
          </a:solidFill>
          <a:ln w="9525">
            <a:solidFill>
              <a:srgbClr val="C8D2E0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6B7166E-08D4-4A7E-A3D8-11871BA9A7AC}"/>
              </a:ext>
            </a:extLst>
          </p:cNvPr>
          <p:cNvSpPr>
            <a:spLocks noGrp="1"/>
          </p:cNvSpPr>
          <p:nvPr/>
        </p:nvSpPr>
        <p:spPr>
          <a:xfrm>
            <a:off x="554759" y="3790950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7C3AED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7C3AED"/>
                </a:solidFill>
                <a:latin typeface="Segoe UI"/>
                <a:ea typeface="Segoe UI"/>
                <a:cs typeface="Segoe UI"/>
              </a:rPr>
              <a:t>Требования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F6F38F3-8B38-4D8E-B11F-4ABD3034B6B5}"/>
              </a:ext>
            </a:extLst>
          </p:cNvPr>
          <p:cNvSpPr>
            <a:spLocks noGrp="1"/>
          </p:cNvSpPr>
          <p:nvPr/>
        </p:nvSpPr>
        <p:spPr>
          <a:xfrm>
            <a:off x="2535959" y="3733800"/>
            <a:ext cx="1714500" cy="304800"/>
          </a:xfrm>
          <a:prstGeom prst="rect">
            <a:avLst/>
          </a:prstGeom>
          <a:solidFill>
            <a:srgbClr val="FFE4E6"/>
          </a:solidFill>
          <a:ln w="9525">
            <a:solidFill>
              <a:srgbClr val="C8D2E0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4248956-96A4-494F-A8B3-B67BD7132639}"/>
              </a:ext>
            </a:extLst>
          </p:cNvPr>
          <p:cNvSpPr>
            <a:spLocks noGrp="1"/>
          </p:cNvSpPr>
          <p:nvPr/>
        </p:nvSpPr>
        <p:spPr>
          <a:xfrm>
            <a:off x="2650259" y="3790950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E11D48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E11D48"/>
                </a:solidFill>
                <a:latin typeface="Segoe UI"/>
                <a:ea typeface="Segoe UI"/>
                <a:cs typeface="Segoe UI"/>
              </a:rPr>
              <a:t>Слоты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B884387-5AC2-4877-8E28-F75DD865CB2B}"/>
              </a:ext>
            </a:extLst>
          </p:cNvPr>
          <p:cNvSpPr>
            <a:spLocks noGrp="1"/>
          </p:cNvSpPr>
          <p:nvPr/>
        </p:nvSpPr>
        <p:spPr>
          <a:xfrm>
            <a:off x="4631459" y="3733800"/>
            <a:ext cx="1714500" cy="304800"/>
          </a:xfrm>
          <a:prstGeom prst="rect">
            <a:avLst/>
          </a:prstGeom>
          <a:solidFill>
            <a:srgbClr val="EEF3FA"/>
          </a:solidFill>
          <a:ln w="9525">
            <a:solidFill>
              <a:srgbClr val="C8D2E0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D1E5AC2-35B7-470C-B9AD-B5EE89AB51EB}"/>
              </a:ext>
            </a:extLst>
          </p:cNvPr>
          <p:cNvSpPr>
            <a:spLocks noGrp="1"/>
          </p:cNvSpPr>
          <p:nvPr/>
        </p:nvSpPr>
        <p:spPr>
          <a:xfrm>
            <a:off x="4745759" y="3790950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F2937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1F2937"/>
                </a:solidFill>
                <a:latin typeface="Segoe UI"/>
                <a:ea typeface="Segoe UI"/>
                <a:cs typeface="Segoe UI"/>
              </a:rPr>
              <a:t>Обложка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01D737A-610C-4BFE-8DF5-02FF6EE100E7}"/>
              </a:ext>
            </a:extLst>
          </p:cNvPr>
          <p:cNvSpPr>
            <a:spLocks noGrp="1"/>
          </p:cNvSpPr>
          <p:nvPr/>
        </p:nvSpPr>
        <p:spPr>
          <a:xfrm>
            <a:off x="6079259" y="3505200"/>
            <a:ext cx="190500" cy="3810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59D6EAE6-2CDC-451F-AF64-FDC282E5F49E}"/>
              </a:ext>
            </a:extLst>
          </p:cNvPr>
          <p:cNvSpPr>
            <a:spLocks noGrp="1"/>
          </p:cNvSpPr>
          <p:nvPr/>
        </p:nvSpPr>
        <p:spPr>
          <a:xfrm>
            <a:off x="6231659" y="3352800"/>
            <a:ext cx="190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21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57A9F53-E501-4D13-9A40-6AF67EC51106}"/>
              </a:ext>
            </a:extLst>
          </p:cNvPr>
          <p:cNvSpPr>
            <a:spLocks noGrp="1"/>
          </p:cNvSpPr>
          <p:nvPr/>
        </p:nvSpPr>
        <p:spPr>
          <a:xfrm>
            <a:off x="6574559" y="3143250"/>
            <a:ext cx="163830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F960B67-9DC3-4C8C-AD8E-C2EF1BDF51BF}"/>
              </a:ext>
            </a:extLst>
          </p:cNvPr>
          <p:cNvSpPr>
            <a:spLocks noGrp="1"/>
          </p:cNvSpPr>
          <p:nvPr/>
        </p:nvSpPr>
        <p:spPr>
          <a:xfrm>
            <a:off x="6574559" y="3143250"/>
            <a:ext cx="76200" cy="81915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D24AFFD-D0D8-4C74-9E52-32763AAACF5E}"/>
              </a:ext>
            </a:extLst>
          </p:cNvPr>
          <p:cNvSpPr>
            <a:spLocks noGrp="1"/>
          </p:cNvSpPr>
          <p:nvPr/>
        </p:nvSpPr>
        <p:spPr>
          <a:xfrm>
            <a:off x="6784109" y="3314700"/>
            <a:ext cx="12192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Билдер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150AAC1-5500-4BB6-886B-C22792946807}"/>
              </a:ext>
            </a:extLst>
          </p:cNvPr>
          <p:cNvSpPr>
            <a:spLocks noGrp="1"/>
          </p:cNvSpPr>
          <p:nvPr/>
        </p:nvSpPr>
        <p:spPr>
          <a:xfrm>
            <a:off x="6784109" y="3657600"/>
            <a:ext cx="12192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мероприятий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46DC5CE8-B17F-438A-B689-FF09BD99A412}"/>
              </a:ext>
            </a:extLst>
          </p:cNvPr>
          <p:cNvSpPr>
            <a:spLocks noGrp="1"/>
          </p:cNvSpPr>
          <p:nvPr/>
        </p:nvSpPr>
        <p:spPr>
          <a:xfrm>
            <a:off x="440459" y="5018954"/>
            <a:ext cx="48196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CD6DE05-A2CB-4496-A759-38BF98AB7C3C}"/>
              </a:ext>
            </a:extLst>
          </p:cNvPr>
          <p:cNvSpPr>
            <a:spLocks noGrp="1"/>
          </p:cNvSpPr>
          <p:nvPr/>
        </p:nvSpPr>
        <p:spPr>
          <a:xfrm>
            <a:off x="440459" y="5018954"/>
            <a:ext cx="76200" cy="9906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09D217D-F6E9-4BB7-84D4-D379617AE03A}"/>
              </a:ext>
            </a:extLst>
          </p:cNvPr>
          <p:cNvSpPr>
            <a:spLocks noGrp="1"/>
          </p:cNvSpPr>
          <p:nvPr/>
        </p:nvSpPr>
        <p:spPr>
          <a:xfrm>
            <a:off x="650009" y="5190404"/>
            <a:ext cx="44005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dirty="0" err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Пользователю</a:t>
            </a:r>
            <a:endParaRPr sz="1650" b="1" dirty="0">
              <a:solidFill>
                <a:srgbClr val="00A676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A28BF60-5B2F-4A9C-BF29-E64E05D00250}"/>
              </a:ext>
            </a:extLst>
          </p:cNvPr>
          <p:cNvSpPr>
            <a:spLocks noGrp="1"/>
          </p:cNvSpPr>
          <p:nvPr/>
        </p:nvSpPr>
        <p:spPr>
          <a:xfrm>
            <a:off x="650009" y="5533304"/>
            <a:ext cx="4400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 карточке быстро читаются время, требования и действие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37E5461-C271-41AF-B8EE-785DDB14019F}"/>
              </a:ext>
            </a:extLst>
          </p:cNvPr>
          <p:cNvSpPr>
            <a:spLocks noGrp="1"/>
          </p:cNvSpPr>
          <p:nvPr/>
        </p:nvSpPr>
        <p:spPr>
          <a:xfrm>
            <a:off x="5641109" y="5018953"/>
            <a:ext cx="2865582" cy="990601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4F206DA2-EA97-425E-8880-1EA827327A58}"/>
              </a:ext>
            </a:extLst>
          </p:cNvPr>
          <p:cNvSpPr>
            <a:spLocks noGrp="1"/>
          </p:cNvSpPr>
          <p:nvPr/>
        </p:nvSpPr>
        <p:spPr>
          <a:xfrm>
            <a:off x="5641109" y="5018954"/>
            <a:ext cx="76200" cy="99060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5E2D54D-D520-4C36-9DA3-140CECDC6797}"/>
              </a:ext>
            </a:extLst>
          </p:cNvPr>
          <p:cNvSpPr>
            <a:spLocks noGrp="1"/>
          </p:cNvSpPr>
          <p:nvPr/>
        </p:nvSpPr>
        <p:spPr>
          <a:xfrm>
            <a:off x="5850659" y="5190404"/>
            <a:ext cx="23431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Управление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567D33F-34A2-454B-84FE-B2D2533DE7FB}"/>
              </a:ext>
            </a:extLst>
          </p:cNvPr>
          <p:cNvSpPr>
            <a:spLocks noGrp="1"/>
          </p:cNvSpPr>
          <p:nvPr/>
        </p:nvSpPr>
        <p:spPr>
          <a:xfrm>
            <a:off x="5850658" y="5533304"/>
            <a:ext cx="2582141" cy="5443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закрыть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регистрацию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отправить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напоминание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поделиться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ссылкой</a:t>
            </a:r>
            <a:endParaRPr sz="1200" b="0" dirty="0">
              <a:solidFill>
                <a:srgbClr val="66708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48A1FDC-5284-4A7E-A7A6-A3F0BEC8B522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CDACA024-4452-48F0-9247-79C44EF689A9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3042A045-AD5D-4F8C-B678-D9D0BC319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0" y="209550"/>
            <a:ext cx="3744228" cy="4664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068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C7E15694-C13F-4856-AD65-60A3A265F4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F7F8FA"/>
            </a:solidFill>
            <a:prstDash val="solid"/>
          </a:ln>
        </p:spPr>
      </p:sp>
      <p:sp>
        <p:nvSpPr>
          <p:cNvPr id="2" name="kicker-attendance-marker">
            <a:extLst>
              <a:ext uri="{FF2B5EF4-FFF2-40B4-BE49-F238E27FC236}">
                <a16:creationId xmlns:a16="http://schemas.microsoft.com/office/drawing/2014/main" id="{DB71F292-A410-4256-96F3-30C0CFF92AF5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E11D48"/>
          </a:solidFill>
          <a:ln w="0">
            <a:solidFill>
              <a:srgbClr val="E11D48"/>
            </a:solidFill>
            <a:prstDash val="solid"/>
          </a:ln>
        </p:spPr>
      </p:sp>
      <p:sp>
        <p:nvSpPr>
          <p:cNvPr id="3" name="kicker-attendance-label">
            <a:extLst>
              <a:ext uri="{FF2B5EF4-FFF2-40B4-BE49-F238E27FC236}">
                <a16:creationId xmlns:a16="http://schemas.microsoft.com/office/drawing/2014/main" id="{A5F06ACC-376E-49BF-B591-E46ECED51D6F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B284F5A-D496-4821-9D0F-3AED798B3D69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7810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Код подтверждается одной кнопкой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CD3EDD7-69C8-4C19-88FA-0448ADE73691}"/>
              </a:ext>
            </a:extLst>
          </p:cNvPr>
          <p:cNvSpPr>
            <a:spLocks noGrp="1"/>
          </p:cNvSpPr>
          <p:nvPr/>
        </p:nvSpPr>
        <p:spPr>
          <a:xfrm>
            <a:off x="704850" y="1543050"/>
            <a:ext cx="80962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Основной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поток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линейный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: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участник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показывает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код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endParaRPr lang="en-US" sz="1650" b="0" dirty="0">
              <a:solidFill>
                <a:srgbClr val="667085"/>
              </a:solidFill>
              <a:latin typeface="Segoe UI"/>
              <a:ea typeface="Segoe UI"/>
              <a:cs typeface="Segoe UI"/>
            </a:endParaRPr>
          </a:p>
          <a:p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Организатор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подтверждает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бот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меняет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статус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и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уведомляет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участника</a:t>
            </a:r>
            <a:r>
              <a:rPr sz="165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8F63C8E-D947-443D-BC4C-84ED5FCF51F0}"/>
              </a:ext>
            </a:extLst>
          </p:cNvPr>
          <p:cNvSpPr>
            <a:spLocks noGrp="1"/>
          </p:cNvSpPr>
          <p:nvPr/>
        </p:nvSpPr>
        <p:spPr>
          <a:xfrm>
            <a:off x="274781" y="2876550"/>
            <a:ext cx="2095500" cy="1352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A826540-733E-4DB3-9C3D-EE5F3ADFF411}"/>
              </a:ext>
            </a:extLst>
          </p:cNvPr>
          <p:cNvSpPr>
            <a:spLocks noGrp="1"/>
          </p:cNvSpPr>
          <p:nvPr/>
        </p:nvSpPr>
        <p:spPr>
          <a:xfrm>
            <a:off x="446231" y="3048000"/>
            <a:ext cx="323850" cy="323850"/>
          </a:xfrm>
          <a:prstGeom prst="rect">
            <a:avLst/>
          </a:prstGeom>
          <a:solidFill>
            <a:srgbClr val="E11D48"/>
          </a:solidFill>
          <a:ln w="0">
            <a:solidFill>
              <a:srgbClr val="E11D48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59014EA-81F2-4646-869B-D48814ADA022}"/>
              </a:ext>
            </a:extLst>
          </p:cNvPr>
          <p:cNvSpPr>
            <a:spLocks noGrp="1"/>
          </p:cNvSpPr>
          <p:nvPr/>
        </p:nvSpPr>
        <p:spPr>
          <a:xfrm>
            <a:off x="446231" y="3095625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F8EF890-BA88-4A40-A468-491C10A57BEE}"/>
              </a:ext>
            </a:extLst>
          </p:cNvPr>
          <p:cNvSpPr>
            <a:spLocks noGrp="1"/>
          </p:cNvSpPr>
          <p:nvPr/>
        </p:nvSpPr>
        <p:spPr>
          <a:xfrm>
            <a:off x="903431" y="3038475"/>
            <a:ext cx="12954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Код на входе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298DA3C-DC29-40EA-A566-E2BEDBCC0941}"/>
              </a:ext>
            </a:extLst>
          </p:cNvPr>
          <p:cNvSpPr>
            <a:spLocks noGrp="1"/>
          </p:cNvSpPr>
          <p:nvPr/>
        </p:nvSpPr>
        <p:spPr>
          <a:xfrm>
            <a:off x="484331" y="3543300"/>
            <a:ext cx="16764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участник показывает код записи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344A948-980A-4BF4-829E-0ED0408575ED}"/>
              </a:ext>
            </a:extLst>
          </p:cNvPr>
          <p:cNvSpPr>
            <a:spLocks noGrp="1"/>
          </p:cNvSpPr>
          <p:nvPr/>
        </p:nvSpPr>
        <p:spPr>
          <a:xfrm>
            <a:off x="2503631" y="3524250"/>
            <a:ext cx="342900" cy="38100"/>
          </a:xfrm>
          <a:prstGeom prst="rect">
            <a:avLst/>
          </a:prstGeom>
          <a:solidFill>
            <a:srgbClr val="E11D48"/>
          </a:solidFill>
          <a:ln w="0">
            <a:solidFill>
              <a:srgbClr val="E11D48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BF347A3-5401-4AF8-8F1A-37FC4E2416DF}"/>
              </a:ext>
            </a:extLst>
          </p:cNvPr>
          <p:cNvSpPr>
            <a:spLocks noGrp="1"/>
          </p:cNvSpPr>
          <p:nvPr/>
        </p:nvSpPr>
        <p:spPr>
          <a:xfrm>
            <a:off x="2808431" y="3371850"/>
            <a:ext cx="190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210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F5FCA5C-87A9-4C48-AF19-F4A4AB4FBEA1}"/>
              </a:ext>
            </a:extLst>
          </p:cNvPr>
          <p:cNvSpPr>
            <a:spLocks noGrp="1"/>
          </p:cNvSpPr>
          <p:nvPr/>
        </p:nvSpPr>
        <p:spPr>
          <a:xfrm>
            <a:off x="3151331" y="2876550"/>
            <a:ext cx="2095500" cy="1352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B6A78C3-C4E8-4E53-870D-50F5458A5CF2}"/>
              </a:ext>
            </a:extLst>
          </p:cNvPr>
          <p:cNvSpPr>
            <a:spLocks noGrp="1"/>
          </p:cNvSpPr>
          <p:nvPr/>
        </p:nvSpPr>
        <p:spPr>
          <a:xfrm>
            <a:off x="3322781" y="3048000"/>
            <a:ext cx="323850" cy="32385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23CEB8E-44A8-408F-8676-42A3A079C9CF}"/>
              </a:ext>
            </a:extLst>
          </p:cNvPr>
          <p:cNvSpPr>
            <a:spLocks noGrp="1"/>
          </p:cNvSpPr>
          <p:nvPr/>
        </p:nvSpPr>
        <p:spPr>
          <a:xfrm>
            <a:off x="3322781" y="3095625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793ED85-EB07-42E6-A98A-3F6B76C6FAAF}"/>
              </a:ext>
            </a:extLst>
          </p:cNvPr>
          <p:cNvSpPr>
            <a:spLocks noGrp="1"/>
          </p:cNvSpPr>
          <p:nvPr/>
        </p:nvSpPr>
        <p:spPr>
          <a:xfrm>
            <a:off x="3779981" y="3038475"/>
            <a:ext cx="12954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Одна кнопка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3C454B4-BB72-44DD-A65A-F76B66795618}"/>
              </a:ext>
            </a:extLst>
          </p:cNvPr>
          <p:cNvSpPr>
            <a:spLocks noGrp="1"/>
          </p:cNvSpPr>
          <p:nvPr/>
        </p:nvSpPr>
        <p:spPr>
          <a:xfrm>
            <a:off x="3360881" y="3543300"/>
            <a:ext cx="16764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Организатор отмечает посещение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8917F01A-5EDE-4E7D-93CE-2876FBACF84F}"/>
              </a:ext>
            </a:extLst>
          </p:cNvPr>
          <p:cNvSpPr>
            <a:spLocks noGrp="1"/>
          </p:cNvSpPr>
          <p:nvPr/>
        </p:nvSpPr>
        <p:spPr>
          <a:xfrm>
            <a:off x="5380181" y="3524250"/>
            <a:ext cx="342900" cy="381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475B642-3383-42A9-8045-AA5F38D843C7}"/>
              </a:ext>
            </a:extLst>
          </p:cNvPr>
          <p:cNvSpPr>
            <a:spLocks noGrp="1"/>
          </p:cNvSpPr>
          <p:nvPr/>
        </p:nvSpPr>
        <p:spPr>
          <a:xfrm>
            <a:off x="5684981" y="3371850"/>
            <a:ext cx="190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41404A0-B65A-4620-BE42-76AD15380D4C}"/>
              </a:ext>
            </a:extLst>
          </p:cNvPr>
          <p:cNvSpPr>
            <a:spLocks noGrp="1"/>
          </p:cNvSpPr>
          <p:nvPr/>
        </p:nvSpPr>
        <p:spPr>
          <a:xfrm>
            <a:off x="6027881" y="2876550"/>
            <a:ext cx="2095500" cy="13525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1BE890E-25F4-48AD-88B8-C9A1F283262B}"/>
              </a:ext>
            </a:extLst>
          </p:cNvPr>
          <p:cNvSpPr>
            <a:spLocks noGrp="1"/>
          </p:cNvSpPr>
          <p:nvPr/>
        </p:nvSpPr>
        <p:spPr>
          <a:xfrm>
            <a:off x="6199331" y="3048000"/>
            <a:ext cx="323850" cy="32385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B008AB7F-9A2A-4BBF-A280-31C2914CE813}"/>
              </a:ext>
            </a:extLst>
          </p:cNvPr>
          <p:cNvSpPr>
            <a:spLocks noGrp="1"/>
          </p:cNvSpPr>
          <p:nvPr/>
        </p:nvSpPr>
        <p:spPr>
          <a:xfrm>
            <a:off x="6199331" y="3095625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2DDC494-35F4-4A5A-8505-C707F0E40440}"/>
              </a:ext>
            </a:extLst>
          </p:cNvPr>
          <p:cNvSpPr>
            <a:spLocks noGrp="1"/>
          </p:cNvSpPr>
          <p:nvPr/>
        </p:nvSpPr>
        <p:spPr>
          <a:xfrm>
            <a:off x="6656531" y="3038475"/>
            <a:ext cx="12954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Статус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995BD6DF-24F7-4D36-B617-7A2181A3BF9D}"/>
              </a:ext>
            </a:extLst>
          </p:cNvPr>
          <p:cNvSpPr>
            <a:spLocks noGrp="1"/>
          </p:cNvSpPr>
          <p:nvPr/>
        </p:nvSpPr>
        <p:spPr>
          <a:xfrm>
            <a:off x="6237431" y="3543300"/>
            <a:ext cx="16764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запись становится посещенной, участник получает сообщение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6EE37F1A-8A9D-426B-86DD-1749BF2C9E00}"/>
              </a:ext>
            </a:extLst>
          </p:cNvPr>
          <p:cNvSpPr>
            <a:spLocks noGrp="1"/>
          </p:cNvSpPr>
          <p:nvPr/>
        </p:nvSpPr>
        <p:spPr>
          <a:xfrm>
            <a:off x="270162" y="4953000"/>
            <a:ext cx="3333750" cy="1009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40B053A0-6223-4FF0-9968-58200187C5A7}"/>
              </a:ext>
            </a:extLst>
          </p:cNvPr>
          <p:cNvSpPr>
            <a:spLocks noGrp="1"/>
          </p:cNvSpPr>
          <p:nvPr/>
        </p:nvSpPr>
        <p:spPr>
          <a:xfrm>
            <a:off x="270162" y="4953000"/>
            <a:ext cx="86014" cy="100965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5F324CD-A522-4D07-A16E-DC3C7772F7AE}"/>
              </a:ext>
            </a:extLst>
          </p:cNvPr>
          <p:cNvSpPr>
            <a:spLocks noGrp="1"/>
          </p:cNvSpPr>
          <p:nvPr/>
        </p:nvSpPr>
        <p:spPr>
          <a:xfrm>
            <a:off x="479712" y="5124450"/>
            <a:ext cx="2914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Поиск как запасной путь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AF877201-E643-475A-8489-7CC879F850CF}"/>
              </a:ext>
            </a:extLst>
          </p:cNvPr>
          <p:cNvSpPr>
            <a:spLocks noGrp="1"/>
          </p:cNvSpPr>
          <p:nvPr/>
        </p:nvSpPr>
        <p:spPr>
          <a:xfrm>
            <a:off x="479712" y="5467350"/>
            <a:ext cx="2914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если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код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забыли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запись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можно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найти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имени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или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профилю</a:t>
            </a:r>
            <a:r>
              <a:rPr sz="1200" b="0" dirty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 MAX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612980AA-8C22-4A7C-8A7F-BAEAFCFDB505}"/>
              </a:ext>
            </a:extLst>
          </p:cNvPr>
          <p:cNvSpPr>
            <a:spLocks noGrp="1"/>
          </p:cNvSpPr>
          <p:nvPr/>
        </p:nvSpPr>
        <p:spPr>
          <a:xfrm>
            <a:off x="3908712" y="4953000"/>
            <a:ext cx="3333750" cy="1009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9C38C49-5F73-4B07-BFA4-D5C1074A9C7C}"/>
              </a:ext>
            </a:extLst>
          </p:cNvPr>
          <p:cNvSpPr>
            <a:spLocks noGrp="1"/>
          </p:cNvSpPr>
          <p:nvPr/>
        </p:nvSpPr>
        <p:spPr>
          <a:xfrm>
            <a:off x="3908712" y="4953000"/>
            <a:ext cx="86014" cy="100965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FD162BD-2F33-4014-8FE6-28EEC65497A7}"/>
              </a:ext>
            </a:extLst>
          </p:cNvPr>
          <p:cNvSpPr>
            <a:spLocks noGrp="1"/>
          </p:cNvSpPr>
          <p:nvPr/>
        </p:nvSpPr>
        <p:spPr>
          <a:xfrm>
            <a:off x="4118262" y="5124450"/>
            <a:ext cx="2914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Журнал действий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8A390EEC-A057-4B2F-A7BF-B4F21587BED8}"/>
              </a:ext>
            </a:extLst>
          </p:cNvPr>
          <p:cNvSpPr>
            <a:spLocks noGrp="1"/>
          </p:cNvSpPr>
          <p:nvPr/>
        </p:nvSpPr>
        <p:spPr>
          <a:xfrm>
            <a:off x="4118262" y="5467350"/>
            <a:ext cx="2914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отметки посещения становятся основой для аудита и будущей аналитики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45442818-08F8-4D76-9263-86BE3BE1FD53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87894DE8-25AF-4DCB-A978-64727C2403E9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580AF75A-D626-43FB-AF26-29FD2DF51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268" y="876300"/>
            <a:ext cx="3574964" cy="517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310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1A074026-8342-410A-B223-15A8D22AEC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 w="0">
            <a:solidFill>
              <a:srgbClr val="F7F8FA"/>
            </a:solidFill>
            <a:prstDash val="solid"/>
          </a:ln>
        </p:spPr>
      </p:sp>
      <p:sp>
        <p:nvSpPr>
          <p:cNvPr id="2" name="kicker-criteria-marker">
            <a:extLst>
              <a:ext uri="{FF2B5EF4-FFF2-40B4-BE49-F238E27FC236}">
                <a16:creationId xmlns:a16="http://schemas.microsoft.com/office/drawing/2014/main" id="{C32BBDB0-8304-4388-BE38-842080A7DCBB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3" name="kicker-criteria-label">
            <a:extLst>
              <a:ext uri="{FF2B5EF4-FFF2-40B4-BE49-F238E27FC236}">
                <a16:creationId xmlns:a16="http://schemas.microsoft.com/office/drawing/2014/main" id="{322146DF-7C0E-44D9-93AB-E29DD0838606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667085"/>
                </a:solidFill>
                <a:latin typeface="Segoe UI Semibold"/>
                <a:ea typeface="Segoe UI Semibold"/>
                <a:cs typeface="Segoe UI Semibold"/>
              </a:rPr>
              <a:t>ПОЛЬЗОВАТЕЛЬСКИЙ ОПЫТ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2F271D0-E6DD-4537-9AE2-74F1EAE6F0FA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8572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111827"/>
                </a:solidFill>
                <a:latin typeface="Segoe UI Semibold"/>
                <a:ea typeface="Segoe UI Semibold"/>
                <a:cs typeface="Segoe UI Semibold"/>
              </a:rPr>
              <a:t>Критерии закрываются продуктом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AD1947D-BC8D-478F-A027-474FB2991E90}"/>
              </a:ext>
            </a:extLst>
          </p:cNvPr>
          <p:cNvSpPr>
            <a:spLocks noGrp="1"/>
          </p:cNvSpPr>
          <p:nvPr/>
        </p:nvSpPr>
        <p:spPr>
          <a:xfrm>
            <a:off x="704850" y="1543050"/>
            <a:ext cx="83820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Вместо отдельного рассказа про команду показываем то, что жюри сможет оценить по продукту: опыт, ценность, техника и надежность.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241A2B5-38D5-44AA-9A64-A9D3E88C65DD}"/>
              </a:ext>
            </a:extLst>
          </p:cNvPr>
          <p:cNvSpPr>
            <a:spLocks noGrp="1"/>
          </p:cNvSpPr>
          <p:nvPr/>
        </p:nvSpPr>
        <p:spPr>
          <a:xfrm>
            <a:off x="819150" y="2724150"/>
            <a:ext cx="30480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7ED6DD3-F30E-4BDF-B0E8-3FAF114AE95F}"/>
              </a:ext>
            </a:extLst>
          </p:cNvPr>
          <p:cNvSpPr>
            <a:spLocks noGrp="1"/>
          </p:cNvSpPr>
          <p:nvPr/>
        </p:nvSpPr>
        <p:spPr>
          <a:xfrm>
            <a:off x="819150" y="2724150"/>
            <a:ext cx="76200" cy="10668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7286C0F-3391-4A53-9021-99849FBDEDB0}"/>
              </a:ext>
            </a:extLst>
          </p:cNvPr>
          <p:cNvSpPr>
            <a:spLocks noGrp="1"/>
          </p:cNvSpPr>
          <p:nvPr/>
        </p:nvSpPr>
        <p:spPr>
          <a:xfrm>
            <a:off x="1028700" y="2895600"/>
            <a:ext cx="26289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Инновационность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B3CFBF3-1F65-4C08-A93C-6A0EAA5904B2}"/>
              </a:ext>
            </a:extLst>
          </p:cNvPr>
          <p:cNvSpPr>
            <a:spLocks noGrp="1"/>
          </p:cNvSpPr>
          <p:nvPr/>
        </p:nvSpPr>
        <p:spPr>
          <a:xfrm>
            <a:off x="1028700" y="3238500"/>
            <a:ext cx="26289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ссылка из рассылки сразу ведет к записи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B93B6F6-FB37-49D7-9060-1C9E88F07139}"/>
              </a:ext>
            </a:extLst>
          </p:cNvPr>
          <p:cNvSpPr>
            <a:spLocks noGrp="1"/>
          </p:cNvSpPr>
          <p:nvPr/>
        </p:nvSpPr>
        <p:spPr>
          <a:xfrm>
            <a:off x="4362450" y="2724150"/>
            <a:ext cx="30480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7850702-6150-4364-AD70-B8075FB363CB}"/>
              </a:ext>
            </a:extLst>
          </p:cNvPr>
          <p:cNvSpPr>
            <a:spLocks noGrp="1"/>
          </p:cNvSpPr>
          <p:nvPr/>
        </p:nvSpPr>
        <p:spPr>
          <a:xfrm>
            <a:off x="4362450" y="2724150"/>
            <a:ext cx="76200" cy="10668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3F13199-1D1A-44E5-811B-4EE219C4C7B4}"/>
              </a:ext>
            </a:extLst>
          </p:cNvPr>
          <p:cNvSpPr>
            <a:spLocks noGrp="1"/>
          </p:cNvSpPr>
          <p:nvPr/>
        </p:nvSpPr>
        <p:spPr>
          <a:xfrm>
            <a:off x="4572000" y="2895600"/>
            <a:ext cx="26289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Практическая ценность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2D8A36-FD08-4015-9DD6-1DDB5A2A8EFC}"/>
              </a:ext>
            </a:extLst>
          </p:cNvPr>
          <p:cNvSpPr>
            <a:spLocks noGrp="1"/>
          </p:cNvSpPr>
          <p:nvPr/>
        </p:nvSpPr>
        <p:spPr>
          <a:xfrm>
            <a:off x="4572000" y="3238500"/>
            <a:ext cx="26289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меньше ручной координации и потерянных участников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88BE71F-4FF7-4911-8167-DEE7DAC4B6A6}"/>
              </a:ext>
            </a:extLst>
          </p:cNvPr>
          <p:cNvSpPr>
            <a:spLocks noGrp="1"/>
          </p:cNvSpPr>
          <p:nvPr/>
        </p:nvSpPr>
        <p:spPr>
          <a:xfrm>
            <a:off x="7905750" y="2724150"/>
            <a:ext cx="30480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5E00528-6BA6-48F9-B7DD-917320B78BD4}"/>
              </a:ext>
            </a:extLst>
          </p:cNvPr>
          <p:cNvSpPr>
            <a:spLocks noGrp="1"/>
          </p:cNvSpPr>
          <p:nvPr/>
        </p:nvSpPr>
        <p:spPr>
          <a:xfrm>
            <a:off x="7905750" y="2724150"/>
            <a:ext cx="76200" cy="106680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25CCE8E-C49E-403A-973F-676A1D77B60B}"/>
              </a:ext>
            </a:extLst>
          </p:cNvPr>
          <p:cNvSpPr>
            <a:spLocks noGrp="1"/>
          </p:cNvSpPr>
          <p:nvPr/>
        </p:nvSpPr>
        <p:spPr>
          <a:xfrm>
            <a:off x="8115300" y="2895600"/>
            <a:ext cx="26289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Дизайн и UX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9FA1C1A-A473-49B0-9F9F-B3487A7EA520}"/>
              </a:ext>
            </a:extLst>
          </p:cNvPr>
          <p:cNvSpPr>
            <a:spLocks noGrp="1"/>
          </p:cNvSpPr>
          <p:nvPr/>
        </p:nvSpPr>
        <p:spPr>
          <a:xfrm>
            <a:off x="8115300" y="3238500"/>
            <a:ext cx="26289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понятные кнопки, короткий путь, данные структурированы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1ADC32F-D3F7-4388-9644-EAB91D709CD4}"/>
              </a:ext>
            </a:extLst>
          </p:cNvPr>
          <p:cNvSpPr>
            <a:spLocks noGrp="1"/>
          </p:cNvSpPr>
          <p:nvPr/>
        </p:nvSpPr>
        <p:spPr>
          <a:xfrm>
            <a:off x="819150" y="4114800"/>
            <a:ext cx="30480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7D4C2D3-D835-4049-ACC0-A68888AECA80}"/>
              </a:ext>
            </a:extLst>
          </p:cNvPr>
          <p:cNvSpPr>
            <a:spLocks noGrp="1"/>
          </p:cNvSpPr>
          <p:nvPr/>
        </p:nvSpPr>
        <p:spPr>
          <a:xfrm>
            <a:off x="819150" y="4114800"/>
            <a:ext cx="76200" cy="10668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730E141-84B3-4726-BE1D-733362A64EB1}"/>
              </a:ext>
            </a:extLst>
          </p:cNvPr>
          <p:cNvSpPr>
            <a:spLocks noGrp="1"/>
          </p:cNvSpPr>
          <p:nvPr/>
        </p:nvSpPr>
        <p:spPr>
          <a:xfrm>
            <a:off x="1028700" y="4286250"/>
            <a:ext cx="26289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Техническая реализация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DFD3200-2441-49D3-885F-2225DACDDFA0}"/>
              </a:ext>
            </a:extLst>
          </p:cNvPr>
          <p:cNvSpPr>
            <a:spLocks noGrp="1"/>
          </p:cNvSpPr>
          <p:nvPr/>
        </p:nvSpPr>
        <p:spPr>
          <a:xfrm>
            <a:off x="1028700" y="4629150"/>
            <a:ext cx="26289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серверлесс, YDB, очередь уведомлений, деплой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69C53859-9EDB-451B-8590-FDA11F04D408}"/>
              </a:ext>
            </a:extLst>
          </p:cNvPr>
          <p:cNvSpPr>
            <a:spLocks noGrp="1"/>
          </p:cNvSpPr>
          <p:nvPr/>
        </p:nvSpPr>
        <p:spPr>
          <a:xfrm>
            <a:off x="4362450" y="4114800"/>
            <a:ext cx="30480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A61EC95-F0E8-4358-9C6B-34FA76A9EA99}"/>
              </a:ext>
            </a:extLst>
          </p:cNvPr>
          <p:cNvSpPr>
            <a:spLocks noGrp="1"/>
          </p:cNvSpPr>
          <p:nvPr/>
        </p:nvSpPr>
        <p:spPr>
          <a:xfrm>
            <a:off x="4362450" y="4114800"/>
            <a:ext cx="76200" cy="1066800"/>
          </a:xfrm>
          <a:prstGeom prst="rect">
            <a:avLst/>
          </a:prstGeom>
          <a:solidFill>
            <a:srgbClr val="E11D48"/>
          </a:solidFill>
          <a:ln w="0">
            <a:solidFill>
              <a:srgbClr val="E11D4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4A5FC92-D3DC-4428-8395-CAF8AACAB113}"/>
              </a:ext>
            </a:extLst>
          </p:cNvPr>
          <p:cNvSpPr>
            <a:spLocks noGrp="1"/>
          </p:cNvSpPr>
          <p:nvPr/>
        </p:nvSpPr>
        <p:spPr>
          <a:xfrm>
            <a:off x="4572000" y="4286250"/>
            <a:ext cx="26289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E11D48"/>
                </a:solidFill>
                <a:latin typeface="Segoe UI Semibold"/>
                <a:ea typeface="Segoe UI Semibold"/>
                <a:cs typeface="Segoe UI Semibold"/>
              </a:rPr>
              <a:t>Коммерциализация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2DB465C-C827-4066-B0E7-7F2C7BB36CC7}"/>
              </a:ext>
            </a:extLst>
          </p:cNvPr>
          <p:cNvSpPr>
            <a:spLocks noGrp="1"/>
          </p:cNvSpPr>
          <p:nvPr/>
        </p:nvSpPr>
        <p:spPr>
          <a:xfrm>
            <a:off x="4572000" y="4629150"/>
            <a:ext cx="26289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приоритетные места, статистика, аналитические отчеты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1BC5E92-E352-4521-949B-2029B0C9015B}"/>
              </a:ext>
            </a:extLst>
          </p:cNvPr>
          <p:cNvSpPr>
            <a:spLocks noGrp="1"/>
          </p:cNvSpPr>
          <p:nvPr/>
        </p:nvSpPr>
        <p:spPr>
          <a:xfrm>
            <a:off x="7905750" y="4114800"/>
            <a:ext cx="30480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FEA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6E2F846-9DF3-490C-91BF-F9DB9BCE77C6}"/>
              </a:ext>
            </a:extLst>
          </p:cNvPr>
          <p:cNvSpPr>
            <a:spLocks noGrp="1"/>
          </p:cNvSpPr>
          <p:nvPr/>
        </p:nvSpPr>
        <p:spPr>
          <a:xfrm>
            <a:off x="7905750" y="4114800"/>
            <a:ext cx="76200" cy="1066800"/>
          </a:xfrm>
          <a:prstGeom prst="rect">
            <a:avLst/>
          </a:prstGeom>
          <a:solidFill>
            <a:srgbClr val="1F2937"/>
          </a:solidFill>
          <a:ln w="0">
            <a:solidFill>
              <a:srgbClr val="1F2937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0CFB83A-E745-4140-BA88-D4AA58D74C4D}"/>
              </a:ext>
            </a:extLst>
          </p:cNvPr>
          <p:cNvSpPr>
            <a:spLocks noGrp="1"/>
          </p:cNvSpPr>
          <p:nvPr/>
        </p:nvSpPr>
        <p:spPr>
          <a:xfrm>
            <a:off x="8115300" y="4286250"/>
            <a:ext cx="26289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F2937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1F2937"/>
                </a:solidFill>
                <a:latin typeface="Segoe UI Semibold"/>
                <a:ea typeface="Segoe UI Semibold"/>
                <a:cs typeface="Segoe UI Semibold"/>
              </a:rPr>
              <a:t>Надежность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314A0733-1A8A-43F1-8CBD-540ECB336DE9}"/>
              </a:ext>
            </a:extLst>
          </p:cNvPr>
          <p:cNvSpPr>
            <a:spLocks noGrp="1"/>
          </p:cNvSpPr>
          <p:nvPr/>
        </p:nvSpPr>
        <p:spPr>
          <a:xfrm>
            <a:off x="8115300" y="4629150"/>
            <a:ext cx="26289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6708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7085"/>
                </a:solidFill>
                <a:latin typeface="Segoe UI"/>
                <a:ea typeface="Segoe UI"/>
                <a:cs typeface="Segoe UI"/>
              </a:rPr>
              <a:t>158 тестов, включая качество текстов интерфейса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64E1D58-42CB-4AEA-8AE6-39B487724DFF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42A89682-6363-45C8-A6D6-EEEE32A6EEB7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8A94A6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8A94A6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10174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Прямоугольник 58">
            <a:extLst>
              <a:ext uri="{FF2B5EF4-FFF2-40B4-BE49-F238E27FC236}">
                <a16:creationId xmlns:a16="http://schemas.microsoft.com/office/drawing/2014/main" id="{D8D83085-1578-4573-8EBB-A59254A401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</p:sp>
      <p:sp>
        <p:nvSpPr>
          <p:cNvPr id="2" name="kicker-stack-marker">
            <a:extLst>
              <a:ext uri="{FF2B5EF4-FFF2-40B4-BE49-F238E27FC236}">
                <a16:creationId xmlns:a16="http://schemas.microsoft.com/office/drawing/2014/main" id="{06292723-A36E-4001-8B7B-44AB079B8075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3" name="kicker-stack-label">
            <a:extLst>
              <a:ext uri="{FF2B5EF4-FFF2-40B4-BE49-F238E27FC236}">
                <a16:creationId xmlns:a16="http://schemas.microsoft.com/office/drawing/2014/main" id="{F1B6D8C6-274F-4B1A-B725-DE329889C9FB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rPr>
              <a:t>ТЕХНИЧЕСКАЯ РЕАЛИЗАЦИЯ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19632A6-C972-4791-A1B0-EBB66459A6C2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8953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Стек: российский контур и открытый код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EEBA8CB-BAE5-4F89-9CC6-DE61327A7283}"/>
              </a:ext>
            </a:extLst>
          </p:cNvPr>
          <p:cNvSpPr>
            <a:spLocks noGrp="1"/>
          </p:cNvSpPr>
          <p:nvPr/>
        </p:nvSpPr>
        <p:spPr>
          <a:xfrm>
            <a:off x="704850" y="1543050"/>
            <a:ext cx="82867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Это важно для импортозамещения: меньше зависимости от закрытых иностранных сервисов, проще проверять и поддерживать решение.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303677A-4257-4364-A18B-6F8D098D03FC}"/>
              </a:ext>
            </a:extLst>
          </p:cNvPr>
          <p:cNvSpPr>
            <a:spLocks noGrp="1"/>
          </p:cNvSpPr>
          <p:nvPr/>
        </p:nvSpPr>
        <p:spPr>
          <a:xfrm>
            <a:off x="8096250" y="400050"/>
            <a:ext cx="2857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00A676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00A676"/>
                </a:solidFill>
                <a:latin typeface="Segoe UI"/>
                <a:ea typeface="Segoe UI"/>
                <a:cs typeface="Segoe UI"/>
              </a:rPr>
              <a:t>RU = российская технология или сервис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7D99E1A-086A-4339-861F-BDAAC017F0C8}"/>
              </a:ext>
            </a:extLst>
          </p:cNvPr>
          <p:cNvSpPr>
            <a:spLocks noGrp="1"/>
          </p:cNvSpPr>
          <p:nvPr/>
        </p:nvSpPr>
        <p:spPr>
          <a:xfrm>
            <a:off x="8096250" y="609600"/>
            <a:ext cx="2857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93C5FD"/>
                </a:solidFill>
                <a:latin typeface="Segoe UI"/>
                <a:ea typeface="Segoe UI"/>
                <a:cs typeface="Segoe UI"/>
              </a:defRPr>
            </a:pPr>
            <a:r>
              <a:rPr sz="975" b="1">
                <a:solidFill>
                  <a:srgbClr val="93C5FD"/>
                </a:solidFill>
                <a:latin typeface="Segoe UI"/>
                <a:ea typeface="Segoe UI"/>
                <a:cs typeface="Segoe UI"/>
              </a:rPr>
              <a:t>OSS = открытый исходный код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1FECBB5-4CB5-4342-9888-344590570763}"/>
              </a:ext>
            </a:extLst>
          </p:cNvPr>
          <p:cNvSpPr>
            <a:spLocks noGrp="1"/>
          </p:cNvSpPr>
          <p:nvPr/>
        </p:nvSpPr>
        <p:spPr>
          <a:xfrm>
            <a:off x="819150" y="2609850"/>
            <a:ext cx="2419350" cy="11239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508301D-5964-4AC7-801C-3FB18E9CE888}"/>
              </a:ext>
            </a:extLst>
          </p:cNvPr>
          <p:cNvSpPr>
            <a:spLocks noGrp="1"/>
          </p:cNvSpPr>
          <p:nvPr/>
        </p:nvSpPr>
        <p:spPr>
          <a:xfrm>
            <a:off x="819150" y="2609850"/>
            <a:ext cx="2419350" cy="66675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AB1B909-96B2-4EEF-A7B4-5AAD90EF4CB9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2038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MAX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1244AAE-061C-4F86-BF24-476E5179BD3A}"/>
              </a:ext>
            </a:extLst>
          </p:cNvPr>
          <p:cNvSpPr>
            <a:spLocks noGrp="1"/>
          </p:cNvSpPr>
          <p:nvPr/>
        </p:nvSpPr>
        <p:spPr>
          <a:xfrm>
            <a:off x="1009650" y="3143250"/>
            <a:ext cx="2038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чатовая платформа и кнопки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4F89F41-2221-47A5-9404-5CA98F3A163F}"/>
              </a:ext>
            </a:extLst>
          </p:cNvPr>
          <p:cNvSpPr>
            <a:spLocks noGrp="1"/>
          </p:cNvSpPr>
          <p:nvPr/>
        </p:nvSpPr>
        <p:spPr>
          <a:xfrm>
            <a:off x="1009650" y="3429000"/>
            <a:ext cx="514350" cy="2286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1F30CDD-6BD6-4110-BBA8-84B37767F71C}"/>
              </a:ext>
            </a:extLst>
          </p:cNvPr>
          <p:cNvSpPr>
            <a:spLocks noGrp="1"/>
          </p:cNvSpPr>
          <p:nvPr/>
        </p:nvSpPr>
        <p:spPr>
          <a:xfrm>
            <a:off x="1009650" y="3476625"/>
            <a:ext cx="5143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RU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C37EE74-6AFC-4E88-8E13-9B3079D59D3B}"/>
              </a:ext>
            </a:extLst>
          </p:cNvPr>
          <p:cNvSpPr>
            <a:spLocks noGrp="1"/>
          </p:cNvSpPr>
          <p:nvPr/>
        </p:nvSpPr>
        <p:spPr>
          <a:xfrm>
            <a:off x="3562350" y="2609850"/>
            <a:ext cx="2419350" cy="11239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17DEE56-4A4A-4A39-AD29-1DAD9024A74E}"/>
              </a:ext>
            </a:extLst>
          </p:cNvPr>
          <p:cNvSpPr>
            <a:spLocks noGrp="1"/>
          </p:cNvSpPr>
          <p:nvPr/>
        </p:nvSpPr>
        <p:spPr>
          <a:xfrm>
            <a:off x="3562350" y="2609850"/>
            <a:ext cx="2419350" cy="66675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469438B-0BE5-4216-BF1C-CAE5A9CAF9BB}"/>
              </a:ext>
            </a:extLst>
          </p:cNvPr>
          <p:cNvSpPr>
            <a:spLocks noGrp="1"/>
          </p:cNvSpPr>
          <p:nvPr/>
        </p:nvSpPr>
        <p:spPr>
          <a:xfrm>
            <a:off x="3752850" y="2819400"/>
            <a:ext cx="2038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Yandex Cloud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DB0A6F2-36AF-4286-908A-D3EF99CA7AAE}"/>
              </a:ext>
            </a:extLst>
          </p:cNvPr>
          <p:cNvSpPr>
            <a:spLocks noGrp="1"/>
          </p:cNvSpPr>
          <p:nvPr/>
        </p:nvSpPr>
        <p:spPr>
          <a:xfrm>
            <a:off x="3752850" y="3095625"/>
            <a:ext cx="2228850" cy="2952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Cloud Functions </a:t>
            </a:r>
            <a:r>
              <a:rPr sz="9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для</a:t>
            </a:r>
            <a:r>
              <a:rPr sz="9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9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входящих</a:t>
            </a:r>
            <a:r>
              <a:rPr sz="9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9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запросов</a:t>
            </a:r>
            <a:r>
              <a:rPr sz="9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и </a:t>
            </a:r>
            <a:r>
              <a:rPr sz="9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таймера</a:t>
            </a:r>
            <a:endParaRPr sz="900" b="0" dirty="0">
              <a:solidFill>
                <a:srgbClr val="C9D4E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1422442-4666-4FB4-9512-9443D0141615}"/>
              </a:ext>
            </a:extLst>
          </p:cNvPr>
          <p:cNvSpPr>
            <a:spLocks noGrp="1"/>
          </p:cNvSpPr>
          <p:nvPr/>
        </p:nvSpPr>
        <p:spPr>
          <a:xfrm>
            <a:off x="3752850" y="3429000"/>
            <a:ext cx="514350" cy="2286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AF6B42C-3FCB-4A09-8CD8-2D07726B9916}"/>
              </a:ext>
            </a:extLst>
          </p:cNvPr>
          <p:cNvSpPr>
            <a:spLocks noGrp="1"/>
          </p:cNvSpPr>
          <p:nvPr/>
        </p:nvSpPr>
        <p:spPr>
          <a:xfrm>
            <a:off x="3752850" y="3476625"/>
            <a:ext cx="5143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RU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051FE48-0D48-4C61-B982-A3291775C372}"/>
              </a:ext>
            </a:extLst>
          </p:cNvPr>
          <p:cNvSpPr>
            <a:spLocks noGrp="1"/>
          </p:cNvSpPr>
          <p:nvPr/>
        </p:nvSpPr>
        <p:spPr>
          <a:xfrm>
            <a:off x="6305550" y="2609850"/>
            <a:ext cx="2419350" cy="11239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AC7E8D2-1856-42AC-877F-A120AB01FBA7}"/>
              </a:ext>
            </a:extLst>
          </p:cNvPr>
          <p:cNvSpPr>
            <a:spLocks noGrp="1"/>
          </p:cNvSpPr>
          <p:nvPr/>
        </p:nvSpPr>
        <p:spPr>
          <a:xfrm>
            <a:off x="6305550" y="2609850"/>
            <a:ext cx="2419350" cy="66675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473A8EB-7F9D-4330-AE44-1F9F0C8909E7}"/>
              </a:ext>
            </a:extLst>
          </p:cNvPr>
          <p:cNvSpPr>
            <a:spLocks noGrp="1"/>
          </p:cNvSpPr>
          <p:nvPr/>
        </p:nvSpPr>
        <p:spPr>
          <a:xfrm>
            <a:off x="6496050" y="2819400"/>
            <a:ext cx="2038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YDB Serverless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91772966-1FCB-487C-8185-059D282A5755}"/>
              </a:ext>
            </a:extLst>
          </p:cNvPr>
          <p:cNvSpPr>
            <a:spLocks noGrp="1"/>
          </p:cNvSpPr>
          <p:nvPr/>
        </p:nvSpPr>
        <p:spPr>
          <a:xfrm>
            <a:off x="6496050" y="3114675"/>
            <a:ext cx="2130714" cy="2762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хранилище</a:t>
            </a:r>
            <a:r>
              <a:rPr sz="9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9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мероприятий</a:t>
            </a:r>
            <a:r>
              <a:rPr sz="9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9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записей</a:t>
            </a:r>
            <a:r>
              <a:rPr sz="9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и </a:t>
            </a:r>
            <a:r>
              <a:rPr sz="9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очереди</a:t>
            </a:r>
            <a:endParaRPr sz="900" b="0" dirty="0">
              <a:solidFill>
                <a:srgbClr val="C9D4E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6DD4F1E-9BB7-4C4D-B8FA-208D668294E5}"/>
              </a:ext>
            </a:extLst>
          </p:cNvPr>
          <p:cNvSpPr>
            <a:spLocks noGrp="1"/>
          </p:cNvSpPr>
          <p:nvPr/>
        </p:nvSpPr>
        <p:spPr>
          <a:xfrm>
            <a:off x="6496050" y="3429000"/>
            <a:ext cx="514350" cy="2286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DD98D20-02EE-4231-9B86-88A35D7068EE}"/>
              </a:ext>
            </a:extLst>
          </p:cNvPr>
          <p:cNvSpPr>
            <a:spLocks noGrp="1"/>
          </p:cNvSpPr>
          <p:nvPr/>
        </p:nvSpPr>
        <p:spPr>
          <a:xfrm>
            <a:off x="6496050" y="3476625"/>
            <a:ext cx="5143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RU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395B598-AF28-4F95-A0AA-0F9CA234D17C}"/>
              </a:ext>
            </a:extLst>
          </p:cNvPr>
          <p:cNvSpPr>
            <a:spLocks noGrp="1"/>
          </p:cNvSpPr>
          <p:nvPr/>
        </p:nvSpPr>
        <p:spPr>
          <a:xfrm>
            <a:off x="9048750" y="2609850"/>
            <a:ext cx="1962150" cy="11239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7F65E36-35CE-4A9B-B6D8-68C3978EDFEA}"/>
              </a:ext>
            </a:extLst>
          </p:cNvPr>
          <p:cNvSpPr>
            <a:spLocks noGrp="1"/>
          </p:cNvSpPr>
          <p:nvPr/>
        </p:nvSpPr>
        <p:spPr>
          <a:xfrm>
            <a:off x="9048750" y="2609850"/>
            <a:ext cx="1962150" cy="66675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FBF8E67-7A22-43BE-80A6-87BA743E437D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15811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Python 3.12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D22DD4C-EBCD-43DE-8CEE-C4AF6C7FFA0C}"/>
              </a:ext>
            </a:extLst>
          </p:cNvPr>
          <p:cNvSpPr>
            <a:spLocks noGrp="1"/>
          </p:cNvSpPr>
          <p:nvPr/>
        </p:nvSpPr>
        <p:spPr>
          <a:xfrm>
            <a:off x="9239250" y="3143250"/>
            <a:ext cx="15811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сервисная логика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647EA6A2-B4D5-49E8-9A62-A1A3BD01C41F}"/>
              </a:ext>
            </a:extLst>
          </p:cNvPr>
          <p:cNvSpPr>
            <a:spLocks noGrp="1"/>
          </p:cNvSpPr>
          <p:nvPr/>
        </p:nvSpPr>
        <p:spPr>
          <a:xfrm>
            <a:off x="9239250" y="3429000"/>
            <a:ext cx="514350" cy="2286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B3EF427-DF22-400E-B620-918FBBFD6EDA}"/>
              </a:ext>
            </a:extLst>
          </p:cNvPr>
          <p:cNvSpPr>
            <a:spLocks noGrp="1"/>
          </p:cNvSpPr>
          <p:nvPr/>
        </p:nvSpPr>
        <p:spPr>
          <a:xfrm>
            <a:off x="9239250" y="3476625"/>
            <a:ext cx="5143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OSS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F77764A0-C164-445E-BEBF-468D8DABAA68}"/>
              </a:ext>
            </a:extLst>
          </p:cNvPr>
          <p:cNvSpPr>
            <a:spLocks noGrp="1"/>
          </p:cNvSpPr>
          <p:nvPr/>
        </p:nvSpPr>
        <p:spPr>
          <a:xfrm>
            <a:off x="819150" y="4133850"/>
            <a:ext cx="2419350" cy="11239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55A16F24-887F-49ED-BDDC-0DDF65F51057}"/>
              </a:ext>
            </a:extLst>
          </p:cNvPr>
          <p:cNvSpPr>
            <a:spLocks noGrp="1"/>
          </p:cNvSpPr>
          <p:nvPr/>
        </p:nvSpPr>
        <p:spPr>
          <a:xfrm>
            <a:off x="819150" y="4133850"/>
            <a:ext cx="2419350" cy="66675"/>
          </a:xfrm>
          <a:prstGeom prst="rect">
            <a:avLst/>
          </a:prstGeom>
          <a:solidFill>
            <a:srgbClr val="E11D48"/>
          </a:solidFill>
          <a:ln w="0">
            <a:solidFill>
              <a:srgbClr val="E11D48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BED4941-3D5C-463F-B872-DE0256A6B224}"/>
              </a:ext>
            </a:extLst>
          </p:cNvPr>
          <p:cNvSpPr>
            <a:spLocks noGrp="1"/>
          </p:cNvSpPr>
          <p:nvPr/>
        </p:nvSpPr>
        <p:spPr>
          <a:xfrm>
            <a:off x="1009650" y="4343400"/>
            <a:ext cx="2038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FastAPI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4057EBEA-BAEE-4A4C-82AA-52E9373A5124}"/>
              </a:ext>
            </a:extLst>
          </p:cNvPr>
          <p:cNvSpPr>
            <a:spLocks noGrp="1"/>
          </p:cNvSpPr>
          <p:nvPr/>
        </p:nvSpPr>
        <p:spPr>
          <a:xfrm>
            <a:off x="1009650" y="4667250"/>
            <a:ext cx="2130714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HTTP-</a:t>
            </a:r>
            <a:r>
              <a:rPr sz="9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обработчик</a:t>
            </a:r>
            <a:r>
              <a:rPr sz="9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и </a:t>
            </a:r>
            <a:r>
              <a:rPr sz="9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проверка</a:t>
            </a:r>
            <a:r>
              <a:rPr sz="9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9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доступности</a:t>
            </a:r>
            <a:endParaRPr sz="900" b="0" dirty="0">
              <a:solidFill>
                <a:srgbClr val="C9D4E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8CB1A1F-0FDB-4C3D-AA99-75475FB6F8DA}"/>
              </a:ext>
            </a:extLst>
          </p:cNvPr>
          <p:cNvSpPr>
            <a:spLocks noGrp="1"/>
          </p:cNvSpPr>
          <p:nvPr/>
        </p:nvSpPr>
        <p:spPr>
          <a:xfrm>
            <a:off x="1009650" y="4953000"/>
            <a:ext cx="514350" cy="2286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BF40C85-1726-4E4E-9720-60DC2B60D58F}"/>
              </a:ext>
            </a:extLst>
          </p:cNvPr>
          <p:cNvSpPr>
            <a:spLocks noGrp="1"/>
          </p:cNvSpPr>
          <p:nvPr/>
        </p:nvSpPr>
        <p:spPr>
          <a:xfrm>
            <a:off x="1009650" y="5000625"/>
            <a:ext cx="5143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OSS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31459530-322E-4550-9910-DBC8A9F09B95}"/>
              </a:ext>
            </a:extLst>
          </p:cNvPr>
          <p:cNvSpPr>
            <a:spLocks noGrp="1"/>
          </p:cNvSpPr>
          <p:nvPr/>
        </p:nvSpPr>
        <p:spPr>
          <a:xfrm>
            <a:off x="3562350" y="4133850"/>
            <a:ext cx="2419350" cy="11239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F4C6F121-3A22-40BF-92B9-37B4621714F5}"/>
              </a:ext>
            </a:extLst>
          </p:cNvPr>
          <p:cNvSpPr>
            <a:spLocks noGrp="1"/>
          </p:cNvSpPr>
          <p:nvPr/>
        </p:nvSpPr>
        <p:spPr>
          <a:xfrm>
            <a:off x="3562350" y="4133850"/>
            <a:ext cx="2419350" cy="66675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49D529C3-4D23-4470-ACAC-46A48AE1EB83}"/>
              </a:ext>
            </a:extLst>
          </p:cNvPr>
          <p:cNvSpPr>
            <a:spLocks noGrp="1"/>
          </p:cNvSpPr>
          <p:nvPr/>
        </p:nvSpPr>
        <p:spPr>
          <a:xfrm>
            <a:off x="3752850" y="4343400"/>
            <a:ext cx="2038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maxapi</a:t>
            </a: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8B97451D-38EC-41FD-9D99-540F6434CAE9}"/>
              </a:ext>
            </a:extLst>
          </p:cNvPr>
          <p:cNvSpPr>
            <a:spLocks noGrp="1"/>
          </p:cNvSpPr>
          <p:nvPr/>
        </p:nvSpPr>
        <p:spPr>
          <a:xfrm>
            <a:off x="3752850" y="4667250"/>
            <a:ext cx="2038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заменяемый клиент MAX API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7CCDB34A-E376-48EF-94D0-FB34D01F252A}"/>
              </a:ext>
            </a:extLst>
          </p:cNvPr>
          <p:cNvSpPr>
            <a:spLocks noGrp="1"/>
          </p:cNvSpPr>
          <p:nvPr/>
        </p:nvSpPr>
        <p:spPr>
          <a:xfrm>
            <a:off x="3752850" y="4953000"/>
            <a:ext cx="514350" cy="228600"/>
          </a:xfrm>
          <a:prstGeom prst="rect">
            <a:avLst/>
          </a:prstGeom>
          <a:solidFill>
            <a:srgbClr val="64748B"/>
          </a:solidFill>
          <a:ln w="0">
            <a:solidFill>
              <a:srgbClr val="64748B"/>
            </a:solidFill>
            <a:prstDash val="solid"/>
          </a:ln>
        </p:spPr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B6484966-9874-486B-8939-32171AEC3A63}"/>
              </a:ext>
            </a:extLst>
          </p:cNvPr>
          <p:cNvSpPr>
            <a:spLocks noGrp="1"/>
          </p:cNvSpPr>
          <p:nvPr/>
        </p:nvSpPr>
        <p:spPr>
          <a:xfrm>
            <a:off x="3752850" y="5000625"/>
            <a:ext cx="5143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API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CFBFDE7D-EBB5-400D-A083-13F952301CCA}"/>
              </a:ext>
            </a:extLst>
          </p:cNvPr>
          <p:cNvSpPr>
            <a:spLocks noGrp="1"/>
          </p:cNvSpPr>
          <p:nvPr/>
        </p:nvSpPr>
        <p:spPr>
          <a:xfrm>
            <a:off x="6305550" y="4133850"/>
            <a:ext cx="2419350" cy="11239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5CF4AF13-9C96-4D59-AF78-2CB96BBC22BD}"/>
              </a:ext>
            </a:extLst>
          </p:cNvPr>
          <p:cNvSpPr>
            <a:spLocks noGrp="1"/>
          </p:cNvSpPr>
          <p:nvPr/>
        </p:nvSpPr>
        <p:spPr>
          <a:xfrm>
            <a:off x="6305550" y="4133850"/>
            <a:ext cx="2419350" cy="66675"/>
          </a:xfrm>
          <a:prstGeom prst="rect">
            <a:avLst/>
          </a:prstGeom>
          <a:solidFill>
            <a:srgbClr val="1F2937"/>
          </a:solidFill>
          <a:ln w="0">
            <a:solidFill>
              <a:srgbClr val="1F2937"/>
            </a:solidFill>
            <a:prstDash val="solid"/>
          </a:ln>
        </p:spPr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E970E910-784B-451E-A246-D161D89252DF}"/>
              </a:ext>
            </a:extLst>
          </p:cNvPr>
          <p:cNvSpPr>
            <a:spLocks noGrp="1"/>
          </p:cNvSpPr>
          <p:nvPr/>
        </p:nvSpPr>
        <p:spPr>
          <a:xfrm>
            <a:off x="6496050" y="4343400"/>
            <a:ext cx="2038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Docker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58AF6348-0EEC-47A4-ABC8-9FE51C802930}"/>
              </a:ext>
            </a:extLst>
          </p:cNvPr>
          <p:cNvSpPr>
            <a:spLocks noGrp="1"/>
          </p:cNvSpPr>
          <p:nvPr/>
        </p:nvSpPr>
        <p:spPr>
          <a:xfrm>
            <a:off x="6496050" y="4667250"/>
            <a:ext cx="2038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9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локальный стенд с YDB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90390F90-7451-4B59-BC08-53FF9700A0A6}"/>
              </a:ext>
            </a:extLst>
          </p:cNvPr>
          <p:cNvSpPr>
            <a:spLocks noGrp="1"/>
          </p:cNvSpPr>
          <p:nvPr/>
        </p:nvSpPr>
        <p:spPr>
          <a:xfrm>
            <a:off x="6496050" y="4953000"/>
            <a:ext cx="514350" cy="2286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53C7F9F5-7B42-4F2C-B61C-0C11A812CDF4}"/>
              </a:ext>
            </a:extLst>
          </p:cNvPr>
          <p:cNvSpPr>
            <a:spLocks noGrp="1"/>
          </p:cNvSpPr>
          <p:nvPr/>
        </p:nvSpPr>
        <p:spPr>
          <a:xfrm>
            <a:off x="6496050" y="5000625"/>
            <a:ext cx="5143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OSS</a:t>
            </a:r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BCE42FE5-FBE0-4C67-AA59-BE9187342027}"/>
              </a:ext>
            </a:extLst>
          </p:cNvPr>
          <p:cNvSpPr>
            <a:spLocks noGrp="1"/>
          </p:cNvSpPr>
          <p:nvPr/>
        </p:nvSpPr>
        <p:spPr>
          <a:xfrm>
            <a:off x="9048750" y="4133850"/>
            <a:ext cx="1962150" cy="11239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3E5EBD66-7506-4EEA-ADA2-B6D501C0EB1E}"/>
              </a:ext>
            </a:extLst>
          </p:cNvPr>
          <p:cNvSpPr>
            <a:spLocks noGrp="1"/>
          </p:cNvSpPr>
          <p:nvPr/>
        </p:nvSpPr>
        <p:spPr>
          <a:xfrm>
            <a:off x="9048750" y="4133850"/>
            <a:ext cx="1962150" cy="66675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E5C1DDC5-6667-433E-A51A-ECA817FB6F18}"/>
              </a:ext>
            </a:extLst>
          </p:cNvPr>
          <p:cNvSpPr>
            <a:spLocks noGrp="1"/>
          </p:cNvSpPr>
          <p:nvPr/>
        </p:nvSpPr>
        <p:spPr>
          <a:xfrm>
            <a:off x="9239250" y="4343400"/>
            <a:ext cx="15811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pytest</a:t>
            </a:r>
          </a:p>
        </p:txBody>
      </p:sp>
      <p:sp>
        <p:nvSpPr>
          <p:cNvPr id="53" name="Прямоугольник 52">
            <a:extLst>
              <a:ext uri="{FF2B5EF4-FFF2-40B4-BE49-F238E27FC236}">
                <a16:creationId xmlns:a16="http://schemas.microsoft.com/office/drawing/2014/main" id="{D1C55D72-AE74-4711-95BD-A9B8D0FEC591}"/>
              </a:ext>
            </a:extLst>
          </p:cNvPr>
          <p:cNvSpPr>
            <a:spLocks noGrp="1"/>
          </p:cNvSpPr>
          <p:nvPr/>
        </p:nvSpPr>
        <p:spPr>
          <a:xfrm>
            <a:off x="9239250" y="4667250"/>
            <a:ext cx="15811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lang="ru-RU" sz="9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180+</a:t>
            </a:r>
            <a:r>
              <a:rPr sz="9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9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автотестов</a:t>
            </a:r>
            <a:endParaRPr sz="900" b="0" dirty="0">
              <a:solidFill>
                <a:srgbClr val="C9D4E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54" name="Прямоугольник 53">
            <a:extLst>
              <a:ext uri="{FF2B5EF4-FFF2-40B4-BE49-F238E27FC236}">
                <a16:creationId xmlns:a16="http://schemas.microsoft.com/office/drawing/2014/main" id="{FED05795-AA24-438B-8A9B-E7A19B7B8DE7}"/>
              </a:ext>
            </a:extLst>
          </p:cNvPr>
          <p:cNvSpPr>
            <a:spLocks noGrp="1"/>
          </p:cNvSpPr>
          <p:nvPr/>
        </p:nvSpPr>
        <p:spPr>
          <a:xfrm>
            <a:off x="9239250" y="4953000"/>
            <a:ext cx="514350" cy="2286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AA518485-AE93-4FDA-A50E-9A5CCBC2DC99}"/>
              </a:ext>
            </a:extLst>
          </p:cNvPr>
          <p:cNvSpPr>
            <a:spLocks noGrp="1"/>
          </p:cNvSpPr>
          <p:nvPr/>
        </p:nvSpPr>
        <p:spPr>
          <a:xfrm>
            <a:off x="9239250" y="5000625"/>
            <a:ext cx="5143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OSS</a:t>
            </a: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80B31F96-DBEC-44CB-8069-00040B020720}"/>
              </a:ext>
            </a:extLst>
          </p:cNvPr>
          <p:cNvSpPr>
            <a:spLocks noGrp="1"/>
          </p:cNvSpPr>
          <p:nvPr/>
        </p:nvSpPr>
        <p:spPr>
          <a:xfrm>
            <a:off x="876300" y="5753100"/>
            <a:ext cx="981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Ставка: российские сервисы в продакшене, открытые инструменты в коде и тестах.</a:t>
            </a:r>
          </a:p>
        </p:txBody>
      </p:sp>
      <p:sp>
        <p:nvSpPr>
          <p:cNvPr id="57" name="Прямоугольник 56">
            <a:extLst>
              <a:ext uri="{FF2B5EF4-FFF2-40B4-BE49-F238E27FC236}">
                <a16:creationId xmlns:a16="http://schemas.microsoft.com/office/drawing/2014/main" id="{076549FE-A267-4FDC-949E-1F2C21529009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DB3FEA78-C1DE-4F5D-A9D3-892AFF5332DA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A0DB643D-FD93-4DB9-9BAC-129C9372D31B}"/>
              </a:ext>
            </a:extLst>
          </p:cNvPr>
          <p:cNvSpPr>
            <a:spLocks noGrp="1"/>
          </p:cNvSpPr>
          <p:nvPr/>
        </p:nvSpPr>
        <p:spPr>
          <a:xfrm>
            <a:off x="3752850" y="4953000"/>
            <a:ext cx="514350" cy="2286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F1A9A23D-69A2-4FC4-BF11-3D55DC71A251}"/>
              </a:ext>
            </a:extLst>
          </p:cNvPr>
          <p:cNvSpPr>
            <a:spLocks noGrp="1"/>
          </p:cNvSpPr>
          <p:nvPr/>
        </p:nvSpPr>
        <p:spPr>
          <a:xfrm>
            <a:off x="3752850" y="5000625"/>
            <a:ext cx="5143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9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OSS</a:t>
            </a:r>
          </a:p>
        </p:txBody>
      </p:sp>
    </p:spTree>
    <p:extLst>
      <p:ext uri="{BB962C8B-B14F-4D97-AF65-F5344CB8AC3E}">
        <p14:creationId xmlns:p14="http://schemas.microsoft.com/office/powerpoint/2010/main" val="503105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Прямоугольник 52">
            <a:extLst>
              <a:ext uri="{FF2B5EF4-FFF2-40B4-BE49-F238E27FC236}">
                <a16:creationId xmlns:a16="http://schemas.microsoft.com/office/drawing/2014/main" id="{33EDB6EB-5A50-4CBC-9B4A-A2E85F2B28C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</p:sp>
      <p:sp>
        <p:nvSpPr>
          <p:cNvPr id="2" name="kicker-arch-marker">
            <a:extLst>
              <a:ext uri="{FF2B5EF4-FFF2-40B4-BE49-F238E27FC236}">
                <a16:creationId xmlns:a16="http://schemas.microsoft.com/office/drawing/2014/main" id="{ABEC7BB7-54F2-4874-A61D-A6A113713418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3" name="kicker-arch-label">
            <a:extLst>
              <a:ext uri="{FF2B5EF4-FFF2-40B4-BE49-F238E27FC236}">
                <a16:creationId xmlns:a16="http://schemas.microsoft.com/office/drawing/2014/main" id="{858905D0-40A4-4C79-8159-21A77E6E5882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rPr>
              <a:t>ТЕХНИЧЕСКАЯ РЕАЛИЗАЦИЯ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D1F31E-54B1-4951-AB88-3F086E3B9C46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82867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Архитектура короткая и поддерживаемая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AB08716-902C-46F8-B51F-48E842AABCE8}"/>
              </a:ext>
            </a:extLst>
          </p:cNvPr>
          <p:cNvSpPr>
            <a:spLocks noGrp="1"/>
          </p:cNvSpPr>
          <p:nvPr/>
        </p:nvSpPr>
        <p:spPr>
          <a:xfrm>
            <a:off x="704850" y="2062163"/>
            <a:ext cx="82867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65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Входящий</a:t>
            </a:r>
            <a:r>
              <a:rPr sz="165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запрос</a:t>
            </a:r>
            <a:r>
              <a:rPr sz="165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MAX </a:t>
            </a:r>
            <a:r>
              <a:rPr sz="165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идет</a:t>
            </a:r>
            <a:r>
              <a:rPr sz="165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в Cloud Functions, </a:t>
            </a:r>
            <a:r>
              <a:rPr sz="165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бизнес-логика</a:t>
            </a:r>
            <a:r>
              <a:rPr sz="165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работает</a:t>
            </a:r>
            <a:r>
              <a:rPr sz="165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в </a:t>
            </a:r>
            <a:r>
              <a:rPr sz="165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сервисах</a:t>
            </a:r>
            <a:r>
              <a:rPr sz="165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5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состояние</a:t>
            </a:r>
            <a:r>
              <a:rPr sz="165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5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хранится</a:t>
            </a:r>
            <a:r>
              <a:rPr sz="165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в YDB.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1FD4F92-2AB0-4644-B6DC-FA20B72DD1FB}"/>
              </a:ext>
            </a:extLst>
          </p:cNvPr>
          <p:cNvSpPr>
            <a:spLocks noGrp="1"/>
          </p:cNvSpPr>
          <p:nvPr/>
        </p:nvSpPr>
        <p:spPr>
          <a:xfrm>
            <a:off x="704850" y="2914650"/>
            <a:ext cx="1752600" cy="13525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7FF39ED-6D4C-4B9F-B42F-57643E24FB24}"/>
              </a:ext>
            </a:extLst>
          </p:cNvPr>
          <p:cNvSpPr>
            <a:spLocks noGrp="1"/>
          </p:cNvSpPr>
          <p:nvPr/>
        </p:nvSpPr>
        <p:spPr>
          <a:xfrm>
            <a:off x="876300" y="3086100"/>
            <a:ext cx="323850" cy="32385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762A3B-802C-4EE8-BBF4-9612387A9591}"/>
              </a:ext>
            </a:extLst>
          </p:cNvPr>
          <p:cNvSpPr>
            <a:spLocks noGrp="1"/>
          </p:cNvSpPr>
          <p:nvPr/>
        </p:nvSpPr>
        <p:spPr>
          <a:xfrm>
            <a:off x="876300" y="3133725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73BDA76-E70B-477C-B18A-EC448B6FF298}"/>
              </a:ext>
            </a:extLst>
          </p:cNvPr>
          <p:cNvSpPr>
            <a:spLocks noGrp="1"/>
          </p:cNvSpPr>
          <p:nvPr/>
        </p:nvSpPr>
        <p:spPr>
          <a:xfrm>
            <a:off x="1333500" y="3076575"/>
            <a:ext cx="952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MAX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E60025D-C33B-4B9E-9E84-CFBC00BF0EEE}"/>
              </a:ext>
            </a:extLst>
          </p:cNvPr>
          <p:cNvSpPr>
            <a:spLocks noGrp="1"/>
          </p:cNvSpPr>
          <p:nvPr/>
        </p:nvSpPr>
        <p:spPr>
          <a:xfrm>
            <a:off x="914400" y="3581400"/>
            <a:ext cx="1333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сообщения, кнопки, стартовая ссылка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E918CD3-F6FE-4A10-9B74-C57C58EF926C}"/>
              </a:ext>
            </a:extLst>
          </p:cNvPr>
          <p:cNvSpPr>
            <a:spLocks noGrp="1"/>
          </p:cNvSpPr>
          <p:nvPr/>
        </p:nvSpPr>
        <p:spPr>
          <a:xfrm>
            <a:off x="2552700" y="3562350"/>
            <a:ext cx="171450" cy="381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5F86EA9-B77E-4F65-A46E-A84F62CD4BD0}"/>
              </a:ext>
            </a:extLst>
          </p:cNvPr>
          <p:cNvSpPr>
            <a:spLocks noGrp="1"/>
          </p:cNvSpPr>
          <p:nvPr/>
        </p:nvSpPr>
        <p:spPr>
          <a:xfrm>
            <a:off x="2686050" y="3409950"/>
            <a:ext cx="190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2563E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F95384-73BE-4AD7-A42D-91A78F580A3D}"/>
              </a:ext>
            </a:extLst>
          </p:cNvPr>
          <p:cNvSpPr>
            <a:spLocks noGrp="1"/>
          </p:cNvSpPr>
          <p:nvPr/>
        </p:nvSpPr>
        <p:spPr>
          <a:xfrm>
            <a:off x="2990850" y="2914650"/>
            <a:ext cx="1752600" cy="13525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8ABF458-81F7-45EC-A6CE-F458D910A200}"/>
              </a:ext>
            </a:extLst>
          </p:cNvPr>
          <p:cNvSpPr>
            <a:spLocks noGrp="1"/>
          </p:cNvSpPr>
          <p:nvPr/>
        </p:nvSpPr>
        <p:spPr>
          <a:xfrm>
            <a:off x="3162300" y="3086100"/>
            <a:ext cx="323850" cy="32385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4449620-CE28-4E0A-AD3E-674BAFB1F896}"/>
              </a:ext>
            </a:extLst>
          </p:cNvPr>
          <p:cNvSpPr>
            <a:spLocks noGrp="1"/>
          </p:cNvSpPr>
          <p:nvPr/>
        </p:nvSpPr>
        <p:spPr>
          <a:xfrm>
            <a:off x="3162300" y="3133725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BAE0AC-46F9-46F7-A70D-6EB77BD8297C}"/>
              </a:ext>
            </a:extLst>
          </p:cNvPr>
          <p:cNvSpPr>
            <a:spLocks noGrp="1"/>
          </p:cNvSpPr>
          <p:nvPr/>
        </p:nvSpPr>
        <p:spPr>
          <a:xfrm>
            <a:off x="3619500" y="3076575"/>
            <a:ext cx="952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Функция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6878067-7E14-4C75-B58B-30BDC9AB4AB3}"/>
              </a:ext>
            </a:extLst>
          </p:cNvPr>
          <p:cNvSpPr>
            <a:spLocks noGrp="1"/>
          </p:cNvSpPr>
          <p:nvPr/>
        </p:nvSpPr>
        <p:spPr>
          <a:xfrm>
            <a:off x="3200400" y="3581400"/>
            <a:ext cx="1333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Cloud Functions принимает запросы и таймер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C0EA65C-014A-4923-B433-7B16B212730F}"/>
              </a:ext>
            </a:extLst>
          </p:cNvPr>
          <p:cNvSpPr>
            <a:spLocks noGrp="1"/>
          </p:cNvSpPr>
          <p:nvPr/>
        </p:nvSpPr>
        <p:spPr>
          <a:xfrm>
            <a:off x="4838700" y="3562350"/>
            <a:ext cx="171450" cy="381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9E200EF-7E46-4E10-B949-4116E4CD4F6A}"/>
              </a:ext>
            </a:extLst>
          </p:cNvPr>
          <p:cNvSpPr>
            <a:spLocks noGrp="1"/>
          </p:cNvSpPr>
          <p:nvPr/>
        </p:nvSpPr>
        <p:spPr>
          <a:xfrm>
            <a:off x="4972050" y="3409950"/>
            <a:ext cx="190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00A676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05166F7-469F-4A29-8DFE-771D3B6F91D3}"/>
              </a:ext>
            </a:extLst>
          </p:cNvPr>
          <p:cNvSpPr>
            <a:spLocks noGrp="1"/>
          </p:cNvSpPr>
          <p:nvPr/>
        </p:nvSpPr>
        <p:spPr>
          <a:xfrm>
            <a:off x="5276850" y="2914650"/>
            <a:ext cx="1752600" cy="13525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6B5BF3B5-55B7-42F5-B321-3EF81E8A6A7C}"/>
              </a:ext>
            </a:extLst>
          </p:cNvPr>
          <p:cNvSpPr>
            <a:spLocks noGrp="1"/>
          </p:cNvSpPr>
          <p:nvPr/>
        </p:nvSpPr>
        <p:spPr>
          <a:xfrm>
            <a:off x="5448300" y="3086100"/>
            <a:ext cx="323850" cy="32385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68D69F5-AF00-4852-946A-8A8F5B389ABA}"/>
              </a:ext>
            </a:extLst>
          </p:cNvPr>
          <p:cNvSpPr>
            <a:spLocks noGrp="1"/>
          </p:cNvSpPr>
          <p:nvPr/>
        </p:nvSpPr>
        <p:spPr>
          <a:xfrm>
            <a:off x="5448300" y="3133725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E838F71-8F25-4E05-8AEB-1A3469772D10}"/>
              </a:ext>
            </a:extLst>
          </p:cNvPr>
          <p:cNvSpPr>
            <a:spLocks noGrp="1"/>
          </p:cNvSpPr>
          <p:nvPr/>
        </p:nvSpPr>
        <p:spPr>
          <a:xfrm>
            <a:off x="5905500" y="3076575"/>
            <a:ext cx="952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Обработчик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1D26261-987C-43F5-AE46-AF396F4FA321}"/>
              </a:ext>
            </a:extLst>
          </p:cNvPr>
          <p:cNvSpPr>
            <a:spLocks noGrp="1"/>
          </p:cNvSpPr>
          <p:nvPr/>
        </p:nvSpPr>
        <p:spPr>
          <a:xfrm>
            <a:off x="5486400" y="3581400"/>
            <a:ext cx="1333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FastAPI: проверка, роли, маршрутизация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C8098CC-68AF-42C2-8BB0-0B0729FF2CB5}"/>
              </a:ext>
            </a:extLst>
          </p:cNvPr>
          <p:cNvSpPr>
            <a:spLocks noGrp="1"/>
          </p:cNvSpPr>
          <p:nvPr/>
        </p:nvSpPr>
        <p:spPr>
          <a:xfrm>
            <a:off x="7124700" y="3562350"/>
            <a:ext cx="171450" cy="381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447A37D3-5329-4160-B5C5-77267B26CE2E}"/>
              </a:ext>
            </a:extLst>
          </p:cNvPr>
          <p:cNvSpPr>
            <a:spLocks noGrp="1"/>
          </p:cNvSpPr>
          <p:nvPr/>
        </p:nvSpPr>
        <p:spPr>
          <a:xfrm>
            <a:off x="7258050" y="3409950"/>
            <a:ext cx="190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F59E0B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AD9982C-1E13-403A-8596-419D519A9995}"/>
              </a:ext>
            </a:extLst>
          </p:cNvPr>
          <p:cNvSpPr>
            <a:spLocks noGrp="1"/>
          </p:cNvSpPr>
          <p:nvPr/>
        </p:nvSpPr>
        <p:spPr>
          <a:xfrm>
            <a:off x="7562850" y="2914650"/>
            <a:ext cx="1752600" cy="13525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8B422C39-D341-4294-A72C-57FDE9313C52}"/>
              </a:ext>
            </a:extLst>
          </p:cNvPr>
          <p:cNvSpPr>
            <a:spLocks noGrp="1"/>
          </p:cNvSpPr>
          <p:nvPr/>
        </p:nvSpPr>
        <p:spPr>
          <a:xfrm>
            <a:off x="7734300" y="3086100"/>
            <a:ext cx="323850" cy="32385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B5E6838-F0A4-4423-BB27-66BC6BBF1E1D}"/>
              </a:ext>
            </a:extLst>
          </p:cNvPr>
          <p:cNvSpPr>
            <a:spLocks noGrp="1"/>
          </p:cNvSpPr>
          <p:nvPr/>
        </p:nvSpPr>
        <p:spPr>
          <a:xfrm>
            <a:off x="7734300" y="3133725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7FAEA12-0FF2-43F1-922B-8E386FF43467}"/>
              </a:ext>
            </a:extLst>
          </p:cNvPr>
          <p:cNvSpPr>
            <a:spLocks noGrp="1"/>
          </p:cNvSpPr>
          <p:nvPr/>
        </p:nvSpPr>
        <p:spPr>
          <a:xfrm>
            <a:off x="8191500" y="3076575"/>
            <a:ext cx="952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Сервисы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891BFF2-A5DC-42C7-AD84-739FD5E7F0BE}"/>
              </a:ext>
            </a:extLst>
          </p:cNvPr>
          <p:cNvSpPr>
            <a:spLocks noGrp="1"/>
          </p:cNvSpPr>
          <p:nvPr/>
        </p:nvSpPr>
        <p:spPr>
          <a:xfrm>
            <a:off x="7772400" y="3581400"/>
            <a:ext cx="13335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запись, слоты, напоминания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815BF3ED-F98C-4C12-9339-98AF28ECB540}"/>
              </a:ext>
            </a:extLst>
          </p:cNvPr>
          <p:cNvSpPr>
            <a:spLocks noGrp="1"/>
          </p:cNvSpPr>
          <p:nvPr/>
        </p:nvSpPr>
        <p:spPr>
          <a:xfrm>
            <a:off x="9410700" y="3562350"/>
            <a:ext cx="171450" cy="3810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9261BC31-6CEE-4FBE-96AB-1C8DF4C4AC8F}"/>
              </a:ext>
            </a:extLst>
          </p:cNvPr>
          <p:cNvSpPr>
            <a:spLocks noGrp="1"/>
          </p:cNvSpPr>
          <p:nvPr/>
        </p:nvSpPr>
        <p:spPr>
          <a:xfrm>
            <a:off x="9544050" y="3409950"/>
            <a:ext cx="190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21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100" b="1">
                <a:solidFill>
                  <a:srgbClr val="7C3AED"/>
                </a:solidFill>
                <a:latin typeface="Segoe UI Semibold"/>
                <a:ea typeface="Segoe UI Semibold"/>
                <a:cs typeface="Segoe UI Semibold"/>
              </a:rPr>
              <a:t>&gt;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70EAAE32-3AC7-4690-A504-7DFDDFCE830F}"/>
              </a:ext>
            </a:extLst>
          </p:cNvPr>
          <p:cNvSpPr>
            <a:spLocks noGrp="1"/>
          </p:cNvSpPr>
          <p:nvPr/>
        </p:nvSpPr>
        <p:spPr>
          <a:xfrm>
            <a:off x="9848850" y="2914650"/>
            <a:ext cx="1562100" cy="13525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BC2E7F1E-378B-4FAE-A155-FA4C621EF609}"/>
              </a:ext>
            </a:extLst>
          </p:cNvPr>
          <p:cNvSpPr>
            <a:spLocks noGrp="1"/>
          </p:cNvSpPr>
          <p:nvPr/>
        </p:nvSpPr>
        <p:spPr>
          <a:xfrm>
            <a:off x="10020300" y="3086100"/>
            <a:ext cx="323850" cy="323850"/>
          </a:xfrm>
          <a:prstGeom prst="rect">
            <a:avLst/>
          </a:prstGeom>
          <a:solidFill>
            <a:srgbClr val="E11D48"/>
          </a:solidFill>
          <a:ln w="0">
            <a:solidFill>
              <a:srgbClr val="E11D48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60AAB93B-B0DE-49FB-B648-D8ADF549B07C}"/>
              </a:ext>
            </a:extLst>
          </p:cNvPr>
          <p:cNvSpPr>
            <a:spLocks noGrp="1"/>
          </p:cNvSpPr>
          <p:nvPr/>
        </p:nvSpPr>
        <p:spPr>
          <a:xfrm>
            <a:off x="10020300" y="3133725"/>
            <a:ext cx="323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5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7FB7A06E-D9B3-430D-80FE-4041346E9CF0}"/>
              </a:ext>
            </a:extLst>
          </p:cNvPr>
          <p:cNvSpPr>
            <a:spLocks noGrp="1"/>
          </p:cNvSpPr>
          <p:nvPr/>
        </p:nvSpPr>
        <p:spPr>
          <a:xfrm>
            <a:off x="10477500" y="3076575"/>
            <a:ext cx="762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YDB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91B89D99-A16A-4EE2-A7E7-FCEB55775518}"/>
              </a:ext>
            </a:extLst>
          </p:cNvPr>
          <p:cNvSpPr>
            <a:spLocks noGrp="1"/>
          </p:cNvSpPr>
          <p:nvPr/>
        </p:nvSpPr>
        <p:spPr>
          <a:xfrm>
            <a:off x="10058400" y="3581400"/>
            <a:ext cx="11430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таблицы, очередь, аудит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4559A489-B4B4-4D74-914D-8D236125C632}"/>
              </a:ext>
            </a:extLst>
          </p:cNvPr>
          <p:cNvSpPr>
            <a:spLocks noGrp="1"/>
          </p:cNvSpPr>
          <p:nvPr/>
        </p:nvSpPr>
        <p:spPr>
          <a:xfrm>
            <a:off x="876300" y="4972050"/>
            <a:ext cx="2857500" cy="9715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FAADBCA-FA57-4EF9-A0F1-2780DAD8ABFC}"/>
              </a:ext>
            </a:extLst>
          </p:cNvPr>
          <p:cNvSpPr>
            <a:spLocks noGrp="1"/>
          </p:cNvSpPr>
          <p:nvPr/>
        </p:nvSpPr>
        <p:spPr>
          <a:xfrm>
            <a:off x="876300" y="4972050"/>
            <a:ext cx="76200" cy="971548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C1A7522C-C6D8-4007-B51B-D2A5945D9CE4}"/>
              </a:ext>
            </a:extLst>
          </p:cNvPr>
          <p:cNvSpPr>
            <a:spLocks noGrp="1"/>
          </p:cNvSpPr>
          <p:nvPr/>
        </p:nvSpPr>
        <p:spPr>
          <a:xfrm>
            <a:off x="1085850" y="5143500"/>
            <a:ext cx="24384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Развертывание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EEF439DA-7DB1-4EB7-ACA2-88A309183AD6}"/>
              </a:ext>
            </a:extLst>
          </p:cNvPr>
          <p:cNvSpPr>
            <a:spLocks noGrp="1"/>
          </p:cNvSpPr>
          <p:nvPr/>
        </p:nvSpPr>
        <p:spPr>
          <a:xfrm>
            <a:off x="1085850" y="5486400"/>
            <a:ext cx="2438400" cy="95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скрипт собирает пакет Cloud Functions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98A97C56-5F16-4D65-80BA-B88E9E44ADD2}"/>
              </a:ext>
            </a:extLst>
          </p:cNvPr>
          <p:cNvSpPr>
            <a:spLocks noGrp="1"/>
          </p:cNvSpPr>
          <p:nvPr/>
        </p:nvSpPr>
        <p:spPr>
          <a:xfrm>
            <a:off x="4362450" y="4972050"/>
            <a:ext cx="2857500" cy="9715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4185D34A-84A1-41C1-9D8F-1FE26E687B4E}"/>
              </a:ext>
            </a:extLst>
          </p:cNvPr>
          <p:cNvSpPr>
            <a:spLocks noGrp="1"/>
          </p:cNvSpPr>
          <p:nvPr/>
        </p:nvSpPr>
        <p:spPr>
          <a:xfrm>
            <a:off x="4362450" y="4972050"/>
            <a:ext cx="76200" cy="971548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CC3AE6F0-3FFB-4122-B9E1-5C5A22C65C4E}"/>
              </a:ext>
            </a:extLst>
          </p:cNvPr>
          <p:cNvSpPr>
            <a:spLocks noGrp="1"/>
          </p:cNvSpPr>
          <p:nvPr/>
        </p:nvSpPr>
        <p:spPr>
          <a:xfrm>
            <a:off x="4572000" y="5143500"/>
            <a:ext cx="24384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dirty="0" err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Локальная</a:t>
            </a:r>
            <a:r>
              <a:rPr sz="165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разработка</a:t>
            </a:r>
            <a:endParaRPr sz="1650" b="1" dirty="0">
              <a:solidFill>
                <a:srgbClr val="FFFFFF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220E8D42-9276-4E1F-A2C1-DD8650F5CAB7}"/>
              </a:ext>
            </a:extLst>
          </p:cNvPr>
          <p:cNvSpPr>
            <a:spLocks noGrp="1"/>
          </p:cNvSpPr>
          <p:nvPr/>
        </p:nvSpPr>
        <p:spPr>
          <a:xfrm>
            <a:off x="4572000" y="5486400"/>
            <a:ext cx="2438400" cy="95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Docker Compose поднимает YDB и бота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08DFC99E-7E4A-4EF0-8F4A-D0F474392DE6}"/>
              </a:ext>
            </a:extLst>
          </p:cNvPr>
          <p:cNvSpPr>
            <a:spLocks noGrp="1"/>
          </p:cNvSpPr>
          <p:nvPr/>
        </p:nvSpPr>
        <p:spPr>
          <a:xfrm>
            <a:off x="7848600" y="4972050"/>
            <a:ext cx="2857500" cy="97155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817D3950-816A-482E-BE0D-626C7AE03736}"/>
              </a:ext>
            </a:extLst>
          </p:cNvPr>
          <p:cNvSpPr>
            <a:spLocks noGrp="1"/>
          </p:cNvSpPr>
          <p:nvPr/>
        </p:nvSpPr>
        <p:spPr>
          <a:xfrm>
            <a:off x="7848600" y="4972049"/>
            <a:ext cx="76200" cy="971549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ECF392D8-D9CD-46F1-8C07-028C492DC70B}"/>
              </a:ext>
            </a:extLst>
          </p:cNvPr>
          <p:cNvSpPr>
            <a:spLocks noGrp="1"/>
          </p:cNvSpPr>
          <p:nvPr/>
        </p:nvSpPr>
        <p:spPr>
          <a:xfrm>
            <a:off x="8058150" y="5143500"/>
            <a:ext cx="24384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Поддержка</a:t>
            </a:r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BCB8BA6F-05BC-48CE-BC6C-F03DAFBF27B7}"/>
              </a:ext>
            </a:extLst>
          </p:cNvPr>
          <p:cNvSpPr>
            <a:spLocks noGrp="1"/>
          </p:cNvSpPr>
          <p:nvPr/>
        </p:nvSpPr>
        <p:spPr>
          <a:xfrm>
            <a:off x="8058150" y="5486400"/>
            <a:ext cx="2438400" cy="95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проверка доступности и журнал действий</a:t>
            </a:r>
          </a:p>
        </p:txBody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DA159CF6-EE54-4B79-B22A-9E1EBBE65247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DD6A26C3-A13C-4C6B-B651-DD788BE88493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889014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ECEEAD26-8848-487B-A6D4-619A07A059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</p:sp>
      <p:sp>
        <p:nvSpPr>
          <p:cNvPr id="2" name="kicker-tests-marker">
            <a:extLst>
              <a:ext uri="{FF2B5EF4-FFF2-40B4-BE49-F238E27FC236}">
                <a16:creationId xmlns:a16="http://schemas.microsoft.com/office/drawing/2014/main" id="{B37CF0C0-876B-435A-8EE8-7E8726E15EB0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3" name="kicker-tests-label">
            <a:extLst>
              <a:ext uri="{FF2B5EF4-FFF2-40B4-BE49-F238E27FC236}">
                <a16:creationId xmlns:a16="http://schemas.microsoft.com/office/drawing/2014/main" id="{A498CBDD-6E3E-4872-945F-D917F847B616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rPr>
              <a:t>ТЕХНИЧЕСКАЯ РЕАЛИЗАЦИЯ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88BE106-8AA8-4E61-B465-A2B110E4117C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9334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Тесты проверяют контролируемые слои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DB645C0-AD73-46BF-9FE3-EECDEE6107BB}"/>
              </a:ext>
            </a:extLst>
          </p:cNvPr>
          <p:cNvSpPr>
            <a:spLocks noGrp="1"/>
          </p:cNvSpPr>
          <p:nvPr/>
        </p:nvSpPr>
        <p:spPr>
          <a:xfrm>
            <a:off x="704850" y="15430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Мы честно покрываем локальную логику: сценарии, обработчики, тексты интерфейса, YDB-схему, очередь уведомлений и адаптеры.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77F7D11-8452-4BB0-8861-D1FD67A54AC9}"/>
              </a:ext>
            </a:extLst>
          </p:cNvPr>
          <p:cNvSpPr>
            <a:spLocks noGrp="1"/>
          </p:cNvSpPr>
          <p:nvPr/>
        </p:nvSpPr>
        <p:spPr>
          <a:xfrm>
            <a:off x="819150" y="2686050"/>
            <a:ext cx="2095500" cy="9906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A3CD892-0128-4CA0-99E1-F8F436DDACCD}"/>
              </a:ext>
            </a:extLst>
          </p:cNvPr>
          <p:cNvSpPr>
            <a:spLocks noGrp="1"/>
          </p:cNvSpPr>
          <p:nvPr/>
        </p:nvSpPr>
        <p:spPr>
          <a:xfrm>
            <a:off x="819150" y="2686050"/>
            <a:ext cx="76200" cy="9906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8D0F1F2-CA71-4F9A-8627-4B3CA17EC72E}"/>
              </a:ext>
            </a:extLst>
          </p:cNvPr>
          <p:cNvSpPr>
            <a:spLocks noGrp="1"/>
          </p:cNvSpPr>
          <p:nvPr/>
        </p:nvSpPr>
        <p:spPr>
          <a:xfrm>
            <a:off x="1028700" y="2857500"/>
            <a:ext cx="16764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158 тестов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180E30C-4F07-46D6-840E-18001356405D}"/>
              </a:ext>
            </a:extLst>
          </p:cNvPr>
          <p:cNvSpPr>
            <a:spLocks noGrp="1"/>
          </p:cNvSpPr>
          <p:nvPr/>
        </p:nvSpPr>
        <p:spPr>
          <a:xfrm>
            <a:off x="1028700" y="3200400"/>
            <a:ext cx="16764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собираются через pytest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9CC45A7-8F65-4097-B1AE-991940FA5BAB}"/>
              </a:ext>
            </a:extLst>
          </p:cNvPr>
          <p:cNvSpPr>
            <a:spLocks noGrp="1"/>
          </p:cNvSpPr>
          <p:nvPr/>
        </p:nvSpPr>
        <p:spPr>
          <a:xfrm>
            <a:off x="3105150" y="2686050"/>
            <a:ext cx="2095500" cy="9906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B38F95B-21B7-45E9-8E8D-86F6F8DC63A6}"/>
              </a:ext>
            </a:extLst>
          </p:cNvPr>
          <p:cNvSpPr>
            <a:spLocks noGrp="1"/>
          </p:cNvSpPr>
          <p:nvPr/>
        </p:nvSpPr>
        <p:spPr>
          <a:xfrm>
            <a:off x="3105150" y="2686050"/>
            <a:ext cx="76200" cy="99060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5865702-B517-4164-90F5-4BB4269E75E6}"/>
              </a:ext>
            </a:extLst>
          </p:cNvPr>
          <p:cNvSpPr>
            <a:spLocks noGrp="1"/>
          </p:cNvSpPr>
          <p:nvPr/>
        </p:nvSpPr>
        <p:spPr>
          <a:xfrm>
            <a:off x="3314700" y="2857500"/>
            <a:ext cx="1390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lang="ru-RU" sz="165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И</a:t>
            </a:r>
            <a:r>
              <a:rPr sz="1650" b="1" dirty="0" err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нтерфейс</a:t>
            </a:r>
            <a:endParaRPr sz="1650" b="1" dirty="0">
              <a:solidFill>
                <a:srgbClr val="FFFFFF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A5F9D76-6022-42CE-8642-4D014A4C359F}"/>
              </a:ext>
            </a:extLst>
          </p:cNvPr>
          <p:cNvSpPr>
            <a:spLocks noGrp="1"/>
          </p:cNvSpPr>
          <p:nvPr/>
        </p:nvSpPr>
        <p:spPr>
          <a:xfrm>
            <a:off x="3314700" y="3200400"/>
            <a:ext cx="16764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кнопки, эмодзи, пробелы, глоссарий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CF1C516-D03C-4EBA-A5BB-EC4A3913BDFA}"/>
              </a:ext>
            </a:extLst>
          </p:cNvPr>
          <p:cNvSpPr>
            <a:spLocks noGrp="1"/>
          </p:cNvSpPr>
          <p:nvPr/>
        </p:nvSpPr>
        <p:spPr>
          <a:xfrm>
            <a:off x="5391150" y="2686050"/>
            <a:ext cx="2095500" cy="9906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61BBBEB-EE0B-4DD9-BFE6-EBB5AE74DAFA}"/>
              </a:ext>
            </a:extLst>
          </p:cNvPr>
          <p:cNvSpPr>
            <a:spLocks noGrp="1"/>
          </p:cNvSpPr>
          <p:nvPr/>
        </p:nvSpPr>
        <p:spPr>
          <a:xfrm>
            <a:off x="5391150" y="2686050"/>
            <a:ext cx="76200" cy="9906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BBA0EA6-41A4-4673-B3A5-6BCB2BEEF84B}"/>
              </a:ext>
            </a:extLst>
          </p:cNvPr>
          <p:cNvSpPr>
            <a:spLocks noGrp="1"/>
          </p:cNvSpPr>
          <p:nvPr/>
        </p:nvSpPr>
        <p:spPr>
          <a:xfrm>
            <a:off x="5600700" y="2857500"/>
            <a:ext cx="16764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Сценарии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B9BD4B86-17AC-4F64-A652-DCFBC2BEBAA6}"/>
              </a:ext>
            </a:extLst>
          </p:cNvPr>
          <p:cNvSpPr>
            <a:spLocks noGrp="1"/>
          </p:cNvSpPr>
          <p:nvPr/>
        </p:nvSpPr>
        <p:spPr>
          <a:xfrm>
            <a:off x="5600700" y="3200400"/>
            <a:ext cx="16764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запись, отмена, слоты, Организатор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081E2D5-FDB4-4490-A6A5-B2BBC7930FBC}"/>
              </a:ext>
            </a:extLst>
          </p:cNvPr>
          <p:cNvSpPr>
            <a:spLocks noGrp="1"/>
          </p:cNvSpPr>
          <p:nvPr/>
        </p:nvSpPr>
        <p:spPr>
          <a:xfrm>
            <a:off x="7677150" y="2686050"/>
            <a:ext cx="2095500" cy="9906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71B5587-FCB8-48E9-B48D-6444B747DAC5}"/>
              </a:ext>
            </a:extLst>
          </p:cNvPr>
          <p:cNvSpPr>
            <a:spLocks noGrp="1"/>
          </p:cNvSpPr>
          <p:nvPr/>
        </p:nvSpPr>
        <p:spPr>
          <a:xfrm>
            <a:off x="7677150" y="2686050"/>
            <a:ext cx="76200" cy="9906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10BFD39-8742-464B-B6C8-55E8D681373E}"/>
              </a:ext>
            </a:extLst>
          </p:cNvPr>
          <p:cNvSpPr>
            <a:spLocks noGrp="1"/>
          </p:cNvSpPr>
          <p:nvPr/>
        </p:nvSpPr>
        <p:spPr>
          <a:xfrm>
            <a:off x="7886700" y="2857500"/>
            <a:ext cx="16764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YDB и очередь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91B2CDE-5BD1-412F-B8D1-E606AD1D4511}"/>
              </a:ext>
            </a:extLst>
          </p:cNvPr>
          <p:cNvSpPr>
            <a:spLocks noGrp="1"/>
          </p:cNvSpPr>
          <p:nvPr/>
        </p:nvSpPr>
        <p:spPr>
          <a:xfrm>
            <a:off x="7886700" y="3200400"/>
            <a:ext cx="16764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схема, транзакции, notification_outbox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7FF481B-77A1-4080-8C16-B0CECFF6DF25}"/>
              </a:ext>
            </a:extLst>
          </p:cNvPr>
          <p:cNvSpPr>
            <a:spLocks noGrp="1"/>
          </p:cNvSpPr>
          <p:nvPr/>
        </p:nvSpPr>
        <p:spPr>
          <a:xfrm>
            <a:off x="819150" y="4229100"/>
            <a:ext cx="4267200" cy="11049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C03EE14-2720-4028-99DB-2F3067BA3095}"/>
              </a:ext>
            </a:extLst>
          </p:cNvPr>
          <p:cNvSpPr>
            <a:spLocks noGrp="1"/>
          </p:cNvSpPr>
          <p:nvPr/>
        </p:nvSpPr>
        <p:spPr>
          <a:xfrm>
            <a:off x="819150" y="4229100"/>
            <a:ext cx="76200" cy="1104900"/>
          </a:xfrm>
          <a:prstGeom prst="rect">
            <a:avLst/>
          </a:prstGeom>
          <a:solidFill>
            <a:srgbClr val="E11D48"/>
          </a:solidFill>
          <a:ln w="0">
            <a:solidFill>
              <a:srgbClr val="E11D4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814573E1-FE08-43A4-B402-5A4AE30FEDB7}"/>
              </a:ext>
            </a:extLst>
          </p:cNvPr>
          <p:cNvSpPr>
            <a:spLocks noGrp="1"/>
          </p:cNvSpPr>
          <p:nvPr/>
        </p:nvSpPr>
        <p:spPr>
          <a:xfrm>
            <a:off x="1028700" y="4400550"/>
            <a:ext cx="3848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Безопасность данных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617D38E-FCFB-4595-8732-FAF7C98399BE}"/>
              </a:ext>
            </a:extLst>
          </p:cNvPr>
          <p:cNvSpPr>
            <a:spLocks noGrp="1"/>
          </p:cNvSpPr>
          <p:nvPr/>
        </p:nvSpPr>
        <p:spPr>
          <a:xfrm>
            <a:off x="1028700" y="4743450"/>
            <a:ext cx="38481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храним только нужное: MAX id, отображаемое имя, выбранное мероприятие, код и статус записи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F8FDC2C1-5C77-4F3B-8BEA-107A531A788E}"/>
              </a:ext>
            </a:extLst>
          </p:cNvPr>
          <p:cNvSpPr>
            <a:spLocks noGrp="1"/>
          </p:cNvSpPr>
          <p:nvPr/>
        </p:nvSpPr>
        <p:spPr>
          <a:xfrm>
            <a:off x="5562600" y="4229100"/>
            <a:ext cx="4267200" cy="11049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EF5C46D-B6FD-4891-A10F-9D5B53F8BFD2}"/>
              </a:ext>
            </a:extLst>
          </p:cNvPr>
          <p:cNvSpPr>
            <a:spLocks noGrp="1"/>
          </p:cNvSpPr>
          <p:nvPr/>
        </p:nvSpPr>
        <p:spPr>
          <a:xfrm>
            <a:off x="5562600" y="4229100"/>
            <a:ext cx="76200" cy="11049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ED46834-5DD3-4A10-AF35-1BCD9F5B2319}"/>
              </a:ext>
            </a:extLst>
          </p:cNvPr>
          <p:cNvSpPr>
            <a:spLocks noGrp="1"/>
          </p:cNvSpPr>
          <p:nvPr/>
        </p:nvSpPr>
        <p:spPr>
          <a:xfrm>
            <a:off x="5772150" y="4400550"/>
            <a:ext cx="3848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Границы интеграции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4D59D1FD-4B0B-4006-A676-822A9C14F1AB}"/>
              </a:ext>
            </a:extLst>
          </p:cNvPr>
          <p:cNvSpPr>
            <a:spLocks noGrp="1"/>
          </p:cNvSpPr>
          <p:nvPr/>
        </p:nvSpPr>
        <p:spPr>
          <a:xfrm>
            <a:off x="5772150" y="4743450"/>
            <a:ext cx="4000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тестируем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свои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обработчики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, webhook payload,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таймер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и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адаптер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клиента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, а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не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саму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внешнюю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платформу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MAX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5787020-7EAA-44DB-8713-58DCDC5B1A78}"/>
              </a:ext>
            </a:extLst>
          </p:cNvPr>
          <p:cNvSpPr>
            <a:spLocks noGrp="1"/>
          </p:cNvSpPr>
          <p:nvPr/>
        </p:nvSpPr>
        <p:spPr>
          <a:xfrm>
            <a:off x="1200150" y="57721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Итог: надежность доказывается там, где продукт реально контролирует поведение.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4A0B6AD9-08DE-4613-AC22-B3AD6FB78B66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FCFEF59A-CF06-4EC0-8C83-A387A1B49993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5817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3869D43-08DB-46B3-9B9E-AD9C6268FC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</p:sp>
      <p:sp>
        <p:nvSpPr>
          <p:cNvPr id="2" name="kicker-growth-marker">
            <a:extLst>
              <a:ext uri="{FF2B5EF4-FFF2-40B4-BE49-F238E27FC236}">
                <a16:creationId xmlns:a16="http://schemas.microsoft.com/office/drawing/2014/main" id="{30347ED0-FDA1-412A-A628-D24FDB9690C2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3" name="kicker-growth-label">
            <a:extLst>
              <a:ext uri="{FF2B5EF4-FFF2-40B4-BE49-F238E27FC236}">
                <a16:creationId xmlns:a16="http://schemas.microsoft.com/office/drawing/2014/main" id="{181D4BAD-3369-4AC7-8C79-7D6D332AF0E1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rPr>
              <a:t>ТЕХНИЧЕСКАЯ РЕАЛИЗАЦИЯ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597DAE9-3CD3-4CEF-9892-44FB8EE6D50D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8382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300" b="1" dirty="0" err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Монетизация</a:t>
            </a:r>
            <a:r>
              <a:rPr lang="ru-RU" sz="330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!</a:t>
            </a:r>
            <a:endParaRPr sz="3300" b="1" dirty="0">
              <a:solidFill>
                <a:srgbClr val="FFFFFF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3E8AC73-9F92-4CC2-BB79-B82F42247B79}"/>
              </a:ext>
            </a:extLst>
          </p:cNvPr>
          <p:cNvSpPr>
            <a:spLocks noGrp="1"/>
          </p:cNvSpPr>
          <p:nvPr/>
        </p:nvSpPr>
        <p:spPr>
          <a:xfrm>
            <a:off x="704850" y="15430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Здесь нет линейной цепочки: разные заказчики покупают разные ценности вокруг одной точки входа в мероприятия.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1FC29AD-C1E3-4196-A304-84650C88BD80}"/>
              </a:ext>
            </a:extLst>
          </p:cNvPr>
          <p:cNvSpPr>
            <a:spLocks noGrp="1"/>
          </p:cNvSpPr>
          <p:nvPr/>
        </p:nvSpPr>
        <p:spPr>
          <a:xfrm>
            <a:off x="4076700" y="2647950"/>
            <a:ext cx="3429000" cy="11049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99C34F0-A112-4AA0-88AB-23815508BFE9}"/>
              </a:ext>
            </a:extLst>
          </p:cNvPr>
          <p:cNvSpPr>
            <a:spLocks noGrp="1"/>
          </p:cNvSpPr>
          <p:nvPr/>
        </p:nvSpPr>
        <p:spPr>
          <a:xfrm>
            <a:off x="4076700" y="2647950"/>
            <a:ext cx="76200" cy="11049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FD7ECD8-057A-4CBC-9DD3-CC709B661A74}"/>
              </a:ext>
            </a:extLst>
          </p:cNvPr>
          <p:cNvSpPr>
            <a:spLocks noGrp="1"/>
          </p:cNvSpPr>
          <p:nvPr/>
        </p:nvSpPr>
        <p:spPr>
          <a:xfrm>
            <a:off x="4286250" y="2819400"/>
            <a:ext cx="30099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dirty="0" err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Бот</a:t>
            </a:r>
            <a:r>
              <a:rPr sz="165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как</a:t>
            </a:r>
            <a:r>
              <a:rPr sz="165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точка</a:t>
            </a:r>
            <a:r>
              <a:rPr sz="165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sz="1650" b="1" dirty="0" err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входа</a:t>
            </a:r>
            <a:endParaRPr sz="1650" b="1" dirty="0">
              <a:solidFill>
                <a:srgbClr val="FFFFFF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E7026D7-9EB6-4C88-9785-0FEDD36EE0D9}"/>
              </a:ext>
            </a:extLst>
          </p:cNvPr>
          <p:cNvSpPr>
            <a:spLocks noGrp="1"/>
          </p:cNvSpPr>
          <p:nvPr/>
        </p:nvSpPr>
        <p:spPr>
          <a:xfrm>
            <a:off x="4286250" y="3162300"/>
            <a:ext cx="3143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запись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посещение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напоминания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и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журнал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действий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собираются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в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одном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контуре</a:t>
            </a:r>
            <a:endParaRPr sz="1200" b="0" dirty="0">
              <a:solidFill>
                <a:srgbClr val="C9D4E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08529-A306-4A3F-BCCA-FE503745FE51}"/>
              </a:ext>
            </a:extLst>
          </p:cNvPr>
          <p:cNvSpPr>
            <a:spLocks noGrp="1"/>
          </p:cNvSpPr>
          <p:nvPr/>
        </p:nvSpPr>
        <p:spPr>
          <a:xfrm>
            <a:off x="3146137" y="3924300"/>
            <a:ext cx="2647950" cy="11049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A853760-3AA4-4418-8334-515F1AE5218D}"/>
              </a:ext>
            </a:extLst>
          </p:cNvPr>
          <p:cNvSpPr>
            <a:spLocks noGrp="1"/>
          </p:cNvSpPr>
          <p:nvPr/>
        </p:nvSpPr>
        <p:spPr>
          <a:xfrm>
            <a:off x="3146137" y="3924300"/>
            <a:ext cx="76200" cy="11049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8ED73B21-E9EA-4F7B-8F69-8AC2CCE8D90E}"/>
              </a:ext>
            </a:extLst>
          </p:cNvPr>
          <p:cNvSpPr>
            <a:spLocks noGrp="1"/>
          </p:cNvSpPr>
          <p:nvPr/>
        </p:nvSpPr>
        <p:spPr>
          <a:xfrm>
            <a:off x="3355687" y="4095750"/>
            <a:ext cx="22288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Приоритетные места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D9EC96AD-6D5A-4E4E-85B4-D0C10EA7230C}"/>
              </a:ext>
            </a:extLst>
          </p:cNvPr>
          <p:cNvSpPr>
            <a:spLocks noGrp="1"/>
          </p:cNvSpPr>
          <p:nvPr/>
        </p:nvSpPr>
        <p:spPr>
          <a:xfrm>
            <a:off x="3355687" y="4438650"/>
            <a:ext cx="22288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платное продвижение мероприятий в верх каталога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19BDDDB-8038-4D90-B675-0FB1B813CCEF}"/>
              </a:ext>
            </a:extLst>
          </p:cNvPr>
          <p:cNvSpPr>
            <a:spLocks noGrp="1"/>
          </p:cNvSpPr>
          <p:nvPr/>
        </p:nvSpPr>
        <p:spPr>
          <a:xfrm>
            <a:off x="5927437" y="3924300"/>
            <a:ext cx="2647950" cy="11049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EB7B68F7-E1F3-4BD1-8643-892A0077E4FC}"/>
              </a:ext>
            </a:extLst>
          </p:cNvPr>
          <p:cNvSpPr>
            <a:spLocks noGrp="1"/>
          </p:cNvSpPr>
          <p:nvPr/>
        </p:nvSpPr>
        <p:spPr>
          <a:xfrm>
            <a:off x="8499187" y="3924300"/>
            <a:ext cx="76200" cy="11049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608A276-F9BD-49DA-82DB-343013E4BD02}"/>
              </a:ext>
            </a:extLst>
          </p:cNvPr>
          <p:cNvSpPr>
            <a:spLocks noGrp="1"/>
          </p:cNvSpPr>
          <p:nvPr/>
        </p:nvSpPr>
        <p:spPr>
          <a:xfrm>
            <a:off x="6136987" y="4095750"/>
            <a:ext cx="22288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lang="ru-RU" sz="165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Реклама</a:t>
            </a:r>
            <a:endParaRPr sz="1650" b="1" dirty="0">
              <a:solidFill>
                <a:srgbClr val="FFFFFF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92C5BEC-958D-4CE8-B01B-0BE5975B2E64}"/>
              </a:ext>
            </a:extLst>
          </p:cNvPr>
          <p:cNvSpPr>
            <a:spLocks noGrp="1"/>
          </p:cNvSpPr>
          <p:nvPr/>
        </p:nvSpPr>
        <p:spPr>
          <a:xfrm>
            <a:off x="6136987" y="4467225"/>
            <a:ext cx="22288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lang="ru-RU"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Рекламные вставки между действиями пользователя</a:t>
            </a:r>
            <a:endParaRPr sz="1200" b="0" dirty="0">
              <a:solidFill>
                <a:srgbClr val="C9D4E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D0D8096-EA76-4D90-9F7C-0ED28908D506}"/>
              </a:ext>
            </a:extLst>
          </p:cNvPr>
          <p:cNvSpPr>
            <a:spLocks noGrp="1"/>
          </p:cNvSpPr>
          <p:nvPr/>
        </p:nvSpPr>
        <p:spPr>
          <a:xfrm>
            <a:off x="2343150" y="5962650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Популярность объясняется простотой: человек быстро достигает цели, а бизнес легко расширяет правила вокруг этого пути.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30E2D1CD-E119-4E2C-9AD8-8CD9A7A19EAF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B257253-B5A9-41DB-9D55-1D8AB3BC4713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29389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3869D43-08DB-46B3-9B9E-AD9C6268FC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</p:sp>
      <p:sp>
        <p:nvSpPr>
          <p:cNvPr id="2" name="kicker-growth-marker">
            <a:extLst>
              <a:ext uri="{FF2B5EF4-FFF2-40B4-BE49-F238E27FC236}">
                <a16:creationId xmlns:a16="http://schemas.microsoft.com/office/drawing/2014/main" id="{30347ED0-FDA1-412A-A628-D24FDB9690C2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3" name="kicker-growth-label">
            <a:extLst>
              <a:ext uri="{FF2B5EF4-FFF2-40B4-BE49-F238E27FC236}">
                <a16:creationId xmlns:a16="http://schemas.microsoft.com/office/drawing/2014/main" id="{181D4BAD-3369-4AC7-8C79-7D6D332AF0E1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rPr>
              <a:t>ТЕХНИЧЕСКАЯ РЕАЛИЗАЦИЯ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597DAE9-3CD3-4CEF-9892-44FB8EE6D50D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8382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lang="ru-RU" sz="330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Закладываем будущее</a:t>
            </a:r>
            <a:endParaRPr sz="3300" b="1" dirty="0">
              <a:solidFill>
                <a:srgbClr val="FFFFFF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3E8AC73-9F92-4CC2-BB79-B82F42247B79}"/>
              </a:ext>
            </a:extLst>
          </p:cNvPr>
          <p:cNvSpPr>
            <a:spLocks noGrp="1"/>
          </p:cNvSpPr>
          <p:nvPr/>
        </p:nvSpPr>
        <p:spPr>
          <a:xfrm>
            <a:off x="704850" y="15430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lang="ru-RU" sz="165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Дорожная карта развития</a:t>
            </a:r>
            <a:r>
              <a:rPr lang="en-US" sz="165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:</a:t>
            </a:r>
            <a:r>
              <a:rPr lang="ru-RU" sz="165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какие следующие шаги стоит сделать по развитию проекта. Система уже готова к изменениям!</a:t>
            </a:r>
            <a:endParaRPr sz="1650" b="0" dirty="0">
              <a:solidFill>
                <a:srgbClr val="C9D4E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1FC29AD-C1E3-4196-A304-84650C88BD80}"/>
              </a:ext>
            </a:extLst>
          </p:cNvPr>
          <p:cNvSpPr>
            <a:spLocks noGrp="1"/>
          </p:cNvSpPr>
          <p:nvPr/>
        </p:nvSpPr>
        <p:spPr>
          <a:xfrm>
            <a:off x="4191000" y="2781300"/>
            <a:ext cx="3429000" cy="11049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99C34F0-A112-4AA0-88AB-23815508BFE9}"/>
              </a:ext>
            </a:extLst>
          </p:cNvPr>
          <p:cNvSpPr>
            <a:spLocks noGrp="1"/>
          </p:cNvSpPr>
          <p:nvPr/>
        </p:nvSpPr>
        <p:spPr>
          <a:xfrm>
            <a:off x="4191000" y="2781300"/>
            <a:ext cx="76200" cy="11049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FD7ECD8-057A-4CBC-9DD3-CC709B661A74}"/>
              </a:ext>
            </a:extLst>
          </p:cNvPr>
          <p:cNvSpPr>
            <a:spLocks noGrp="1"/>
          </p:cNvSpPr>
          <p:nvPr/>
        </p:nvSpPr>
        <p:spPr>
          <a:xfrm>
            <a:off x="4400550" y="2952750"/>
            <a:ext cx="30099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lang="ru-RU" sz="165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Отзывы на мероприятия</a:t>
            </a:r>
            <a:endParaRPr sz="1650" b="1" dirty="0">
              <a:solidFill>
                <a:srgbClr val="FFFFFF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E7026D7-9EB6-4C88-9785-0FEDD36EE0D9}"/>
              </a:ext>
            </a:extLst>
          </p:cNvPr>
          <p:cNvSpPr>
            <a:spLocks noGrp="1"/>
          </p:cNvSpPr>
          <p:nvPr/>
        </p:nvSpPr>
        <p:spPr>
          <a:xfrm>
            <a:off x="4400550" y="3295650"/>
            <a:ext cx="3143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lang="ru-RU"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Возможность оставить оценку и развернутый ответ помогут организаторам делать мероприятия лучше</a:t>
            </a:r>
            <a:endParaRPr sz="1200" b="0" dirty="0">
              <a:solidFill>
                <a:srgbClr val="C9D4E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08529-A306-4A3F-BCCA-FE503745FE51}"/>
              </a:ext>
            </a:extLst>
          </p:cNvPr>
          <p:cNvSpPr>
            <a:spLocks noGrp="1"/>
          </p:cNvSpPr>
          <p:nvPr/>
        </p:nvSpPr>
        <p:spPr>
          <a:xfrm>
            <a:off x="800100" y="2647950"/>
            <a:ext cx="2647950" cy="11049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A853760-3AA4-4418-8334-515F1AE5218D}"/>
              </a:ext>
            </a:extLst>
          </p:cNvPr>
          <p:cNvSpPr>
            <a:spLocks noGrp="1"/>
          </p:cNvSpPr>
          <p:nvPr/>
        </p:nvSpPr>
        <p:spPr>
          <a:xfrm>
            <a:off x="800100" y="2647950"/>
            <a:ext cx="76200" cy="11049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8ED73B21-E9EA-4F7B-8F69-8AC2CCE8D90E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22288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lang="ru-RU" sz="165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Коммерциализация</a:t>
            </a:r>
            <a:endParaRPr sz="1650" b="1" dirty="0">
              <a:solidFill>
                <a:srgbClr val="FFFFFF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D9EC96AD-6D5A-4E4E-85B4-D0C10EA7230C}"/>
              </a:ext>
            </a:extLst>
          </p:cNvPr>
          <p:cNvSpPr>
            <a:spLocks noGrp="1"/>
          </p:cNvSpPr>
          <p:nvPr/>
        </p:nvSpPr>
        <p:spPr>
          <a:xfrm>
            <a:off x="1009650" y="3162300"/>
            <a:ext cx="22288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lang="ru-RU" sz="120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Превращение в полноценный бизнес продукт</a:t>
            </a:r>
            <a:endParaRPr sz="1200" b="0" dirty="0">
              <a:solidFill>
                <a:srgbClr val="C9D4E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19BDDDB-8038-4D90-B675-0FB1B813CCEF}"/>
              </a:ext>
            </a:extLst>
          </p:cNvPr>
          <p:cNvSpPr>
            <a:spLocks noGrp="1"/>
          </p:cNvSpPr>
          <p:nvPr/>
        </p:nvSpPr>
        <p:spPr>
          <a:xfrm>
            <a:off x="8362950" y="2647950"/>
            <a:ext cx="2647950" cy="11049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EB7B68F7-E1F3-4BD1-8643-892A0077E4FC}"/>
              </a:ext>
            </a:extLst>
          </p:cNvPr>
          <p:cNvSpPr>
            <a:spLocks noGrp="1"/>
          </p:cNvSpPr>
          <p:nvPr/>
        </p:nvSpPr>
        <p:spPr>
          <a:xfrm>
            <a:off x="8362950" y="2647950"/>
            <a:ext cx="76200" cy="11049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608A276-F9BD-49DA-82DB-343013E4BD02}"/>
              </a:ext>
            </a:extLst>
          </p:cNvPr>
          <p:cNvSpPr>
            <a:spLocks noGrp="1"/>
          </p:cNvSpPr>
          <p:nvPr/>
        </p:nvSpPr>
        <p:spPr>
          <a:xfrm>
            <a:off x="8572500" y="2819400"/>
            <a:ext cx="22288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lang="ru-RU" sz="165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Журнал действий</a:t>
            </a:r>
            <a:endParaRPr sz="1650" b="1" dirty="0">
              <a:solidFill>
                <a:srgbClr val="FFFFFF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92C5BEC-958D-4CE8-B01B-0BE5975B2E64}"/>
              </a:ext>
            </a:extLst>
          </p:cNvPr>
          <p:cNvSpPr>
            <a:spLocks noGrp="1"/>
          </p:cNvSpPr>
          <p:nvPr/>
        </p:nvSpPr>
        <p:spPr>
          <a:xfrm>
            <a:off x="8572500" y="3162300"/>
            <a:ext cx="22288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lang="ru-RU" sz="120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Использование </a:t>
            </a:r>
            <a:r>
              <a:rPr lang="ru-RU" sz="120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дешбордов</a:t>
            </a:r>
            <a:r>
              <a:rPr lang="ru-RU" sz="120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для просмотра журнала действий</a:t>
            </a:r>
            <a:endParaRPr sz="1200" b="0" dirty="0">
              <a:solidFill>
                <a:srgbClr val="C9D4E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4CE98A0-C040-4B13-ABCF-1117F53D2CD7}"/>
              </a:ext>
            </a:extLst>
          </p:cNvPr>
          <p:cNvSpPr>
            <a:spLocks noGrp="1"/>
          </p:cNvSpPr>
          <p:nvPr/>
        </p:nvSpPr>
        <p:spPr>
          <a:xfrm>
            <a:off x="800100" y="4533900"/>
            <a:ext cx="2647950" cy="11049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EA3C53FA-5C3E-45CA-80DD-09CA0AE1DB10}"/>
              </a:ext>
            </a:extLst>
          </p:cNvPr>
          <p:cNvSpPr>
            <a:spLocks noGrp="1"/>
          </p:cNvSpPr>
          <p:nvPr/>
        </p:nvSpPr>
        <p:spPr>
          <a:xfrm>
            <a:off x="800100" y="4533900"/>
            <a:ext cx="76200" cy="1104900"/>
          </a:xfrm>
          <a:prstGeom prst="rect">
            <a:avLst/>
          </a:prstGeom>
          <a:solidFill>
            <a:srgbClr val="7C3AED"/>
          </a:solidFill>
          <a:ln w="0">
            <a:solidFill>
              <a:srgbClr val="7C3AED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31B19AE-8C4D-490B-B2B0-C0F5135EE075}"/>
              </a:ext>
            </a:extLst>
          </p:cNvPr>
          <p:cNvSpPr>
            <a:spLocks noGrp="1"/>
          </p:cNvSpPr>
          <p:nvPr/>
        </p:nvSpPr>
        <p:spPr>
          <a:xfrm>
            <a:off x="1009650" y="4705350"/>
            <a:ext cx="22288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lang="ru-RU" sz="165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Метрики</a:t>
            </a:r>
            <a:endParaRPr sz="1650" b="1" dirty="0">
              <a:solidFill>
                <a:srgbClr val="FFFFFF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E055AFD-DBD8-4538-B96B-654BA6DA3BA7}"/>
              </a:ext>
            </a:extLst>
          </p:cNvPr>
          <p:cNvSpPr>
            <a:spLocks noGrp="1"/>
          </p:cNvSpPr>
          <p:nvPr/>
        </p:nvSpPr>
        <p:spPr>
          <a:xfrm>
            <a:off x="1009650" y="5048250"/>
            <a:ext cx="22288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Grafana, Loki, Prometheus и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журнал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всех</a:t>
            </a:r>
            <a:r>
              <a:rPr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оп</a:t>
            </a:r>
            <a:r>
              <a:rPr lang="ru-RU"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е</a:t>
            </a:r>
            <a:r>
              <a:rPr sz="1200" b="0" dirty="0" err="1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раций</a:t>
            </a:r>
            <a:endParaRPr sz="1200" b="0" dirty="0">
              <a:solidFill>
                <a:srgbClr val="C9D4E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656A681-7CBD-4F43-BED6-F2EE538BB064}"/>
              </a:ext>
            </a:extLst>
          </p:cNvPr>
          <p:cNvSpPr>
            <a:spLocks noGrp="1"/>
          </p:cNvSpPr>
          <p:nvPr/>
        </p:nvSpPr>
        <p:spPr>
          <a:xfrm>
            <a:off x="8362950" y="4533900"/>
            <a:ext cx="2647950" cy="11049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FBCB467-6B35-4F2A-AE6B-27DD09D8F304}"/>
              </a:ext>
            </a:extLst>
          </p:cNvPr>
          <p:cNvSpPr>
            <a:spLocks noGrp="1"/>
          </p:cNvSpPr>
          <p:nvPr/>
        </p:nvSpPr>
        <p:spPr>
          <a:xfrm>
            <a:off x="8362950" y="4533900"/>
            <a:ext cx="76200" cy="1104900"/>
          </a:xfrm>
          <a:prstGeom prst="rect">
            <a:avLst/>
          </a:prstGeom>
          <a:solidFill>
            <a:srgbClr val="E11D48"/>
          </a:solidFill>
          <a:ln w="0">
            <a:solidFill>
              <a:srgbClr val="E11D4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1C26201-9B38-4732-92B2-56C50932C415}"/>
              </a:ext>
            </a:extLst>
          </p:cNvPr>
          <p:cNvSpPr>
            <a:spLocks noGrp="1"/>
          </p:cNvSpPr>
          <p:nvPr/>
        </p:nvSpPr>
        <p:spPr>
          <a:xfrm>
            <a:off x="8572500" y="4705350"/>
            <a:ext cx="24384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lang="ru-RU" sz="1650" b="1" dirty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Мини-приложение</a:t>
            </a:r>
            <a:endParaRPr sz="1650" b="1" dirty="0">
              <a:solidFill>
                <a:srgbClr val="FFFFFF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88D9DC4-CD51-4A83-BF51-6328E1542634}"/>
              </a:ext>
            </a:extLst>
          </p:cNvPr>
          <p:cNvSpPr>
            <a:spLocks noGrp="1"/>
          </p:cNvSpPr>
          <p:nvPr/>
        </p:nvSpPr>
        <p:spPr>
          <a:xfrm>
            <a:off x="8572500" y="5048250"/>
            <a:ext cx="2307936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lang="ru-RU" sz="1200" b="0" dirty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Перенос панели организатора и администратора в мини приложение</a:t>
            </a:r>
            <a:endParaRPr sz="1200" b="0" dirty="0">
              <a:solidFill>
                <a:srgbClr val="C9D4E5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D0D8096-EA76-4D90-9F7C-0ED28908D506}"/>
              </a:ext>
            </a:extLst>
          </p:cNvPr>
          <p:cNvSpPr>
            <a:spLocks noGrp="1"/>
          </p:cNvSpPr>
          <p:nvPr/>
        </p:nvSpPr>
        <p:spPr>
          <a:xfrm>
            <a:off x="2343150" y="5962650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Популярность объясняется простотой: человек быстро достигает цели, а бизнес легко расширяет правила вокруг этого пути.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30E2D1CD-E119-4E2C-9AD8-8CD9A7A19EAF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B257253-B5A9-41DB-9D55-1D8AB3BC4713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907030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5ABF41E-17F3-4A2D-BF2B-6CA818C7FC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</p:sp>
      <p:sp>
        <p:nvSpPr>
          <p:cNvPr id="2" name="kicker-thanks-marker">
            <a:extLst>
              <a:ext uri="{FF2B5EF4-FFF2-40B4-BE49-F238E27FC236}">
                <a16:creationId xmlns:a16="http://schemas.microsoft.com/office/drawing/2014/main" id="{9255246B-AB8D-4BFD-A73F-2290E7D80111}"/>
              </a:ext>
            </a:extLst>
          </p:cNvPr>
          <p:cNvSpPr>
            <a:spLocks noGrp="1"/>
          </p:cNvSpPr>
          <p:nvPr/>
        </p:nvSpPr>
        <p:spPr>
          <a:xfrm>
            <a:off x="685800" y="523875"/>
            <a:ext cx="400050" cy="381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3" name="kicker-thanks-label">
            <a:extLst>
              <a:ext uri="{FF2B5EF4-FFF2-40B4-BE49-F238E27FC236}">
                <a16:creationId xmlns:a16="http://schemas.microsoft.com/office/drawing/2014/main" id="{4AE43B40-FFBB-40E0-85B5-974AE4EC0598}"/>
              </a:ext>
            </a:extLst>
          </p:cNvPr>
          <p:cNvSpPr>
            <a:spLocks noGrp="1"/>
          </p:cNvSpPr>
          <p:nvPr/>
        </p:nvSpPr>
        <p:spPr>
          <a:xfrm>
            <a:off x="1200150" y="438150"/>
            <a:ext cx="4000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75" b="1">
                <a:solidFill>
                  <a:srgbClr val="C9D4E5"/>
                </a:solidFill>
                <a:latin typeface="Segoe UI Semibold"/>
                <a:ea typeface="Segoe UI Semibold"/>
                <a:cs typeface="Segoe UI Semibold"/>
              </a:rPr>
              <a:t>ФИНАЛ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6DDC287-EAE5-4F96-8021-8E443AB1E939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81915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48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48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Спасибо за внимание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958263-0130-47CD-B567-E3F2D99D81FA}"/>
              </a:ext>
            </a:extLst>
          </p:cNvPr>
          <p:cNvSpPr>
            <a:spLocks noGrp="1"/>
          </p:cNvSpPr>
          <p:nvPr/>
        </p:nvSpPr>
        <p:spPr>
          <a:xfrm>
            <a:off x="742950" y="2247900"/>
            <a:ext cx="8191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Готовы показать демо и ответить на вопросы по продукту, архитектуре и развитию.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0EFAD4E-2448-4A90-A35F-3D2160876FC5}"/>
              </a:ext>
            </a:extLst>
          </p:cNvPr>
          <p:cNvSpPr>
            <a:spLocks noGrp="1"/>
          </p:cNvSpPr>
          <p:nvPr/>
        </p:nvSpPr>
        <p:spPr>
          <a:xfrm>
            <a:off x="819150" y="3409950"/>
            <a:ext cx="2952750" cy="11430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9FF0AE4-94E0-4409-844A-FC5479071955}"/>
              </a:ext>
            </a:extLst>
          </p:cNvPr>
          <p:cNvSpPr>
            <a:spLocks noGrp="1"/>
          </p:cNvSpPr>
          <p:nvPr/>
        </p:nvSpPr>
        <p:spPr>
          <a:xfrm>
            <a:off x="819150" y="3409950"/>
            <a:ext cx="76200" cy="1143000"/>
          </a:xfrm>
          <a:prstGeom prst="rect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26E9BC1-E8B4-4803-9C51-6C87DA37F3EF}"/>
              </a:ext>
            </a:extLst>
          </p:cNvPr>
          <p:cNvSpPr>
            <a:spLocks noGrp="1"/>
          </p:cNvSpPr>
          <p:nvPr/>
        </p:nvSpPr>
        <p:spPr>
          <a:xfrm>
            <a:off x="1028700" y="3581400"/>
            <a:ext cx="2533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Пользователю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2B91B42-03E1-4D4C-8F90-815CFD4C197F}"/>
              </a:ext>
            </a:extLst>
          </p:cNvPr>
          <p:cNvSpPr>
            <a:spLocks noGrp="1"/>
          </p:cNvSpPr>
          <p:nvPr/>
        </p:nvSpPr>
        <p:spPr>
          <a:xfrm>
            <a:off x="1028700" y="3924300"/>
            <a:ext cx="25336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записаться быстро и не потерять код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0F114F9-678C-4858-9E3B-8E19EF46EA32}"/>
              </a:ext>
            </a:extLst>
          </p:cNvPr>
          <p:cNvSpPr>
            <a:spLocks noGrp="1"/>
          </p:cNvSpPr>
          <p:nvPr/>
        </p:nvSpPr>
        <p:spPr>
          <a:xfrm>
            <a:off x="4438650" y="3409950"/>
            <a:ext cx="2952750" cy="11430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ED02BC7-BB03-4E36-A8F3-0412E699FBB6}"/>
              </a:ext>
            </a:extLst>
          </p:cNvPr>
          <p:cNvSpPr>
            <a:spLocks noGrp="1"/>
          </p:cNvSpPr>
          <p:nvPr/>
        </p:nvSpPr>
        <p:spPr>
          <a:xfrm>
            <a:off x="4438650" y="3409950"/>
            <a:ext cx="76200" cy="1143000"/>
          </a:xfrm>
          <a:prstGeom prst="rect">
            <a:avLst/>
          </a:prstGeom>
          <a:solidFill>
            <a:srgbClr val="00A676"/>
          </a:solidFill>
          <a:ln w="0">
            <a:solidFill>
              <a:srgbClr val="00A676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BB85E86-8AFC-43FE-A7A8-15093900469C}"/>
              </a:ext>
            </a:extLst>
          </p:cNvPr>
          <p:cNvSpPr>
            <a:spLocks noGrp="1"/>
          </p:cNvSpPr>
          <p:nvPr/>
        </p:nvSpPr>
        <p:spPr>
          <a:xfrm>
            <a:off x="4648200" y="3581400"/>
            <a:ext cx="2533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Организатору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193C078-7841-413D-92D8-15E52EC7915F}"/>
              </a:ext>
            </a:extLst>
          </p:cNvPr>
          <p:cNvSpPr>
            <a:spLocks noGrp="1"/>
          </p:cNvSpPr>
          <p:nvPr/>
        </p:nvSpPr>
        <p:spPr>
          <a:xfrm>
            <a:off x="4648200" y="3924300"/>
            <a:ext cx="25336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создать мероприятие, разослать ссылку, отметить вход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146E5E2-265E-42F5-BE7F-DF23A9E729A5}"/>
              </a:ext>
            </a:extLst>
          </p:cNvPr>
          <p:cNvSpPr>
            <a:spLocks noGrp="1"/>
          </p:cNvSpPr>
          <p:nvPr/>
        </p:nvSpPr>
        <p:spPr>
          <a:xfrm>
            <a:off x="8058150" y="3409950"/>
            <a:ext cx="2952750" cy="1143000"/>
          </a:xfrm>
          <a:prstGeom prst="rect">
            <a:avLst/>
          </a:prstGeom>
          <a:solidFill>
            <a:srgbClr val="172033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DDEE86D-C5B8-4ED3-BEF1-B5BA645F2B4A}"/>
              </a:ext>
            </a:extLst>
          </p:cNvPr>
          <p:cNvSpPr>
            <a:spLocks noGrp="1"/>
          </p:cNvSpPr>
          <p:nvPr/>
        </p:nvSpPr>
        <p:spPr>
          <a:xfrm>
            <a:off x="8058150" y="3409950"/>
            <a:ext cx="76200" cy="1143000"/>
          </a:xfrm>
          <a:prstGeom prst="rect">
            <a:avLst/>
          </a:prstGeom>
          <a:solidFill>
            <a:srgbClr val="F59E0B"/>
          </a:solidFill>
          <a:ln w="0">
            <a:solidFill>
              <a:srgbClr val="F59E0B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1FFBACD-A07A-439C-B1C6-8614247A0DEF}"/>
              </a:ext>
            </a:extLst>
          </p:cNvPr>
          <p:cNvSpPr>
            <a:spLocks noGrp="1"/>
          </p:cNvSpPr>
          <p:nvPr/>
        </p:nvSpPr>
        <p:spPr>
          <a:xfrm>
            <a:off x="8267700" y="3581400"/>
            <a:ext cx="2533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Проекту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06FC133-FB70-4449-ABF9-796B7E1A25D3}"/>
              </a:ext>
            </a:extLst>
          </p:cNvPr>
          <p:cNvSpPr>
            <a:spLocks noGrp="1"/>
          </p:cNvSpPr>
          <p:nvPr/>
        </p:nvSpPr>
        <p:spPr>
          <a:xfrm>
            <a:off x="8267700" y="3924300"/>
            <a:ext cx="25336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C9D4E5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C9D4E5"/>
                </a:solidFill>
                <a:latin typeface="Segoe UI"/>
                <a:ea typeface="Segoe UI"/>
                <a:cs typeface="Segoe UI"/>
              </a:rPr>
              <a:t>российский/open stack, тесты и понятная монетизация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79D40C6-147C-4EFC-8F2C-A761F708CE54}"/>
              </a:ext>
            </a:extLst>
          </p:cNvPr>
          <p:cNvSpPr>
            <a:spLocks noGrp="1"/>
          </p:cNvSpPr>
          <p:nvPr/>
        </p:nvSpPr>
        <p:spPr>
          <a:xfrm>
            <a:off x="819150" y="5295900"/>
            <a:ext cx="4000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DA8A811-F95C-4F44-B90D-3CE050C54B60}"/>
              </a:ext>
            </a:extLst>
          </p:cNvPr>
          <p:cNvSpPr>
            <a:spLocks noGrp="1"/>
          </p:cNvSpPr>
          <p:nvPr/>
        </p:nvSpPr>
        <p:spPr>
          <a:xfrm>
            <a:off x="685800" y="6496050"/>
            <a:ext cx="4095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MAX-бот записи на мероприятия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51CBEDC-B75D-4705-AB61-B130B4E903AB}"/>
              </a:ext>
            </a:extLst>
          </p:cNvPr>
          <p:cNvSpPr>
            <a:spLocks noGrp="1"/>
          </p:cNvSpPr>
          <p:nvPr/>
        </p:nvSpPr>
        <p:spPr>
          <a:xfrm>
            <a:off x="11125200" y="6477000"/>
            <a:ext cx="381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71809A"/>
                </a:solidFill>
                <a:latin typeface="Segoe UI"/>
                <a:ea typeface="Segoe UI"/>
                <a:cs typeface="Segoe UI"/>
              </a:defRPr>
            </a:pPr>
            <a:r>
              <a:rPr sz="825" b="0">
                <a:solidFill>
                  <a:srgbClr val="71809A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8871127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</TotalTime>
  <Words>1854</Words>
  <Application>Microsoft Office PowerPoint</Application>
  <DocSecurity>0</DocSecurity>
  <PresentationFormat>Широкоэкранный</PresentationFormat>
  <Paragraphs>329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Calibri</vt:lpstr>
      <vt:lpstr>Segoe UI</vt:lpstr>
      <vt:lpstr>Segoe UI Semibold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Ыыыыыы ЫЫыыыы</cp:lastModifiedBy>
  <cp:revision>4</cp:revision>
  <dcterms:created xsi:type="dcterms:W3CDTF">2026-05-24T23:40:18Z</dcterms:created>
  <dcterms:modified xsi:type="dcterms:W3CDTF">2026-05-25T13:04:03Z</dcterms:modified>
</cp:coreProperties>
</file>