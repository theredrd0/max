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application/octet-stream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0d8ee215d14b0a" /><Relationship Type="http://schemas.openxmlformats.org/officeDocument/2006/relationships/extended-properties" Target="/docProps/app.xml" Id="Rf3a9da117fbd4e5b" /><Relationship Type="http://schemas.openxmlformats.org/officeDocument/2006/relationships/officeDocument" Target="/ppt/presentation.xml" Id="Rcb45f970ced841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14dcb62b2a45bc"/>
  </p:sldMasterIdLst>
  <p:notesMasterIdLst>
    <p:notesMasterId xmlns:r="http://schemas.openxmlformats.org/officeDocument/2006/relationships" r:id="Rb1b7f6670a9b4798"/>
  </p:notesMasterIdLst>
  <p:sldIdLst>
    <p:sldId xmlns:r="http://schemas.openxmlformats.org/officeDocument/2006/relationships" id="256" r:id="R90fa7cb6f7f14339"/>
    <p:sldId xmlns:r="http://schemas.openxmlformats.org/officeDocument/2006/relationships" id="257" r:id="R0df05c0b92ef4f04"/>
    <p:sldId xmlns:r="http://schemas.openxmlformats.org/officeDocument/2006/relationships" id="258" r:id="R6653fb100b3147e3"/>
    <p:sldId xmlns:r="http://schemas.openxmlformats.org/officeDocument/2006/relationships" id="259" r:id="Rfac6295a613f4399"/>
    <p:sldId xmlns:r="http://schemas.openxmlformats.org/officeDocument/2006/relationships" id="260" r:id="R3495e07bd4d24fb0"/>
    <p:sldId xmlns:r="http://schemas.openxmlformats.org/officeDocument/2006/relationships" id="261" r:id="Rd94e70504de34d67"/>
    <p:sldId xmlns:r="http://schemas.openxmlformats.org/officeDocument/2006/relationships" id="262" r:id="R935039385a984e42"/>
    <p:sldId xmlns:r="http://schemas.openxmlformats.org/officeDocument/2006/relationships" id="263" r:id="Rf1a0b45e6bd547c8"/>
    <p:sldId xmlns:r="http://schemas.openxmlformats.org/officeDocument/2006/relationships" id="264" r:id="Re857bc39d42d4195"/>
    <p:sldId xmlns:r="http://schemas.openxmlformats.org/officeDocument/2006/relationships" id="265" r:id="R0bef6e03656c49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14dcb62b2a45bc" /><Relationship Type="http://schemas.openxmlformats.org/officeDocument/2006/relationships/theme" Target="/ppt/theme/theme1.xml" Id="R47d326eb6c9346be" /><Relationship Type="http://schemas.openxmlformats.org/officeDocument/2006/relationships/notesMaster" Target="/ppt/notesMasters/notesMaster1.xml" Id="Rb1b7f6670a9b4798" /><Relationship Type="http://schemas.openxmlformats.org/officeDocument/2006/relationships/presProps" Target="/ppt/presProps.xml" Id="R25a74f6e55d948fd" /><Relationship Type="http://schemas.openxmlformats.org/officeDocument/2006/relationships/viewProps" Target="/ppt/viewProps.xml" Id="R9c094884d8154c89" /><Relationship Type="http://schemas.openxmlformats.org/officeDocument/2006/relationships/tableStyles" Target="/ppt/tableStyles.xml" Id="Ra8aa8d567d684f8c" /><Relationship Type="http://schemas.openxmlformats.org/officeDocument/2006/relationships/slide" Target="/ppt/slides/slide1.xml" Id="R90fa7cb6f7f14339" /><Relationship Type="http://schemas.openxmlformats.org/officeDocument/2006/relationships/slide" Target="/ppt/slides/slide2.xml" Id="R0df05c0b92ef4f04" /><Relationship Type="http://schemas.openxmlformats.org/officeDocument/2006/relationships/slide" Target="/ppt/slides/slide3.xml" Id="R6653fb100b3147e3" /><Relationship Type="http://schemas.openxmlformats.org/officeDocument/2006/relationships/slide" Target="/ppt/slides/slide4.xml" Id="Rfac6295a613f4399" /><Relationship Type="http://schemas.openxmlformats.org/officeDocument/2006/relationships/slide" Target="/ppt/slides/slide5.xml" Id="R3495e07bd4d24fb0" /><Relationship Type="http://schemas.openxmlformats.org/officeDocument/2006/relationships/slide" Target="/ppt/slides/slide6.xml" Id="Rd94e70504de34d67" /><Relationship Type="http://schemas.openxmlformats.org/officeDocument/2006/relationships/slide" Target="/ppt/slides/slide7.xml" Id="R935039385a984e42" /><Relationship Type="http://schemas.openxmlformats.org/officeDocument/2006/relationships/slide" Target="/ppt/slides/slide8.xml" Id="Rf1a0b45e6bd547c8" /><Relationship Type="http://schemas.openxmlformats.org/officeDocument/2006/relationships/slide" Target="/ppt/slides/slide9.xml" Id="Re857bc39d42d4195" /><Relationship Type="http://schemas.openxmlformats.org/officeDocument/2006/relationships/slide" Target="/ppt/slides/slide10.xml" Id="R0bef6e03656c49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d8e94a88d1440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661a6e197b442b" /><Relationship Type="http://schemas.openxmlformats.org/officeDocument/2006/relationships/notesMaster" Target="/ppt/notesMasters/notesMaster1.xml" Id="Rdcc2543144b948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a8db630d944aa0" /><Relationship Type="http://schemas.openxmlformats.org/officeDocument/2006/relationships/notesMaster" Target="/ppt/notesMasters/notesMaster1.xml" Id="Ra674d95e2a1742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61d48a7fba4bca" /><Relationship Type="http://schemas.openxmlformats.org/officeDocument/2006/relationships/notesMaster" Target="/ppt/notesMasters/notesMaster1.xml" Id="R80dd823abee04a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8f9652c9cd43c8" /><Relationship Type="http://schemas.openxmlformats.org/officeDocument/2006/relationships/notesMaster" Target="/ppt/notesMasters/notesMaster1.xml" Id="R9b05f9ad735643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0d1fd0b2a4464f" /><Relationship Type="http://schemas.openxmlformats.org/officeDocument/2006/relationships/notesMaster" Target="/ppt/notesMasters/notesMaster1.xml" Id="R55900d1aa2774f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064c5ddb6649f9" /><Relationship Type="http://schemas.openxmlformats.org/officeDocument/2006/relationships/notesMaster" Target="/ppt/notesMasters/notesMaster1.xml" Id="R4a930c54ebb34d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1fd4b5708647dc" /><Relationship Type="http://schemas.openxmlformats.org/officeDocument/2006/relationships/notesMaster" Target="/ppt/notesMasters/notesMaster1.xml" Id="Rcaeb621f80ca40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0942394cea40db" /><Relationship Type="http://schemas.openxmlformats.org/officeDocument/2006/relationships/notesMaster" Target="/ppt/notesMasters/notesMaster1.xml" Id="R559524c0b70c44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2a3ea021a74052" /><Relationship Type="http://schemas.openxmlformats.org/officeDocument/2006/relationships/notesMaster" Target="/ppt/notesMasters/notesMaster1.xml" Id="Racbd5406db4545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2ba68520614b0e" /><Relationship Type="http://schemas.openxmlformats.org/officeDocument/2006/relationships/notesMaster" Target="/ppt/notesMasters/notesMaster1.xml" Id="R104b0be8763146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рассказа:</a:t>
            </a:r>
          </a:p>
          <a:p xmlns:a="http://schemas.openxmlformats.org/drawingml/2006/main">
            <a:r>
              <a:t>Назвать проект и сразу рамку: показываем не идею, а текущее состояние решения. Подчеркнуть чатовый формат, две роли и отсутствие лишнего сбора данных. Сказать, что скриншоты будут подставлены после подготовки демо.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рассказа:</a:t>
            </a:r>
          </a:p>
          <a:p xmlns:a="http://schemas.openxmlformats.org/drawingml/2006/main">
            <a:r>
              <a:t>Сказать главный дифференциатор: мы не строим ещё один сайт записи, а используем MAX как канал и интерфейс. Развести пользу для абитуриента и Организатора. Акцент: приватность и скорость запуска важнее красивого, но отдельного миниаппа.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рассказа:</a:t>
            </a:r>
          </a:p>
          <a:p xmlns:a="http://schemas.openxmlformats.org/drawingml/2006/main">
            <a:r>
              <a:t>На этом слайде во время доклада пройти пользовательскую линию. Показать, что абитуриент видит ближайшие мероприятия, выбирает слот, получает код и может отменить запись до начала. После подготовки демо сюда нужно вставить три скриншота из MAX.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рассказа:</a:t>
            </a:r>
          </a:p>
          <a:p xmlns:a="http://schemas.openxmlformats.org/drawingml/2006/main">
            <a:r>
              <a:t>Сместить фокус с абитуриента на администратора мероприятия. Эксперту важно увидеть, что есть не только запись, но и управление записью: закрытие регистрации, поиск по коду, отметка посещения и уведомления.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рассказа:</a:t>
            </a:r>
          </a:p>
          <a:p xmlns:a="http://schemas.openxmlformats.org/drawingml/2006/main">
            <a:r>
              <a:t>Объяснить технический скелет без углубления в детали. MAX шлёт webhook в Cloud Functions, обработчик использует те же компоненты, что локальный FastAPI-сервис, данные и очередь уведомлений лежат в YDB. Отдельно упомянуть timer trigger для напоминаний.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рассказа:</a:t>
            </a:r>
          </a:p>
          <a:p xmlns:a="http://schemas.openxmlformats.org/drawingml/2006/main">
            <a:r>
              <a:t>Сказать, что YDB используется не как абстрактная база, а под конкретные правила записи: слоты, вместимость, уникальные коды, индексы для поиска и outbox для надёжной отправки. Подчеркнуть, что внешние ключи в YDB заменены проверками сервисного слоя.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рассказа:</a:t>
            </a:r>
          </a:p>
          <a:p xmlns:a="http://schemas.openxmlformats.org/drawingml/2006/main">
            <a:r>
              <a:t>Слайд нужен, чтобы эксперт увидел конкретику второго митапа. Не обещать масштабирование на всю страну, а спокойно показать сделанное: код, тесты, seed-данные, сборка и деплой-скрипты. Если спросят про качество, перейти к тестам и YDB-схеме.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рассказа:</a:t>
            </a:r>
          </a:p>
          <a:p xmlns:a="http://schemas.openxmlformats.org/drawingml/2006/main">
            <a:r>
              <a:t>Коротко назвать стек и сразу привязать к ограничениям кейса: MAX как интерфейс, Python/FastAPI как понятная серверная часть, YDB как serverless база, Cloud Functions как дешёвый и быстрый деплой. Не уходить в перечисление библиотек.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рассказа:</a:t>
            </a:r>
          </a:p>
          <a:p xmlns:a="http://schemas.openxmlformats.org/drawingml/2006/main">
            <a:r>
              <a:t>Объяснить коммерциализацию без выдуманных цифр. Начать с узкого пилота в приёмной кампании, затем масштабировать на календарь мероприятий вуза. Деньги - за сезон или кампанию, дополнительные модули - брендирование, интеграции, аналитика.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рассказа:</a:t>
            </a:r>
          </a:p>
          <a:p xmlns:a="http://schemas.openxmlformats.org/drawingml/2006/main">
            <a:r>
              <a:t>Этот слайд можно держать как внутреннюю шпаргалку перед включением демонстрации. На докладе не зачитывать весь тайминг, а держать ритм: 30 секунд ввод, 3 минуты живой сценарий, 1 минута архитектура, 40 секунд коммерциализация, короткое завершение.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fda0d55f6649b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98de1598262403d" /><Relationship Type="http://schemas.openxmlformats.org/officeDocument/2006/relationships/slideLayout" Target="/ppt/slideLayouts/slideLayout2.xml" Id="R01a7493c58a246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a7493c58a246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14a62d609142c0" /><Relationship Type="http://schemas.openxmlformats.org/officeDocument/2006/relationships/image" Target="/ppt/media/image.bin" Id="R6b2987cfc29a4deb" /><Relationship Type="http://schemas.openxmlformats.org/officeDocument/2006/relationships/image" Target="/ppt/media/image2.bin" Id="R8547d8f5e7724378" /><Relationship Type="http://schemas.openxmlformats.org/officeDocument/2006/relationships/image" Target="/ppt/media/image3.bin" Id="R48891c120f1e4c07" /><Relationship Type="http://schemas.openxmlformats.org/officeDocument/2006/relationships/image" Target="/ppt/media/image4.bin" Id="Re64149f59a2a4dfb" /><Relationship Type="http://schemas.openxmlformats.org/officeDocument/2006/relationships/image" Target="/ppt/media/image5.bin" Id="R2fe6442490a94471" /><Relationship Type="http://schemas.openxmlformats.org/officeDocument/2006/relationships/notesSlide" Target="/ppt/notesSlides/notesSlide1.xml" Id="R67c82f1989404e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c941aa72eb48c9" /><Relationship Type="http://schemas.openxmlformats.org/officeDocument/2006/relationships/notesSlide" Target="/ppt/notesSlides/notesSlide2.xml" Id="Ra1f0e9bfb44e4e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a7c5148bf540fb" /><Relationship Type="http://schemas.openxmlformats.org/officeDocument/2006/relationships/notesSlide" Target="/ppt/notesSlides/notesSlide3.xml" Id="R9c3bfb1a1e4845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35800bee1340b4" /><Relationship Type="http://schemas.openxmlformats.org/officeDocument/2006/relationships/notesSlide" Target="/ppt/notesSlides/notesSlide4.xml" Id="R468a2602d07d45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b76fb7ca5c4d39" /><Relationship Type="http://schemas.openxmlformats.org/officeDocument/2006/relationships/image" Target="/ppt/media/image6.bin" Id="R98111157c0a24f9c" /><Relationship Type="http://schemas.openxmlformats.org/officeDocument/2006/relationships/image" Target="/ppt/media/image7.bin" Id="R8cbe40bff3e1422f" /><Relationship Type="http://schemas.openxmlformats.org/officeDocument/2006/relationships/image" Target="/ppt/media/image8.bin" Id="R755582ed218f4439" /><Relationship Type="http://schemas.openxmlformats.org/officeDocument/2006/relationships/image" Target="/ppt/media/image9.bin" Id="R5960a55eec4a4305" /><Relationship Type="http://schemas.openxmlformats.org/officeDocument/2006/relationships/notesSlide" Target="/ppt/notesSlides/notesSlide5.xml" Id="R8ef424a126ec44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007ba92406401b" /><Relationship Type="http://schemas.openxmlformats.org/officeDocument/2006/relationships/notesSlide" Target="/ppt/notesSlides/notesSlide6.xml" Id="Rd9ffd80daf864e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42665fcef74ded" /><Relationship Type="http://schemas.openxmlformats.org/officeDocument/2006/relationships/notesSlide" Target="/ppt/notesSlides/notesSlide7.xml" Id="R23eb31bde46245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349ce95b064922" /><Relationship Type="http://schemas.openxmlformats.org/officeDocument/2006/relationships/image" Target="/ppt/media/image10.bin" Id="R8e52e9a49fcd413a" /><Relationship Type="http://schemas.openxmlformats.org/officeDocument/2006/relationships/image" Target="/ppt/media/image11.bin" Id="Ra4b5ddb236834f34" /><Relationship Type="http://schemas.openxmlformats.org/officeDocument/2006/relationships/image" Target="/ppt/media/image12.bin" Id="Rb03f08a4e5cc4338" /><Relationship Type="http://schemas.openxmlformats.org/officeDocument/2006/relationships/image" Target="/ppt/media/image13.bin" Id="Rc42f9178259e415b" /><Relationship Type="http://schemas.openxmlformats.org/officeDocument/2006/relationships/image" Target="/ppt/media/image14.bin" Id="R891eab3eca7042d4" /><Relationship Type="http://schemas.openxmlformats.org/officeDocument/2006/relationships/notesSlide" Target="/ppt/notesSlides/notesSlide8.xml" Id="R88e5946e560d4c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ff6a74b1d7403c" /><Relationship Type="http://schemas.openxmlformats.org/officeDocument/2006/relationships/notesSlide" Target="/ppt/notesSlides/notesSlide9.xml" Id="R5fef7d97dc6645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eee74f8e1a41f9" /><Relationship Type="http://schemas.openxmlformats.org/officeDocument/2006/relationships/notesSlide" Target="/ppt/notesSlides/notesSlide10.xml" Id="R1b4c1617116e4ba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DCB3F2-7AFA-4C06-AA8C-59F5F8D2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4F640-AFFD-4778-80D6-19204A32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6"/>
          </a:solidFill>
          <a:ln xmlns:a="http://schemas.openxmlformats.org/drawingml/2006/main" w="0">
            <a:solidFill>
              <a:srgbClr val="123B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2FBDF-DE53-4C45-903F-F6D5AD52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143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749"/>
          </a:solidFill>
          <a:ln xmlns:a="http://schemas.openxmlformats.org/drawingml/2006/main" w="0">
            <a:solidFill>
              <a:srgbClr val="0E2749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987cfc29a4deb"/>
          <a:stretch xmlns:a="http://schemas.openxmlformats.org/drawingml/2006/main"/>
        </p:blipFill>
        <p:spPr>
          <a:xfrm xmlns:a="http://schemas.openxmlformats.org/drawingml/2006/main">
            <a:off x="590550" y="533400"/>
            <a:ext cx="1790700" cy="476250"/>
          </a:xfrm>
          <a:prstGeom xmlns:a="http://schemas.openxmlformats.org/drawingml/2006/main" prst="rect">
            <a:avLst/>
          </a:prstGeom>
        </p:spPr>
      </p:pic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31F119E-BAD5-4E67-BB52-A312F5B3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2FF"/>
          </a:solidFill>
          <a:ln xmlns:a="http://schemas.openxmlformats.org/drawingml/2006/main" w="0">
            <a:solidFill>
              <a:srgbClr val="00B2FF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7670686-95FF-4C1C-B647-3F8D7F00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096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D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D7FF"/>
                </a:solidFill>
                <a:latin typeface="Aptos"/>
                <a:ea typeface="Aptos"/>
                <a:cs typeface="Aptos"/>
              </a:rPr>
              <a:t>МИТАП 2 / ГОТОВО К ДЕМО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8D7B5-788B-444A-8F01-F49399A9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6858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MAX-бот записи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абитуриентов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на мероприятия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185E1-BC27-4E79-B83F-4DABB07A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57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7D2FE"/>
                </a:solidFill>
                <a:latin typeface="Aptos"/>
                <a:ea typeface="Aptos"/>
                <a:cs typeface="Aptos"/>
              </a:rPr>
              <a:t>Чатовый сценарий без миниаппов: выбор мероприятия, слот, код записи, уведомления и контур Организатора.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7B5BF-90E3-47B1-89B5-18917DEA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E2749"/>
          </a:solidFill>
          <a:ln xmlns:a="http://schemas.openxmlformats.org/drawingml/2006/main" w="9525">
            <a:solidFill>
              <a:srgbClr val="00B2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8DED1-53B5-48D4-A8C6-406ACBF4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F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9F1FF"/>
                </a:solidFill>
                <a:latin typeface="Aptos"/>
                <a:ea typeface="Aptos"/>
                <a:cs typeface="Aptos"/>
              </a:rPr>
              <a:t>до 6 минут доклада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3977B-68AA-4976-90E3-E7029391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76750"/>
            <a:ext cx="2190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E2749"/>
          </a:solidFill>
          <a:ln xmlns:a="http://schemas.openxmlformats.org/drawingml/2006/main" w="9525">
            <a:solidFill>
              <a:srgbClr val="00A67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26A73-6695-4F1A-8EE3-5B0D0D7E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52950"/>
            <a:ext cx="1924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FFAF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FFAF0"/>
                </a:solidFill>
                <a:latin typeface="Aptos"/>
                <a:ea typeface="Aptos"/>
                <a:cs typeface="Aptos"/>
              </a:rPr>
              <a:t>без персональных данных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E5161-427F-482B-9778-3D88628C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2190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A2E"/>
          </a:solidFill>
          <a:ln xmlns:a="http://schemas.openxmlformats.org/drawingml/2006/main" w="9525">
            <a:solidFill>
              <a:srgbClr val="2941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CF22F-5F76-45F8-B558-151C7D80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47850"/>
            <a:ext cx="85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B2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B2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53158-ED68-4525-B438-CBFCE422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098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7D2FE"/>
                </a:solidFill>
                <a:latin typeface="Aptos"/>
                <a:ea typeface="Aptos"/>
                <a:cs typeface="Aptos"/>
              </a:rPr>
              <a:t>роли: абитуриент и Организатор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08B53-A53C-452D-9246-93AF285C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2190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A2E"/>
          </a:solidFill>
          <a:ln xmlns:a="http://schemas.openxmlformats.org/drawingml/2006/main" w="9525">
            <a:solidFill>
              <a:srgbClr val="2941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6C9EE5-570A-46EC-978C-82B50CFC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85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67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A67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1897C6-3F7D-4E7E-8319-24AB9B45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385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7D2FE"/>
                </a:solidFill>
                <a:latin typeface="Aptos"/>
                <a:ea typeface="Aptos"/>
                <a:cs typeface="Aptos"/>
              </a:rPr>
              <a:t>тестовых модулей в проекте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EBF6B-A5DB-4283-A22F-4C0A2D92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71900"/>
            <a:ext cx="2190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A2E"/>
          </a:solidFill>
          <a:ln xmlns:a="http://schemas.openxmlformats.org/drawingml/2006/main" w="9525">
            <a:solidFill>
              <a:srgbClr val="2941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EDA84C-AA04-4572-A590-C2817B05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85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99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399FF"/>
                </a:solidFill>
                <a:latin typeface="Aptos"/>
                <a:ea typeface="Aptos"/>
                <a:cs typeface="Aptos"/>
              </a:rPr>
              <a:t>YDB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858E73-4B17-4156-B3D9-707A86F0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672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7D2FE"/>
                </a:solidFill>
                <a:latin typeface="Aptos"/>
                <a:ea typeface="Aptos"/>
                <a:cs typeface="Aptos"/>
              </a:rPr>
              <a:t>серверное хранилище и outbox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17DE46-FE85-4343-898C-612E7C7A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752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7d8f5e7724378"/>
          <a:stretch xmlns:a="http://schemas.openxmlformats.org/drawingml/2006/main"/>
        </p:blipFill>
        <p:spPr>
          <a:xfrm xmlns:a="http://schemas.openxmlformats.org/drawingml/2006/main">
            <a:off x="742950" y="5762625"/>
            <a:ext cx="1409700" cy="3048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33563D-DD6D-46BD-91A7-D4450835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19750"/>
            <a:ext cx="1295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91c120f1e4c07"/>
          <a:stretch xmlns:a="http://schemas.openxmlformats.org/drawingml/2006/main"/>
        </p:blipFill>
        <p:spPr>
          <a:xfrm xmlns:a="http://schemas.openxmlformats.org/drawingml/2006/main">
            <a:off x="2743200" y="5762625"/>
            <a:ext cx="952500" cy="3048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B464F8-343A-4665-B54E-9288C8EA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19750"/>
            <a:ext cx="152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149f59a2a4dfb"/>
          <a:stretch xmlns:a="http://schemas.openxmlformats.org/drawingml/2006/main"/>
        </p:blipFill>
        <p:spPr>
          <a:xfrm xmlns:a="http://schemas.openxmlformats.org/drawingml/2006/main">
            <a:off x="4286250" y="5753100"/>
            <a:ext cx="1181100" cy="3238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5A2DE1-4F41-499C-8DB5-DBBC202B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197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6442490a94471"/>
          <a:stretch xmlns:a="http://schemas.openxmlformats.org/drawingml/2006/main"/>
        </p:blipFill>
        <p:spPr>
          <a:xfrm xmlns:a="http://schemas.openxmlformats.org/drawingml/2006/main">
            <a:off x="6057900" y="5762625"/>
            <a:ext cx="1143000" cy="3048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654432-3253-45B8-AA42-3D9432E7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790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Логотипы: официальные источники MAX, Yandex Cloud, YDB, Python, FastAPI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BDAAE7-50FD-4BC8-9E9F-21841608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171007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029B44-4E80-4C11-8B1A-09719E00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92A8702-6892-4DC2-AED2-3FC5708F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B9B7373-DCE5-46BA-B2C6-F6BFE62A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ОРИГИНАЛЬНОСТЬ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D974F-A0CB-49C8-843B-0FB18A91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905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Регистрация встроена прямо в MAX-диалог, поэтому абитуриент не проваливается в отдельный сервис.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B71C3-5B76-4ACE-AAAA-0DD3C7E4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E7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6A5FF-3A71-4238-BC75-CA53C1DF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5FFF9"/>
          </a:solidFill>
          <a:ln xmlns:a="http://schemas.openxmlformats.org/drawingml/2006/main" w="9525">
            <a:solidFill>
              <a:srgbClr val="CFEB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4DF03-EC7B-41C6-8E5C-10B9B8B8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031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9F643-B16D-4039-B33D-94A09760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Абитуриент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46B76-117A-4152-BB47-0376D2FC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1. принимает дисклеймер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2. выбирает мероприятие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3. получает код записи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4. управляет уведомлениями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FD23F-9ADB-40F5-AB9A-71DEB4F9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67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A67E"/>
                </a:solidFill>
                <a:latin typeface="Aptos"/>
                <a:ea typeface="Aptos"/>
                <a:cs typeface="Aptos"/>
              </a:rPr>
              <a:t>Организатор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F0BAA-F5E8-4614-970D-7BB766AA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4800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1. ведёт мероприятия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2. ищет запись по коду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3. закрывает регистрацию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4. отмечает посещение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2B1C4-6253-48D4-B70C-139FC6AC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95600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MAX-чат</a:t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как единая точка входа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D047B-4E14-4728-839F-148FD163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8145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7D2FE"/>
                </a:solidFill>
                <a:latin typeface="Aptos"/>
                <a:ea typeface="Aptos"/>
                <a:cs typeface="Aptos"/>
              </a:rPr>
              <a:t>без миниаппа</a:t>
            </a:r>
          </a:p>
          <a:p xmlns:a="http://schemas.openxmlformats.org/drawingml/2006/main">
            <a:pPr algn="ctr">
              <a:defRPr sz="1350" b="0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7D2FE"/>
                </a:solidFill>
                <a:latin typeface="Aptos"/>
                <a:ea typeface="Aptos"/>
                <a:cs typeface="Aptos"/>
              </a:rPr>
              <a:t>без телефона</a:t>
            </a:r>
          </a:p>
          <a:p xmlns:a="http://schemas.openxmlformats.org/drawingml/2006/main">
            <a:pPr algn="ctr">
              <a:defRPr sz="1350" b="0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7D2FE"/>
                </a:solidFill>
                <a:latin typeface="Aptos"/>
                <a:ea typeface="Aptos"/>
                <a:cs typeface="Aptos"/>
              </a:rPr>
              <a:t>без паспорта</a:t>
            </a:r>
          </a:p>
          <a:p xmlns:a="http://schemas.openxmlformats.org/drawingml/2006/main">
            <a:pPr algn="ctr">
              <a:defRPr sz="1350" b="0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7D2FE"/>
                </a:solidFill>
                <a:latin typeface="Aptos"/>
                <a:ea typeface="Aptos"/>
                <a:cs typeface="Aptos"/>
              </a:rPr>
              <a:t>без банковских данных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79D4A-1B46-4EF2-A404-CB462185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9570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E4D8B-3450-475D-9CE9-718EEEB8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48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4F6A7-64CB-4550-9B31-8B14ADA9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9570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C96B0-F92C-4B5E-A155-BE26E27E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48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4CB292-2427-475C-990C-6CDC6A4F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2190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A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A79724-58B1-4357-99E2-9EBC2A2B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05450"/>
            <a:ext cx="1924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меньше входной барьер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5A875A-3634-4348-85D8-64C0F519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29250"/>
            <a:ext cx="2190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BB1F8-1FB0-47CF-ABD1-483B558E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505450"/>
            <a:ext cx="1924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больше контроля очереди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0CC00A-CA73-4A36-9C99-CE44FACE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429250"/>
            <a:ext cx="2190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67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7FBCC1-B27D-4B4C-B47E-5985E9EA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05450"/>
            <a:ext cx="1924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67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7E"/>
                </a:solidFill>
                <a:latin typeface="Aptos"/>
                <a:ea typeface="Aptos"/>
                <a:cs typeface="Aptos"/>
              </a:rPr>
              <a:t>быстрее пилот в вузе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53B1E3-2A7F-4A64-9F90-C4A0F822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790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Источник: репозиторий проекта и локальная документация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9A2F29-DDB3-474E-A004-9DB80711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478926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29CD33-5DC2-4B91-BEDC-0D9588B3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A5B1C97-1B02-4709-9E14-8DA2CECA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9AFA1A8-EDC0-493B-91E9-79C8EC71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СЦЕНАРИЙ АБИТУРИЕНТА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F3FCD-78F3-46CB-9E20-65EF7D35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Путь пользователя уже складывается в короткую демонстрацию: от каталога до кода записи.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6406B-FB1E-43EE-A113-DCE09881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476500" cy="3143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E5EDE-5FAE-40B5-878E-4D224C7B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2209800" cy="27241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D67EE-8417-4098-B0A3-482E09E4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66950"/>
            <a:ext cx="6477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3449"/>
          </a:solidFill>
          <a:ln xmlns:a="http://schemas.openxmlformats.org/drawingml/2006/main" w="0">
            <a:solidFill>
              <a:srgbClr val="2734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4B78F-F975-4E70-9887-F1AAC0A0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71875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Место под скриншот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EC6540-BF9A-4F1B-99E7-8BE443FD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57625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список ближайших мероприятий и кнопки выбора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D2E73-7947-47AC-9D70-F4B73455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Каталог мероприятий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23443-87C2-4048-932C-92BED927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90750"/>
            <a:ext cx="2476500" cy="3143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1ED00-1104-4705-879A-886943A7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2209800" cy="27241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E34BF-8057-4DB8-A9E8-C22B77BA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66950"/>
            <a:ext cx="6477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3449"/>
          </a:solidFill>
          <a:ln xmlns:a="http://schemas.openxmlformats.org/drawingml/2006/main" w="0">
            <a:solidFill>
              <a:srgbClr val="2734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3AE3F-920B-49C2-A41C-8D5BA371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71875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Место под скриншот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542B6-9919-43B3-A3BD-DFA8A034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57625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описание, место или ссылка, вместимость, выбор слота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D31CB-7CB5-4B9C-B4CA-625A0A17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48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Карточка + слот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23FE1-5DA7-4DB1-9AA6-94C1EEC9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90750"/>
            <a:ext cx="2476500" cy="3143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F9AF21-4BBD-4A34-84A4-38FD52C5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2209800" cy="27241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5367E-09A4-4B98-9FE0-D09D0B3F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6477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3449"/>
          </a:solidFill>
          <a:ln xmlns:a="http://schemas.openxmlformats.org/drawingml/2006/main" w="0">
            <a:solidFill>
              <a:srgbClr val="27344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DE5738-6055-4781-A8C6-50DC4937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71875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Место под скриншот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851419-C1FC-42AA-94C5-344CE0C8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57625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код записи, мои записи, отмена и уведомления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1A66EA-DEDA-4E4D-A33A-DE00385D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448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Код и напоминания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2DB36A-D891-487F-AE4F-BB2F6A7C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338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8DD154-BDC4-40AE-89BF-4B279C6A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861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230FC1-A34C-4F99-B911-AE607B46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338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C42CB9-DD95-499A-9C28-ACB624A6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861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7893A6-73C1-42B9-A460-3A4E974D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8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1C7814-76CF-4FD3-A901-5722F5E1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531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422131-EAE3-424A-B918-169B277A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88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6B9EEE-51E7-4EFE-95DA-406D4FA6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531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FDD18D-8824-4A89-A5F0-704186D4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88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BCE06A-A952-40AB-9466-02F8B312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9531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2E85E0-F3F5-464C-BAC2-8AF011CC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790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Источник: репозиторий проекта и локальная документация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614C13-42CE-48AC-B45B-F12896E3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338373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CC30F9-4AC3-423A-B4D2-C0BDBE1E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B58448F-EA1E-4018-9D57-7A1F647C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CA4A08E-5BA1-4697-88B7-5D1186D6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КОНТУР ОРГАНИЗАТОРА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0AE98-EB7F-4BF9-8706-69A445B5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905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Организатор не только видит записи, но и управляет жизненным циклом мероприятия.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7F352-E843-46A4-BEA8-875AB542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2571750" cy="31051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9A7D4-3B49-43D3-A0A4-48850660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305050" cy="2686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825CB-292D-48F6-856C-1289D5A5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09800"/>
            <a:ext cx="6477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3449"/>
          </a:solidFill>
          <a:ln xmlns:a="http://schemas.openxmlformats.org/drawingml/2006/main" w="0">
            <a:solidFill>
              <a:srgbClr val="2734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C6DBC-4DA7-47C3-B92E-F24EB5AC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95675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Место под скриншот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CDC1E-ABBC-4485-8359-5AA2750D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81425"/>
            <a:ext cx="1962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список своих мероприятий, создание и редактирование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4B994-D948-445D-9D24-F762D99A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Меню Организатора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4C699-0249-402B-AAC9-E681F42E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33600"/>
            <a:ext cx="2571750" cy="31051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05540-A876-4519-B5BA-2C8FB893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43150"/>
            <a:ext cx="2305050" cy="2686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DCB30-2618-40C5-B8FC-5F964981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209800"/>
            <a:ext cx="6477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3449"/>
          </a:solidFill>
          <a:ln xmlns:a="http://schemas.openxmlformats.org/drawingml/2006/main" w="0">
            <a:solidFill>
              <a:srgbClr val="2734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97B4E-73BD-453B-B2E2-4E0D0099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95675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Место под скриншот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2F802-CCD2-4AB4-B345-C2E3F58B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81425"/>
            <a:ext cx="1962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поиск по коду, участники, посещение, закрытие регистрации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E571B-E614-4D8F-A551-3EAD05B4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530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Управление записью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00356-64CD-4135-BD82-8360FC08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34290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5FFF9"/>
          </a:solidFill>
          <a:ln xmlns:a="http://schemas.openxmlformats.org/drawingml/2006/main" w="9525">
            <a:solidFill>
              <a:srgbClr val="CBEA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35926B-8A35-45E8-B635-23CE7D08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527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67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A67E"/>
                </a:solidFill>
                <a:latin typeface="Aptos"/>
                <a:ea typeface="Aptos"/>
                <a:cs typeface="Aptos"/>
              </a:rPr>
              <a:t>Операционный цикл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7C2DF-7A06-44DF-A4C2-F8CC3592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67050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67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4B4916-5912-47D2-8CA4-84200CA0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A6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7E"/>
                </a:solidFill>
                <a:latin typeface="Aptos"/>
                <a:ea typeface="Aptos"/>
                <a:cs typeface="Aptos"/>
              </a:rPr>
              <a:t>Создать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2E5926-4A62-4BE2-9F09-7EF3436F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146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мероприятие и слоты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899891-07D5-489B-8F68-04700234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A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3FCF58-89D0-4696-92FD-7ACD211D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0520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Найти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E318D4-E480-4978-B708-324CCC92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766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запись по коду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CE2AF1-210D-416B-A997-522004CB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90950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67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9417BD-C04E-4E11-9355-803E54C0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6715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A6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7E"/>
                </a:solidFill>
                <a:latin typeface="Aptos"/>
                <a:ea typeface="Aptos"/>
                <a:cs typeface="Aptos"/>
              </a:rPr>
              <a:t>Закрыть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D98903-CA25-45C4-9FC2-E3BE9004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385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регистрацию при готовности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256FFD-D641-482A-B3E7-0B9551AD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52900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A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133342-B41F-4F8F-804B-E8511B53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2910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Отметить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C2FE2C-F1F4-4693-B827-CED7B268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005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посещение на входе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FBE7F0-F8C6-4B3E-B622-AC8826C4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14850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67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6532DB-0483-4A24-BC62-4172E973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9105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A6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7E"/>
                </a:solidFill>
                <a:latin typeface="Aptos"/>
                <a:ea typeface="Aptos"/>
                <a:cs typeface="Aptos"/>
              </a:rPr>
              <a:t>Сообщить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AD1B90-C7D3-457E-9176-407E36F7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624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разрешённое уведомление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458129-BA80-45E9-9330-070438B3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576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4836FA-E278-4957-A92C-9C400D28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099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988759-F2C5-4915-A756-E93AACB2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576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40EC04-D579-4F51-ADEB-F54A7677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099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047D2B-2414-47F9-9C43-30DA60C5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790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Источник: репозиторий проекта и локальная документация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EEEB6C-EBDC-4B91-8CCC-3226402C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497986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E27785-E640-4969-9164-6826D706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0">
            <a:solidFill>
              <a:srgbClr val="F8FBF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FA53F71-5D35-44C3-A9DE-6A08BB2C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99FF"/>
          </a:solidFill>
          <a:ln xmlns:a="http://schemas.openxmlformats.org/drawingml/2006/main" w="0">
            <a:solidFill>
              <a:srgbClr val="2399F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7D7B30E-7424-441E-A6C7-1D4B13DF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АРХИТЕКТУРА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14F10-6DCD-4D25-88AE-36CA952E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905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Схема остаётся простой: MAX вызывает одну функцию, а состояние живёт в YDB Serverless.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56B8F-1364-4F77-AB98-E6DE83C4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A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CC53E-7ED8-4E74-93A7-04058037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66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11157c0a24f9c"/>
          <a:stretch xmlns:a="http://schemas.openxmlformats.org/drawingml/2006/main"/>
        </p:blipFill>
        <p:spPr>
          <a:xfrm xmlns:a="http://schemas.openxmlformats.org/drawingml/2006/main">
            <a:off x="876300" y="2638425"/>
            <a:ext cx="876300" cy="2095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7FFCE-80F2-40F2-9440-55005DAD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MAX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460FA-4385-46ED-B019-3EB54FF4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bot_started, message_created, callbacks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836B7-276A-4389-ABF0-701EB4D6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030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99FF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e40bff3e1422f"/>
          <a:stretch xmlns:a="http://schemas.openxmlformats.org/drawingml/2006/main"/>
        </p:blipFill>
        <p:spPr>
          <a:xfrm xmlns:a="http://schemas.openxmlformats.org/drawingml/2006/main">
            <a:off x="3314700" y="2571750"/>
            <a:ext cx="10668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5C7EB-B67A-4F85-972D-9AF9E327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4800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399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399FF"/>
                </a:solidFill>
                <a:latin typeface="Aptos"/>
                <a:ea typeface="Aptos"/>
                <a:cs typeface="Aptos"/>
              </a:rPr>
              <a:t>Cloud Functions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44130-E4E3-4161-9BBF-BA29F8F0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52800"/>
            <a:ext cx="177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HTTP webhook + timer trigger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C2B1A-DF7A-4507-858F-E2C7876A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0030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582ed218f4439"/>
          <a:stretch xmlns:a="http://schemas.openxmlformats.org/drawingml/2006/main"/>
        </p:blipFill>
        <p:spPr>
          <a:xfrm xmlns:a="http://schemas.openxmlformats.org/drawingml/2006/main">
            <a:off x="6229350" y="2571750"/>
            <a:ext cx="10668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B6BE1-43A5-4961-AE6E-FE7A9650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480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FastAPI handler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213763-C845-449C-8AD2-D8489E9E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52800"/>
            <a:ext cx="1581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единая логика для local и prod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3FAAE-2218-4BE7-A2B8-82BF3037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0030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99F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0a55eec4a4305"/>
          <a:stretch xmlns:a="http://schemas.openxmlformats.org/drawingml/2006/main"/>
        </p:blipFill>
        <p:spPr>
          <a:xfrm xmlns:a="http://schemas.openxmlformats.org/drawingml/2006/main">
            <a:off x="8953500" y="2571750"/>
            <a:ext cx="10668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96C25B-C2F4-4325-8B34-DB353461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4800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399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399FF"/>
                </a:solidFill>
                <a:latin typeface="Aptos"/>
                <a:ea typeface="Aptos"/>
                <a:cs typeface="Aptos"/>
              </a:rPr>
              <a:t>YDB Serverless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82EB05-D777-4C88-BC49-8E233BDA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52800"/>
            <a:ext cx="177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мероприятия, записи, outbox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A86BBC-686D-4486-AE2F-2D4E4FE8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956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59EBBE-72F4-46CB-BF9A-91C62E23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480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9BE69A-C4B9-47ED-96F3-15CBA4A2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956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B66FBC-69BD-484B-A3BA-18A8CDBE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480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FCD396-DFA1-40FF-946A-A466B1BB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956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99FF"/>
          </a:solidFill>
          <a:ln xmlns:a="http://schemas.openxmlformats.org/drawingml/2006/main" w="0">
            <a:solidFill>
              <a:srgbClr val="2399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C3A50-1F27-4C0D-9B46-1A4A3A3D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480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99FF"/>
          </a:solidFill>
          <a:ln xmlns:a="http://schemas.openxmlformats.org/drawingml/2006/main" w="0">
            <a:solidFill>
              <a:srgbClr val="2399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9DB899-2192-4DB2-9668-77C408F1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3333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7E8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1CDD02-EDE7-4A2E-A9E0-06BD3DCC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timer trigger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290D24-7084-4ECD-8151-57C51B3F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863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разбирает notification_outbox и отправляет напоминания через MAX API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B1EF31-35F4-4446-BC7E-5BFD93E3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363" y="382905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F7F5E9-D4B8-4699-B049-DA2F05B1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7719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9D2598-4033-4417-A0EB-25551281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72000"/>
            <a:ext cx="342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F6DEA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4839B7-464D-4325-BF57-2BF69944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625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локальная разработка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880243-5BCE-4CD6-9038-98AF44E5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863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Compose поднимает YDB и uvicorn на 8080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37277B-C0A1-4619-9FDA-890067D6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790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Источник: README.md, docs/yandex-cloud.md, docs/max-api.md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930119-CA88-4193-8B66-9749A070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62976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BC3704-BECD-4614-BDA8-9B687A29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AF6D589-840E-4B99-9D9F-A1F77FE9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99FF"/>
          </a:solidFill>
          <a:ln xmlns:a="http://schemas.openxmlformats.org/drawingml/2006/main" w="0">
            <a:solidFill>
              <a:srgbClr val="2399F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039499E-2B00-4519-B3A5-4F9BE472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YDB И ПРАВИЛА ЗАПИСИ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CEEFC-216D-4885-87D7-C515A2A8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905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Модель данных держит ограничения записи рядом с бизнес-логикой, а уведомления идут через outbox.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40CBF-79E5-495F-A509-E14EA28A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7A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3051E-C634-433D-9C67-2BAD1E1C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3D650-8171-4BA7-B085-A92C76B6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мероприятия, вместимость, закрытие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3421E-37B0-4007-BD21-FCC63C69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669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7A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C81A4-93E9-4E94-AF82-5AA0B644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003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event_slots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15DBB-5C5F-4D04-8D79-1EC38D79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670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окна времени и счётчики мест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EBD48-DD87-4969-BEEB-5F5E3FDD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669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A67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A78BA-5201-4250-BFA0-A35EE795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003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7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7E"/>
                </a:solidFill>
                <a:latin typeface="Aptos"/>
                <a:ea typeface="Aptos"/>
                <a:cs typeface="Aptos"/>
              </a:rPr>
              <a:t>registrations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2D9E9-65E1-4B5B-B661-54FE56C8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670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код, статус, слот, посещение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7996D5-DB41-4353-BF5E-C6EC4075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669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9ACBD-D0B4-45EA-AD3D-2288FEFD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003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notification_outbox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E3D30-B74B-4499-AA7F-5E3D98EB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670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напоминания и ручные сообщения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04B4E-BCAC-4DDB-8393-EED17EBB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669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11D4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5DF86-3859-4404-9631-ECC94075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003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MAX 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C4123C-6D7B-420B-8C46-AE8C5141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6670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отправка сообщений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3474BD-72CA-440B-9187-68C81709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14613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E1CB3E-533B-41EF-A184-50B32C17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622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27E561-ADEF-4B8E-8133-5571BD70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14613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4A1EEB-A206-472C-8CBC-73E03C50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622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8A70D8-9F90-4B02-A1B9-69E84DD5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14613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F2A946-6690-481F-8AC5-7C1F9DA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622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BA5F39-9CB6-4DCA-BA31-0606463F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14613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11D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B046E4-1E9D-4961-8674-AC086369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622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11D4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B3B1B8-FB23-491C-8D22-9A39C03A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052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F0378D-1801-4012-AC11-F6F5D522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386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users + consents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899DEA-4729-4A54-97D9-FCD75A34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3053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дисклеймер и минимум профиля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E07222-2033-4C7B-8DF4-1BDDD656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A67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658F98-0EA4-438B-A995-C9221ADA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386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7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7E"/>
                </a:solidFill>
                <a:latin typeface="Aptos"/>
                <a:ea typeface="Aptos"/>
                <a:cs typeface="Aptos"/>
              </a:rPr>
              <a:t>organizer_events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013A4E-8565-4E8D-9C97-BB1D4BE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053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кто управляет мероприятием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B00B88-CCFE-4C38-8CAC-8D16DC4A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7A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DC3ADC-A155-4C80-A52F-40E68DB5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registration_codes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F7832A-5FBA-48F9-8B55-0BCF589E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053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уникальность и поиск кода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93AB52-4425-4EB2-950F-FD0C7222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4748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5A766E-F2A3-423A-A5D6-067E589B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386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audit_log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54D17C-65E6-4F91-B3A2-D6C2A395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053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след действий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A4958C-C2A7-4173-A700-82E56CC8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2190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A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958E0C-9431-4D10-8BFF-7EBD6931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10200"/>
            <a:ext cx="1924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idx_registrations_code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29C112-CC1F-4D74-A56A-E5C4798E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99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589A2A-0AE1-4055-85FA-60867BD7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10200"/>
            <a:ext cx="1828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39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99FF"/>
                </a:solidFill>
                <a:latin typeface="Aptos"/>
                <a:ea typeface="Aptos"/>
                <a:cs typeface="Aptos"/>
              </a:rPr>
              <a:t>idx_events_starts_at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ABEFF3-ABC3-4D41-A5A4-E640627C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34000"/>
            <a:ext cx="257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67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F043B3-FD41-4780-B95B-16BB8918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10200"/>
            <a:ext cx="2305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67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7E"/>
                </a:solidFill>
                <a:latin typeface="Aptos"/>
                <a:ea typeface="Aptos"/>
                <a:cs typeface="Aptos"/>
              </a:rPr>
              <a:t>idx_organizer_events_user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09D1A6-3FE9-439B-9C54-C88C2D62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Счётчики booked_count хранятся в events/event_slots: это быстрее для каталога и проверки мест.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0E9613-1E9A-4E30-9442-220C86C5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790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Источник: docs/ydb.md, app/ydb_schema.py, app/storage/entities.py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F1E4AE-5115-4F8C-B57E-C834CD30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444711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BCC474-16B0-4486-A956-570FD4DC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514E544-5D62-4007-ABA6-100464C2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7BCCB29-7022-4C8A-91ED-6D1DCAD8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ДОСТИГНУТЫЕ РЕЗУЛЬТАТЫ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328CF-C8CA-43C8-9F16-3D85C9B2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905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За время работы собран не макет, а проверяемый серверный контур с демо-данными и деплоем.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0C935-7050-4015-BBA9-066157BE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190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84EB5-3B44-4137-9F5F-999F6B2E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85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92EAE-C259-4FF8-ABC7-DC9AE6ED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python-файл приложения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03DFE-6689-4063-9BAC-ADEE701E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190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D28D0-515D-4DE1-BBAB-67AEAB4B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00300"/>
            <a:ext cx="85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67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A67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E48F5-D83C-4B6F-9A09-A965E3F3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622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тестовых модулей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0362E-E960-4C76-8AD2-4616D908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2190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CEF70-6616-421B-B91F-D3A04137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00300"/>
            <a:ext cx="85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9D245-BDB3-48DC-98AA-9472392E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622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демо-мероприятия в seed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B978B-838E-42B2-B10A-B3482B33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190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203B9-E1B1-439B-8069-A63DFD1C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85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99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399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3C4DB-B665-48DD-9FE3-CFD0CE0D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622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пакет для Cloud Functions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8C550-433E-45AB-B8A1-FA7571BF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9E8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A56BC-2166-4D23-AD65-D1A32164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Что уже можно показать эксперту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E1C914-C426-4EDE-A4D5-AD53CDF8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43400"/>
            <a:ext cx="400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абитуриентский путь</a:t>
            </a:r>
          </a:p>
          <a:p xmlns:a="http://schemas.openxmlformats.org/drawingml/2006/main">
            <a:pPr algn="l">
              <a:defRPr sz="12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контур Организатора</a:t>
            </a:r>
          </a:p>
          <a:p xmlns:a="http://schemas.openxmlformats.org/drawingml/2006/main">
            <a:pPr algn="l">
              <a:defRPr sz="12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YDB-схема и миграция</a:t>
            </a:r>
          </a:p>
          <a:p xmlns:a="http://schemas.openxmlformats.org/drawingml/2006/main">
            <a:pPr algn="l">
              <a:defRPr sz="12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сборка пакета для Yandex Cloud</a:t>
            </a:r>
          </a:p>
          <a:p xmlns:a="http://schemas.openxmlformats.org/drawingml/2006/main">
            <a:pPr algn="l">
              <a:defRPr sz="12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локальный запуск через Docker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055E51-10FB-4398-9688-74C88F7A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38550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FFF9"/>
          </a:solidFill>
          <a:ln xmlns:a="http://schemas.openxmlformats.org/drawingml/2006/main" w="9525">
            <a:solidFill>
              <a:srgbClr val="CBEA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645E57-C15F-4A82-A05D-389D173E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433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67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7E"/>
                </a:solidFill>
                <a:latin typeface="Aptos"/>
                <a:ea typeface="Aptos"/>
                <a:cs typeface="Aptos"/>
              </a:rPr>
              <a:t>Риск снижен автопроверками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E0F113-06BA-4B85-966C-43B7E003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00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webhook / handler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CF7336-B54E-42FB-B878-63AEFB46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5"/>
          </a:solidFill>
          <a:ln xmlns:a="http://schemas.openxmlformats.org/drawingml/2006/main" w="0">
            <a:solidFill>
              <a:srgbClr val="DDE8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DCB217-4CCE-44B3-880A-371E0DAA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3086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67B76A-C9AF-4261-931F-FB786267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33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YDB storage / schema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9AC54D-16E6-43C9-868B-6F5147D6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5"/>
          </a:solidFill>
          <a:ln xmlns:a="http://schemas.openxmlformats.org/drawingml/2006/main" w="0">
            <a:solidFill>
              <a:srgbClr val="DDE8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1A4ACA-214D-49B7-B532-051C554E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2914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F15CA7-A2EC-4DB6-BFCA-79968A88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673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Organizer 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ECE9F7-253D-4B9E-B86F-1E7EC082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531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5"/>
          </a:solidFill>
          <a:ln xmlns:a="http://schemas.openxmlformats.org/drawingml/2006/main" w="0">
            <a:solidFill>
              <a:srgbClr val="DDE8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7BC1A1-0FD4-4EDC-976E-E7EE443C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53100"/>
            <a:ext cx="2676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ED0C64-5E36-4512-820E-A6031F24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790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Источник: README.md, pyproject.toml, tests/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94508C-C423-4142-97CD-115F66A5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133802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D43CC6-AF13-482E-BB01-5DB07BB6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01CF0FD-393E-4DD7-9708-C56717F3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D4142E5-39F7-4397-A638-D6009130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ТЕХНОЛОГИЧЕСКИЙ СТЕК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C2F77-116C-466E-9317-D300895B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905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Стек выбран под быстрый пилот: минимум инфраструктуры, максимум проверяемой серверной логики.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392C0-2945-4B85-A7A2-C5EB3E68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03822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8D2A4-28E6-46DD-9D7B-B9F60C4E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B45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2e9a49fcd413a"/>
          <a:stretch xmlns:a="http://schemas.openxmlformats.org/drawingml/2006/main"/>
        </p:blipFill>
        <p:spPr>
          <a:xfrm xmlns:a="http://schemas.openxmlformats.org/drawingml/2006/main">
            <a:off x="1428750" y="2933700"/>
            <a:ext cx="1371600" cy="2095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1AABC-CECB-44DA-A51A-C24B1BEC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161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5ddb236834f34"/>
          <a:stretch xmlns:a="http://schemas.openxmlformats.org/drawingml/2006/main"/>
        </p:blipFill>
        <p:spPr>
          <a:xfrm xmlns:a="http://schemas.openxmlformats.org/drawingml/2006/main">
            <a:off x="3524250" y="2933700"/>
            <a:ext cx="1276350" cy="209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248A5-3BCE-43FE-8A78-0767149A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81300"/>
            <a:ext cx="161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f08a4e5cc4338"/>
          <a:stretch xmlns:a="http://schemas.openxmlformats.org/drawingml/2006/main"/>
        </p:blipFill>
        <p:spPr>
          <a:xfrm xmlns:a="http://schemas.openxmlformats.org/drawingml/2006/main">
            <a:off x="5524500" y="2933700"/>
            <a:ext cx="1276350" cy="2095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F0478-72BD-4770-A642-425AE93D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81300"/>
            <a:ext cx="190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f9178259e415b"/>
          <a:stretch xmlns:a="http://schemas.openxmlformats.org/drawingml/2006/main"/>
        </p:blipFill>
        <p:spPr>
          <a:xfrm xmlns:a="http://schemas.openxmlformats.org/drawingml/2006/main">
            <a:off x="7524750" y="2933700"/>
            <a:ext cx="1562100" cy="2095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1D2BC-B974-4BEB-9358-3EAB3AEB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81300"/>
            <a:ext cx="1123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eab3eca7042d4"/>
          <a:stretch xmlns:a="http://schemas.openxmlformats.org/drawingml/2006/main"/>
        </p:blipFill>
        <p:spPr>
          <a:xfrm xmlns:a="http://schemas.openxmlformats.org/drawingml/2006/main">
            <a:off x="9810750" y="2933700"/>
            <a:ext cx="781050" cy="2095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452E62-B97E-4287-B16E-58325D8D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71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MAX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DA9E5-A5B7-47AC-9B0A-DFFDEC5F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команды, callbacks, deep links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4EDD25-2290-4F6E-BF2D-65A19C88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71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7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67E"/>
                </a:solidFill>
                <a:latin typeface="Aptos"/>
                <a:ea typeface="Aptos"/>
                <a:cs typeface="Aptos"/>
              </a:rPr>
              <a:t>Python 3.12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D49AD-4D28-4A8A-B1EE-7065CEB3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576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простая доменная логика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0C8865-A8D7-4DC2-9AD0-FC7EF2DC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71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B8534-DC45-43EF-A57F-C60893EE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576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webhook и health endpoints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C47E78-F8CE-4A72-A723-6498AF77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71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99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399FF"/>
                </a:solidFill>
                <a:latin typeface="Aptos"/>
                <a:ea typeface="Aptos"/>
                <a:cs typeface="Aptos"/>
              </a:rPr>
              <a:t>Yandex Cloud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3DE713-5C26-4C05-B1B9-1A4B8C8D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576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функция + timer trigger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616738-A8FA-4194-A643-E4A6EA66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71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99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399FF"/>
                </a:solidFill>
                <a:latin typeface="Aptos"/>
                <a:ea typeface="Aptos"/>
                <a:cs typeface="Aptos"/>
              </a:rPr>
              <a:t>YDB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F3BDCA-6447-43BC-B0F2-B26E611A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576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serverless-хранилище и индексы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688B10-97F9-4B54-9852-70DD1179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388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Почему это важно для хакатона: решение можно поднять локально, собрать в ZIP-пакет и загрузить в Cloud Functions без отдельной виртуальной машины.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90156A-8D4F-4ACB-97E7-ABDFDF41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790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Источник: pyproject.toml, README.md, docs/yandex-cloud.md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BEB599-DE35-46DD-B2A2-F6522C5A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638870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50E7AF-9F6A-41D0-9D40-C3480258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CA5EE2B-C844-4D6F-97DF-A7DA8016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F56A04D-5B86-4273-8292-0A1035F1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КОММЕРЦИАЛИЗАЦИЯ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8DCC9-C15D-4C73-8BC4-33F092EB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905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Первый рынок - приёмные комиссии и факультеты, которым нужно быстро управлять офлайн и онлайн мероприятиями.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CA436-2327-4395-8F4D-E01EA4D6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927F5-9C8B-4067-B230-DDD84241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762B8-AB86-42AD-95EC-43D401FE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479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1F690-8847-4758-B149-78C35446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194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Пилот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A8CE9-6AC4-4D09-B6D5-A9968083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 факультет</a:t>
            </a:r>
          </a:p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2-3 мероприятия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CE97C-9357-4F6C-811E-7ADC4429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52788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0E5"/>
          </a:solidFill>
          <a:ln xmlns:a="http://schemas.openxmlformats.org/drawingml/2006/main" w="0">
            <a:solidFill>
              <a:srgbClr val="BFD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A72F0-CC18-47A7-B4BC-E878823A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004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FD0E5"/>
          </a:solidFill>
          <a:ln xmlns:a="http://schemas.openxmlformats.org/drawingml/2006/main" w="0">
            <a:solidFill>
              <a:srgbClr val="BFD0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CE3CF-06A4-4445-B652-35F0AF91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5270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CF441-6ECB-4770-8DB8-AF732588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81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6BA5E-3459-4775-B4D6-39EB95D9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479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EC63B-C317-450A-866C-648228CE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Сезон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27457-2C7D-4461-8305-36094A19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766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дни открытых дверей</a:t>
            </a:r>
          </a:p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и консультации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66CDD-C58D-4BAE-A081-72D83AFA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52788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0E5"/>
          </a:solidFill>
          <a:ln xmlns:a="http://schemas.openxmlformats.org/drawingml/2006/main" w="0">
            <a:solidFill>
              <a:srgbClr val="BFD0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FA19C-FBBC-45C1-9983-6039A11D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FD0E5"/>
          </a:solidFill>
          <a:ln xmlns:a="http://schemas.openxmlformats.org/drawingml/2006/main" w="0">
            <a:solidFill>
              <a:srgbClr val="BFD0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F755F-AF52-44AF-9785-978A507F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5270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8D765-3895-4FFC-BBB2-59AB2DE6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99FF"/>
          </a:solidFill>
          <a:ln xmlns:a="http://schemas.openxmlformats.org/drawingml/2006/main" w="0">
            <a:solidFill>
              <a:srgbClr val="2399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F3C52-68A0-483B-9940-04FCE828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479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68E075-52AF-45E6-8262-C0B2B6CA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194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Контур вуза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035962-CF63-4DAE-9000-A275F579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766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единый каталог</a:t>
            </a:r>
          </a:p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и роли Организаторов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021A1D-1B95-4E1E-98E1-4C747828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2788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0E5"/>
          </a:solidFill>
          <a:ln xmlns:a="http://schemas.openxmlformats.org/drawingml/2006/main" w="0">
            <a:solidFill>
              <a:srgbClr val="BFD0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C23D01-77B8-4D2F-B894-206DAD63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004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FD0E5"/>
          </a:solidFill>
          <a:ln xmlns:a="http://schemas.openxmlformats.org/drawingml/2006/main" w="0">
            <a:solidFill>
              <a:srgbClr val="BFD0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C094DF-916E-41A1-8F50-9BFC172D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5270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315F3B-D979-4B09-93C5-BEC9A89A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81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F266B9-04F5-4381-B139-5FE09B0E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479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4B9D74-D0C6-4EE9-9D54-CD0500BF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194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Платный продукт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208A5F-8DAD-4190-852E-94C13004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766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кампания / сезон</a:t>
            </a:r>
          </a:p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+ интеграции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E149E1-149E-4B63-B8E6-B1F69967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2F09E2-9713-4722-B294-EA3CB7B5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2286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1A2E"/>
          </a:solidFill>
          <a:ln xmlns:a="http://schemas.openxmlformats.org/drawingml/2006/main" w="9525">
            <a:solidFill>
              <a:srgbClr val="00B2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4D5B6B-84D7-467B-90B7-D932F3B1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2445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F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9F1FF"/>
                </a:solidFill>
                <a:latin typeface="Aptos"/>
                <a:ea typeface="Aptos"/>
                <a:cs typeface="Aptos"/>
              </a:rPr>
              <a:t>SaaS для приёмной кампании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1E7937-29E9-4F13-B9E7-85ACF37B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482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1A2E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163D4B-BD74-4DBE-8752-E2799630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2445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E8B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E8B0"/>
                </a:solidFill>
                <a:latin typeface="Aptos"/>
                <a:ea typeface="Aptos"/>
                <a:cs typeface="Aptos"/>
              </a:rPr>
              <a:t>оплата за сезон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60E048-2E81-449B-B130-1A87C045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1A2E"/>
          </a:solidFill>
          <a:ln xmlns:a="http://schemas.openxmlformats.org/drawingml/2006/main" w="9525">
            <a:solidFill>
              <a:srgbClr val="00A67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B79D47-3396-49FE-A841-B47DF384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24450"/>
            <a:ext cx="1828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FFAF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FFAF0"/>
                </a:solidFill>
                <a:latin typeface="Aptos"/>
                <a:ea typeface="Aptos"/>
                <a:cs typeface="Aptos"/>
              </a:rPr>
              <a:t>брендирование под вуз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A4529B-3B92-4931-A0EC-6B0F5AD5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48250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1A2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F65849-1362-434C-BF5A-7068FBFD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2445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DD6F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D6FE"/>
                </a:solidFill>
                <a:latin typeface="Aptos"/>
                <a:ea typeface="Aptos"/>
                <a:cs typeface="Aptos"/>
              </a:rPr>
              <a:t>CRM / аналитика позже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AD996F-52BA-4D97-8A94-FA20FD39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790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Источник: репозиторий проекта и локальная документация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0EC0F6-A113-4B3A-B3F0-65197533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86396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CA745F-F7FF-49AC-8622-10E99636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E5B95E2-8CF1-4F56-948C-DF301F07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2FF"/>
          </a:solidFill>
          <a:ln xmlns:a="http://schemas.openxmlformats.org/drawingml/2006/main" w="0">
            <a:solidFill>
              <a:srgbClr val="00B2F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8019602-9D8C-4F60-8DB5-17B40BA9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D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D7FF"/>
                </a:solidFill>
                <a:latin typeface="Aptos"/>
                <a:ea typeface="Aptos"/>
                <a:cs typeface="Aptos"/>
              </a:rPr>
              <a:t>6 МИНУТ НА МИТАПЕ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4B4B2-441F-4CC3-B64C-761CAFE6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Показываем самый сильный путь: работающий пользовательский сценарий, затем архитектура и бизнес.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7088B-E114-4B36-AD8D-80709322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B2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B2FF"/>
                </a:solidFill>
                <a:latin typeface="Aptos"/>
                <a:ea typeface="Aptos"/>
                <a:cs typeface="Aptos"/>
              </a:rPr>
              <a:t>0:00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EBE97-2FC6-45D7-9C06-81A651B1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050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2FF"/>
          </a:solidFill>
          <a:ln xmlns:a="http://schemas.openxmlformats.org/drawingml/2006/main" w="0">
            <a:solidFill>
              <a:srgbClr val="46627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555F1-07F0-4356-AF53-1F10934D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идея и команда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70940-1AB9-4BBE-BCA5-EBDC474B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B2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B2FF"/>
                </a:solidFill>
                <a:latin typeface="Aptos"/>
                <a:ea typeface="Aptos"/>
                <a:cs typeface="Aptos"/>
              </a:rPr>
              <a:t>0:45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B3AA1-83D6-4926-AD04-FB36E2AE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2FF"/>
          </a:solidFill>
          <a:ln xmlns:a="http://schemas.openxmlformats.org/drawingml/2006/main" w="0">
            <a:solidFill>
              <a:srgbClr val="4662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9A1E7-47C1-49C6-A709-15CE508F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432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абитуриент: каталог, слот, код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4FF22-4AFE-4A42-B29C-E9694182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B2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B2FF"/>
                </a:solidFill>
                <a:latin typeface="Aptos"/>
                <a:ea typeface="Aptos"/>
                <a:cs typeface="Aptos"/>
              </a:rPr>
              <a:t>2:15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7E568-C81C-42D0-9361-34FD28AE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09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2FF"/>
          </a:solidFill>
          <a:ln xmlns:a="http://schemas.openxmlformats.org/drawingml/2006/main" w="0">
            <a:solidFill>
              <a:srgbClr val="46627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D76B6-A75E-4BBE-983B-724A77F1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956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Организатор: код, посещение, уведомление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BE748-9F04-4360-8D5D-999A83EB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B2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B2FF"/>
                </a:solidFill>
                <a:latin typeface="Aptos"/>
                <a:ea typeface="Aptos"/>
                <a:cs typeface="Aptos"/>
              </a:rPr>
              <a:t>3:45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6C42F-1CED-4364-A7DD-177DC7C8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624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F"/>
          </a:solidFill>
          <a:ln xmlns:a="http://schemas.openxmlformats.org/drawingml/2006/main" w="0">
            <a:solidFill>
              <a:srgbClr val="4662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2D367-4B0A-40EF-A95C-672E22CA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481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архитектура и YDB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7E716F-0F61-4F1A-8DC7-94404E8D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B2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B2FF"/>
                </a:solidFill>
                <a:latin typeface="Aptos"/>
                <a:ea typeface="Aptos"/>
                <a:cs typeface="Aptos"/>
              </a:rPr>
              <a:t>5:10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1F66FB-DF10-46F1-902C-5412C8E9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F"/>
          </a:solidFill>
          <a:ln xmlns:a="http://schemas.openxmlformats.org/drawingml/2006/main" w="0">
            <a:solidFill>
              <a:srgbClr val="46627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32FB7-5640-4C57-8F69-9327EBE3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005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коммерциализация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E05A85-4856-4ADE-AAFE-4B27BD76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B2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B2FF"/>
                </a:solidFill>
                <a:latin typeface="Aptos"/>
                <a:ea typeface="Aptos"/>
                <a:cs typeface="Aptos"/>
              </a:rPr>
              <a:t>5:45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359FF6-2690-4E1B-8734-03F0C81F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673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F"/>
          </a:solidFill>
          <a:ln xmlns:a="http://schemas.openxmlformats.org/drawingml/2006/main" w="0">
            <a:solidFill>
              <a:srgbClr val="46627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772C4B-5919-4B59-BE9A-B45F2094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резюме и готовность к вопросам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14386A-B935-4196-AD16-108529A5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3429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01A2E"/>
          </a:solidFill>
          <a:ln xmlns:a="http://schemas.openxmlformats.org/drawingml/2006/main" w="9525">
            <a:solidFill>
              <a:srgbClr val="28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24282E-459C-4F45-8C1B-97A06DF2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Скриншоты, которые надо подставить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578B94-08AA-4C67-88FE-2149C085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52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4288">
            <a:solidFill>
              <a:srgbClr val="00B2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E5D299-0AF1-4323-A522-EFFD5CBC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B2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B2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8428CE-147A-4A48-94DA-8CDA5F19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18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BFF"/>
                </a:solidFill>
                <a:latin typeface="Aptos"/>
                <a:ea typeface="Aptos"/>
                <a:cs typeface="Aptos"/>
              </a:rPr>
              <a:t>главное меню абитуриента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F3D144-1DFB-46EC-B23B-B98F5757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766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4288">
            <a:solidFill>
              <a:srgbClr val="00B2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AF4563-78F8-4946-B4E3-E8D49A38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52800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B2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B2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7EB7D6-1958-4CD1-AE93-103C306F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956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BFF"/>
                </a:solidFill>
                <a:latin typeface="Aptos"/>
                <a:ea typeface="Aptos"/>
                <a:cs typeface="Aptos"/>
              </a:rPr>
              <a:t>каталог мероприятий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C06B13-EAB3-49BB-A638-FCEFF40E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004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4288">
            <a:solidFill>
              <a:srgbClr val="00B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B24B80-77C7-47A9-B4B4-2519E50B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76650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B2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B2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85D42B-7AD7-412F-956B-367D3A42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BFF"/>
                </a:solidFill>
                <a:latin typeface="Aptos"/>
                <a:ea typeface="Aptos"/>
                <a:cs typeface="Aptos"/>
              </a:rPr>
              <a:t>карточка мероприятия со слотами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22902A-75DE-4301-B342-EEEB701D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243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4288">
            <a:solidFill>
              <a:srgbClr val="00B2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0A45D2-68FF-45F9-9691-807ED5E0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B2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B2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79D333-3144-42B0-8187-EE770B52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433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BFF"/>
                </a:solidFill>
                <a:latin typeface="Aptos"/>
                <a:ea typeface="Aptos"/>
                <a:cs typeface="Aptos"/>
              </a:rPr>
              <a:t>код записи / мои записи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1F4F98-6B7A-4269-AF96-9B8072FE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481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4288">
            <a:solidFill>
              <a:srgbClr val="00B2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BDD408-70BF-4F0D-ABF1-8A7CB8B1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24350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B2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B2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019728-BBA9-4068-B0FA-17AF6AC1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67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BFF"/>
                </a:solidFill>
                <a:latin typeface="Aptos"/>
                <a:ea typeface="Aptos"/>
                <a:cs typeface="Aptos"/>
              </a:rPr>
              <a:t>меню Организатора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3D7ECA-DF13-4CA7-856A-AC45AF71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72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4288">
            <a:solidFill>
              <a:srgbClr val="00B2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2F581B-39B8-460C-89D6-55137DD2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48200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B2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B2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39C68C-DA95-4242-BDAD-90DA10E7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910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BFF"/>
                </a:solidFill>
                <a:latin typeface="Aptos"/>
                <a:ea typeface="Aptos"/>
                <a:cs typeface="Aptos"/>
              </a:rPr>
              <a:t>поиск записи по коду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708A6B-EA12-4103-B12C-6E3168CD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790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Финальный слайд: держать открытыми MAX, консоль функции и презентацию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DFFB0D-0BE0-4E0B-9773-5D350642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942137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2026-05-24T21:15:35.6460000Z</dcterms:created>
  <dcterms:modified xsi:type="dcterms:W3CDTF">2026-05-24T21:15:35.6460000Z</dcterms:modified>
</coreProperties>
</file>